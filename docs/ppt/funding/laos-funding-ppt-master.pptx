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各位好，今天讲的不是一个更聪明的模型，而是把 Linux 内核的治理延伸到 Agent 这个新负载——基座不变，治理延伸。laos 是一个用户态的治理内核，一句话说清：模型负责想，laos 负责说不。这不是概念产品，右边这个环就是它的核心机制，八环系统调用闸门链。左下角三个数字都可在仓库验证：开源版本 v0.12.0，三十天发了十二个版本，七百六十五项测试全绿。接下来十四页，我会讲清楚为什么这层东西值得现在投。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先给全片的骨架。问题在第一行：今天的 Agent 直接拿工具，没有系统调用这一层，所以没有预算、没有审计、没有回滚、也没有合规，一次工具调用就是一次不可逆操作。方案在第二行：laos 把自己放在用户态，做一个 Agent 内核，每次调用都要过八环闸门，从能力、范围、校验，一路到预算、计价、预审、确认、审计。第三行是进展：已经开源到 v0.12.0，十五个设备驱动，端侧听觉栈全部自研且只用标准库，背后还有一万九千七百九十二篇论文的语料。请记住最下面那句话：模型负责想，laos 负责说不。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这个缺口同时以三种形态发生。第一柱是失控成本：一次工具调用就是删文件、扣费、写坏状态这类不可逆动作，删错一个目录无法回滚，只剩事后日志。第二柱是合规黑洞：欧盟 AI 法案已经生效，个人信息保护法把声纹列为敏感个人信息，企业让 Agent 上生产，缺一层可审计的证据链，审计方问谁在何时动了什么，答不上来。第三柱是端侧碎片：麦克风、屏幕、通知、NPU 各自一套 SDK，同一个 Agent 换一台耳机就要重做集成，而且没有统一的隐私闸。三柱同一个根因：现有框架在应用层做 try-catch，那只是建议，挡不住。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为什么是现在做，而不是两年前或两年后。第一浪，MCP 已经成为事实标准，二零二六年七月二十八日的规范更新带上了 Tasks、Elicitation 和 MRTR，工具调用接口统一了，治理层第一次有了统一切入点。第二浪，Agent 正在从聊天走向执行，企业开始让 Agent 动真实系统，从能干活到敢让它干活，中间差的正是操作系统这一层。第三浪，监管落地窗口打开了，欧盟 AI 法案分阶段生效，国内生成式算法备案推进，合规用户是预算最充足的用户。三条浪同时到齐，这就是切入窗口。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产品形态一张图。左边是 Agent，右边是 Linux、MCP 和真实外设，中间就是 laos 内核：闸门链、调度、分支、记忆，先扣账、后派发、全量审计。它和十五个驱动子进程互相隔离运行。三件内核语义：工具调用等于系统调用，每次过闸而不是直通；MCP 服务器等于设备驱动，外挂任何服务但遥测必关；能力表等于权限位，能力可收回、权限收到最小。最下面是零依赖承诺：内核纯 Python 标准库，能进任何低端安卓和边缘盒子。下一页展开最核心的闸门链。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这是第一条壁垒。八环从左到右：能力表、task_scope、schema 校验、EDQUOT 预算、FleetLedger 计价、Jev 预审、确认横幅，最后是审计。关键是第二环：越界请求在 task_scope 就被拒绝，驱动根本不会被触达，这不是写在提示词里的恳求，而是执行路径上的强制。中间那条金色账本是商业模式的地基：FleetLedger 先扣账、后派发，操作之前风险已经定价，事后不可抵赖。对照来看，现有方案是应用层 guardrail 和策略文件，本质是建议，模型可以不听；laos 是内核强制，绕不过去。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第二条壁垒是端侧听觉栈，六层全部自研、纯标准库：从 VAD 语音活动检测，到 BS.1770-4 响度，再到 Goertzel 双耳定位、麦克风几何 MPE、FOA 编解码，最后是 ShoNet 声源定位复现。右上角这个数字值得注意：负二十三点零零 LUFS，偏差正负零点一以内，这是与 R128 校准点逐行对齐的结果，说明这套栈能做到论文级精度。全双工三件套也已落地：时序度量、speak-hold-stop 轮转、打断即作废轮缓冲。为什么值钱：语音是 Agent 最自然的入口，端侧是隐私合规唯一安全区，而市面上的方案全部依赖云端大模型。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第三条壁垒是合规先发，功课已经做完。法条层面：欧盟 AI 法案的禁令清单、PIPL 对声纹的单独同意要求，以及录音触发的四条红线，显式系统调用、LAOS_REC 等于零的全局禁录、全量审计、识别全部在本地。更硬的证据是拒绝清单：我们对标了开源产品里七个越界的文件，逐行分析之后，一行不抄。这一页想说的就一句：企业采购 Agent 基础设施时，可审计是入场券，不是加分项。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竞争格局用两根轴看：横轴是从 L0 约定层到 L3 libOS 层，纵轴从建议到强制。框架派如 LangGraph 在左下，无强制；治理派的策略引擎在右下，不在执行路径上；端侧派的各家 SDK 在左侧，没有操作系统语义。只有 laos 站在右上角：L2 用户态强制层，同时拿到执行路径上的强制、端侧驱动和审计账本。学术上，Rutgers 的 AIOS 是调度优先，与 laos 互补而不互竞，这是我们的调研结论。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进展页，每个数字都能在仓库点开验证。三十天十二个 MINOR 版本，从 v0.1.0 到 v0.12.0，每个版本都有 tag、Release 和 CHANGELOG；七百六十五项测试全绿，主库四百一十五、隔离区二百七十九、复现区七十一，全部先红后绿；一万九千七百九十二篇双会议论文全量语料，加上三千七百二十四个星标仓库分级和四十七份调研文档；四项复现实证，响度、主动降噪、声源定位和麦克风编码，与官方实现逐行对齐。也要诚实说：开源才一个月，社区还在冷启动，尚无外部贡献者，增长曲线要看 issue 和 PR 的转化。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商业模式三条线，都从强制层和证据链长出来。第一条，企业私有化治理中间件，License 加 SLA，把闸门链和账本打包进企业的 MCP 网关；第二条，审计合规报表 SaaS，按 Agent 数量订阅，把账本数据导出成合规证据链；第三条，端侧语音 SDK 授权，OEM 和设备厂按量付费，卖的是零依赖听觉栈加全双工轮转。定价哲学一句话：先开源内核建标准，卖的是敢用。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市场这一页先看结构，数字是示例，正式版会附测算模型。TAM 是 Agent 基础设施软件这个大盘；SAM 收窄到企业 Agent 治理与审计，也就是 MCP 网关和策略执行这个细分；SOM 是三年可触达的部分，来自私有化、报表、SDK 三条线合计。等正式 BP 时，这三层都会换成可辩护的测算。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未来十二个月，每个季度一个可检验节点。Q1 做 v1.0 内核稳定，多 Agent 并发调度，并跑通第一个企业试点的治理中间件 POC；Q2 审计报表 SaaS 内测，同时启动驱动市场，定义第三方 MCP 的治理接入协议；Q3 端侧语音 SDK 在一到两款设备落地，把 Bin2Ambi 和空间音频能力做进产品；Q4 是 A 轮叙事节点，交付可复制的治理加听觉打包案例。团队同步扩张：从单人加 AI 流水线，到加两名内核与端侧，再加两名合规与 BD。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融资方案，这一页的金额和比例都是示例结构。天使轮五百万，出让百分之十，示例数字可调。用途四块：四成投端侧真机验证，三成投生态适配也就是 MCP 生态和驱动市场，两成投合规认证与试点，一成运营，七成进真机与生态。愿意接受里程碑对赌：十二个月内交付 1.0 加首个付费试点。金额与比例按正式 BP 测算更新。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最后是团队与风险。团队按真实呈现：一名独立开发者，三十天十二版本、七百六十五项测试、四十七份调研，这条 AI 协作流水线本身就是产品方法论的证明，招人计划已在路线图里。三个风险点名说：标准竞争，MCP 生态位可能被大厂占据，对策是深耕强制层与账本，保持标准中立；单人风险，对策就是融资的首要用途，建团队；长销售周期，对策是先开发者后企业，走开源漏斗。回到开场那句话：模型负责想，laos 负责说不。仓库在 github.com/Yfredy/LAOS，欢迎尽调。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os-funding-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os-funding-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Yfredy/LAOS" TargetMode="Externa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kicker"/>
          <p:cNvGrpSpPr/>
          <p:nvPr/>
        </p:nvGrpSpPr>
        <p:grpSpPr>
          <a:xfrm>
            <a:off x="680847" y="1524000"/>
            <a:ext cx="3531839" cy="191643"/>
            <a:chOff x="680847" y="1524000"/>
            <a:chExt cx="3531839" cy="191643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1524000"/>
              <a:ext cx="3531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· 创新融资 · 项目介绍 · 2026-10</a:t>
              </a:r>
            </a:p>
          </p:txBody>
        </p:sp>
      </p:grpSp>
      <p:grpSp>
        <p:nvGrpSpPr>
          <p:cNvPr id="5" name="cover-title"/>
          <p:cNvGrpSpPr/>
          <p:nvPr/>
        </p:nvGrpSpPr>
        <p:grpSpPr>
          <a:xfrm>
            <a:off x="666750" y="1962150"/>
            <a:ext cx="5010150" cy="1552575"/>
            <a:chOff x="666750" y="1962150"/>
            <a:chExt cx="5010150" cy="1552575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1962150"/>
              <a:ext cx="5010150" cy="1552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55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Linux 内核的</a:t>
              </a:r>
              <a:b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治理层</a:t>
              </a:r>
            </a:p>
          </p:txBody>
        </p:sp>
      </p:grpSp>
      <p:grpSp>
        <p:nvGrpSpPr>
          <p:cNvPr id="8" name="cover-claim"/>
          <p:cNvGrpSpPr/>
          <p:nvPr/>
        </p:nvGrpSpPr>
        <p:grpSpPr>
          <a:xfrm>
            <a:off x="675894" y="3848100"/>
            <a:ext cx="3790098" cy="597281"/>
            <a:chOff x="675894" y="3848100"/>
            <a:chExt cx="3790098" cy="597281"/>
          </a:xfrm>
        </p:grpSpPr>
        <p:sp>
          <p:nvSpPr>
            <p:cNvPr id="6" name="Rectangle 6"/>
            <p:cNvSpPr/>
            <p:nvPr/>
          </p:nvSpPr>
          <p:spPr>
            <a:xfrm>
              <a:off x="685800" y="3848100"/>
              <a:ext cx="419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675894" y="4064000"/>
              <a:ext cx="3790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模型负责想，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负责说「不」</a:t>
              </a:r>
            </a:p>
          </p:txBody>
        </p:sp>
      </p:grpSp>
      <p:grpSp>
        <p:nvGrpSpPr>
          <p:cNvPr id="18" name="cover-badges"/>
          <p:cNvGrpSpPr/>
          <p:nvPr/>
        </p:nvGrpSpPr>
        <p:grpSpPr>
          <a:xfrm>
            <a:off x="676656" y="4972050"/>
            <a:ext cx="6347313" cy="823278"/>
            <a:chOff x="676656" y="4972050"/>
            <a:chExt cx="6347313" cy="823278"/>
          </a:xfrm>
        </p:grpSpPr>
        <p:sp>
          <p:nvSpPr>
            <p:cNvPr id="9" name="Line 9"/>
            <p:cNvSpPr/>
            <p:nvPr/>
          </p:nvSpPr>
          <p:spPr>
            <a:xfrm>
              <a:off x="685800" y="49720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676656" y="5251450"/>
              <a:ext cx="997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v0.12.0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55753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开源版本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552700" y="512445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2810256" y="5251450"/>
              <a:ext cx="859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版本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13685" y="5575300"/>
              <a:ext cx="2352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 天 · 每版本有 tag/CHANGELOG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53050" y="512445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10606" y="5251450"/>
              <a:ext cx="999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765 测试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14035" y="5575300"/>
              <a:ext cx="1409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全绿 · TDD 先红后绿</a:t>
              </a:r>
            </a:p>
          </p:txBody>
        </p:sp>
      </p:grpSp>
      <p:grpSp>
        <p:nvGrpSpPr>
          <p:cNvPr id="20" name="cover-meta"/>
          <p:cNvGrpSpPr/>
          <p:nvPr/>
        </p:nvGrpSpPr>
        <p:grpSpPr>
          <a:xfrm>
            <a:off x="681038" y="6184900"/>
            <a:ext cx="3176704" cy="161925"/>
            <a:chOff x="681038" y="6184900"/>
            <a:chExt cx="3176704" cy="161925"/>
          </a:xfrm>
        </p:grpSpPr>
        <p:sp>
          <p:nvSpPr>
            <p:cNvPr id="19" name="TextBox 19"/>
            <p:cNvSpPr txBox="1"/>
            <p:nvPr/>
          </p:nvSpPr>
          <p:spPr>
            <a:xfrm>
              <a:off x="681038" y="6184900"/>
              <a:ext cx="3176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天使轮（示例结构） · github.com/Yfredy/LAOS</a:t>
              </a:r>
            </a:p>
          </p:txBody>
        </p:sp>
      </p:grpSp>
      <p:grpSp>
        <p:nvGrpSpPr>
          <p:cNvPr id="39" name="cover-ring-motif"/>
          <p:cNvGrpSpPr/>
          <p:nvPr/>
        </p:nvGrpSpPr>
        <p:grpSpPr>
          <a:xfrm>
            <a:off x="8362950" y="2009775"/>
            <a:ext cx="3393199" cy="3651250"/>
            <a:chOff x="8362950" y="2009775"/>
            <a:chExt cx="3393199" cy="3651250"/>
          </a:xfrm>
        </p:grpSpPr>
        <p:sp>
          <p:nvSpPr>
            <p:cNvPr id="21" name="Ellipse 21"/>
            <p:cNvSpPr/>
            <p:nvPr/>
          </p:nvSpPr>
          <p:spPr>
            <a:xfrm>
              <a:off x="8362950" y="2133600"/>
              <a:ext cx="2895600" cy="2895600"/>
            </a:xfrm>
            <a:prstGeom prst="ellipse">
              <a:avLst/>
            </a:prstGeom>
            <a:noFill/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2" name="Ellipse 22"/>
            <p:cNvSpPr/>
            <p:nvPr/>
          </p:nvSpPr>
          <p:spPr>
            <a:xfrm>
              <a:off x="9753600" y="35242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Line 23"/>
            <p:cNvSpPr/>
            <p:nvPr/>
          </p:nvSpPr>
          <p:spPr>
            <a:xfrm>
              <a:off x="9810750" y="213360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14478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Line 24"/>
            <p:cNvSpPr/>
            <p:nvPr/>
          </p:nvSpPr>
          <p:spPr>
            <a:xfrm>
              <a:off x="9810750" y="3143250"/>
              <a:ext cx="1019175" cy="438150"/>
            </a:xfrm>
            <a:custGeom>
              <a:avLst/>
              <a:gdLst/>
              <a:ahLst/>
              <a:cxnLst/>
              <a:rect l="l" t="t" r="r" b="b"/>
              <a:pathLst>
                <a:path w="1019175" h="438150">
                  <a:moveTo>
                    <a:pt x="0" y="438150"/>
                  </a:moveTo>
                  <a:lnTo>
                    <a:pt x="101917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5" name="Line 25"/>
            <p:cNvSpPr/>
            <p:nvPr/>
          </p:nvSpPr>
          <p:spPr>
            <a:xfrm>
              <a:off x="9810750" y="3581400"/>
              <a:ext cx="1019175" cy="438150"/>
            </a:xfrm>
            <a:custGeom>
              <a:avLst/>
              <a:gdLst/>
              <a:ahLst/>
              <a:cxnLst/>
              <a:rect l="l" t="t" r="r" b="b"/>
              <a:pathLst>
                <a:path w="1019175" h="438150">
                  <a:moveTo>
                    <a:pt x="0" y="0"/>
                  </a:moveTo>
                  <a:lnTo>
                    <a:pt x="1019175" y="438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6" name="Line 26"/>
            <p:cNvSpPr/>
            <p:nvPr/>
          </p:nvSpPr>
          <p:spPr>
            <a:xfrm>
              <a:off x="9810750" y="358140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7" name="Line 27"/>
            <p:cNvSpPr/>
            <p:nvPr/>
          </p:nvSpPr>
          <p:spPr>
            <a:xfrm>
              <a:off x="8791575" y="3581400"/>
              <a:ext cx="1019175" cy="438150"/>
            </a:xfrm>
            <a:custGeom>
              <a:avLst/>
              <a:gdLst/>
              <a:ahLst/>
              <a:cxnLst/>
              <a:rect l="l" t="t" r="r" b="b"/>
              <a:pathLst>
                <a:path w="1019175" h="438150">
                  <a:moveTo>
                    <a:pt x="1019175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8" name="Line 28"/>
            <p:cNvSpPr/>
            <p:nvPr/>
          </p:nvSpPr>
          <p:spPr>
            <a:xfrm>
              <a:off x="8791575" y="3143250"/>
              <a:ext cx="1019175" cy="438150"/>
            </a:xfrm>
            <a:custGeom>
              <a:avLst/>
              <a:gdLst/>
              <a:ahLst/>
              <a:cxnLst/>
              <a:rect l="l" t="t" r="r" b="b"/>
              <a:pathLst>
                <a:path w="1019175" h="438150">
                  <a:moveTo>
                    <a:pt x="1019175" y="438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9" name="Ellipse 29"/>
            <p:cNvSpPr/>
            <p:nvPr/>
          </p:nvSpPr>
          <p:spPr>
            <a:xfrm>
              <a:off x="9686925" y="200977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10706100" y="3019425"/>
              <a:ext cx="247650" cy="24765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31" name="Ellipse 31"/>
            <p:cNvSpPr/>
            <p:nvPr/>
          </p:nvSpPr>
          <p:spPr>
            <a:xfrm>
              <a:off x="10706100" y="389572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2" name="Ellipse 32"/>
            <p:cNvSpPr/>
            <p:nvPr/>
          </p:nvSpPr>
          <p:spPr>
            <a:xfrm>
              <a:off x="9686925" y="490537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3" name="Ellipse 33"/>
            <p:cNvSpPr/>
            <p:nvPr/>
          </p:nvSpPr>
          <p:spPr>
            <a:xfrm>
              <a:off x="8667750" y="389572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4" name="Ellipse 34"/>
            <p:cNvSpPr/>
            <p:nvPr/>
          </p:nvSpPr>
          <p:spPr>
            <a:xfrm>
              <a:off x="8667750" y="301942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11139488" y="2908300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39488" y="3089275"/>
              <a:ext cx="6166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task_scope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41628" y="5251450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环 syscall 闸门链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45766" y="5499100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越界在第 2 环即被拒绝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10228" y="361950"/>
              <a:ext cx="1300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02 / 15 · 一页看懂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8396255" cy="747903"/>
            <a:chOff x="671322" y="1104900"/>
            <a:chExt cx="8396255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658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一页看懂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83962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缺一层操作系统：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用 8 环闸门补上它</a:t>
              </a:r>
            </a:p>
          </p:txBody>
        </p:sp>
      </p:grpSp>
      <p:grpSp>
        <p:nvGrpSpPr>
          <p:cNvPr id="15" name="band-problem"/>
          <p:cNvGrpSpPr/>
          <p:nvPr/>
        </p:nvGrpSpPr>
        <p:grpSpPr>
          <a:xfrm>
            <a:off x="685800" y="1905000"/>
            <a:ext cx="10820400" cy="1028700"/>
            <a:chOff x="685800" y="1905000"/>
            <a:chExt cx="10820400" cy="1028700"/>
          </a:xfrm>
        </p:grpSpPr>
        <p:sp>
          <p:nvSpPr>
            <p:cNvPr id="9" name="Rectangle 9"/>
            <p:cNvSpPr/>
            <p:nvPr/>
          </p:nvSpPr>
          <p:spPr>
            <a:xfrm>
              <a:off x="685800" y="1905000"/>
              <a:ext cx="108204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44499" y="21717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738" y="2495550"/>
              <a:ext cx="681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PROBLEM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057400" y="21145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2354961" y="2108200"/>
              <a:ext cx="35010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直接拿工具，没有「系统调用」层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55723" y="2476500"/>
              <a:ext cx="55834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无预算 · 无审计 · 无回滚 · 无合规——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 tool call 就是一次不可逆操作</a:t>
              </a:r>
            </a:p>
          </p:txBody>
        </p:sp>
      </p:grpSp>
      <p:grpSp>
        <p:nvGrpSpPr>
          <p:cNvPr id="22" name="band-solution"/>
          <p:cNvGrpSpPr/>
          <p:nvPr/>
        </p:nvGrpSpPr>
        <p:grpSpPr>
          <a:xfrm>
            <a:off x="685800" y="3086100"/>
            <a:ext cx="10820400" cy="1028700"/>
            <a:chOff x="685800" y="3086100"/>
            <a:chExt cx="10820400" cy="1028700"/>
          </a:xfrm>
        </p:grpSpPr>
        <p:sp>
          <p:nvSpPr>
            <p:cNvPr id="16" name="Rectangle 16"/>
            <p:cNvSpPr/>
            <p:nvPr/>
          </p:nvSpPr>
          <p:spPr>
            <a:xfrm>
              <a:off x="685800" y="3086100"/>
              <a:ext cx="108204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944499" y="33528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738" y="3676650"/>
              <a:ext cx="7413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SOLUTION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057400" y="32956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2354961" y="3289300"/>
              <a:ext cx="2232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laos＝Linux 内核的用户态治理延伸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55723" y="3657600"/>
              <a:ext cx="5880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syscall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8 环闸门链：能力 → 范围 → 校验 → 预算 → 计价 → 预审 → 确认 → 审计</a:t>
              </a:r>
            </a:p>
          </p:txBody>
        </p:sp>
      </p:grpSp>
      <p:grpSp>
        <p:nvGrpSpPr>
          <p:cNvPr id="29" name="band-progress"/>
          <p:cNvGrpSpPr/>
          <p:nvPr/>
        </p:nvGrpSpPr>
        <p:grpSpPr>
          <a:xfrm>
            <a:off x="685800" y="4267200"/>
            <a:ext cx="10820400" cy="1028700"/>
            <a:chOff x="685800" y="4267200"/>
            <a:chExt cx="10820400" cy="1028700"/>
          </a:xfrm>
        </p:grpSpPr>
        <p:sp>
          <p:nvSpPr>
            <p:cNvPr id="23" name="Rectangle 23"/>
            <p:cNvSpPr/>
            <p:nvPr/>
          </p:nvSpPr>
          <p:spPr>
            <a:xfrm>
              <a:off x="685800" y="4267200"/>
              <a:ext cx="108204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44499" y="45339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738" y="4857750"/>
              <a:ext cx="715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TRACTION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057400" y="44767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2354961" y="4470400"/>
              <a:ext cx="26974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开源 v0.12.0 · 15 个设备驱动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55723" y="4838700"/>
              <a:ext cx="40438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端侧听觉栈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全自研 · 纯 stdlib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19,792 篇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论文语料</a:t>
              </a:r>
            </a:p>
          </p:txBody>
        </p:sp>
      </p:grpSp>
      <p:grpSp>
        <p:nvGrpSpPr>
          <p:cNvPr id="32" name="conclusion-band"/>
          <p:cNvGrpSpPr/>
          <p:nvPr/>
        </p:nvGrpSpPr>
        <p:grpSpPr>
          <a:xfrm>
            <a:off x="685800" y="5600700"/>
            <a:ext cx="10820400" cy="571500"/>
            <a:chOff x="685800" y="5600700"/>
            <a:chExt cx="10820400" cy="571500"/>
          </a:xfrm>
        </p:grpSpPr>
        <p:sp>
          <p:nvSpPr>
            <p:cNvPr id="30" name="Rectangle 30"/>
            <p:cNvSpPr/>
            <p:nvPr/>
          </p:nvSpPr>
          <p:spPr>
            <a:xfrm>
              <a:off x="685800" y="5600700"/>
              <a:ext cx="108204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1456" y="5746750"/>
              <a:ext cx="4467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一句话：模型负责想，laos 负责说「不」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3" name="Line 3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10228" y="361950"/>
              <a:ext cx="1300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03 / 15 · 痛点三柱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8944899" cy="747903"/>
            <a:chOff x="671322" y="1104900"/>
            <a:chExt cx="8944899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2792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· 痛点三柱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894489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直接拿工具：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成本失控、合规黑洞、端侧碎片</a:t>
              </a:r>
            </a:p>
          </p:txBody>
        </p:sp>
      </p:grpSp>
      <p:grpSp>
        <p:nvGrpSpPr>
          <p:cNvPr id="17" name="pillar-cost"/>
          <p:cNvGrpSpPr/>
          <p:nvPr/>
        </p:nvGrpSpPr>
        <p:grpSpPr>
          <a:xfrm>
            <a:off x="685800" y="2000250"/>
            <a:ext cx="3390900" cy="3143250"/>
            <a:chOff x="685800" y="2000250"/>
            <a:chExt cx="3390900" cy="3143250"/>
          </a:xfrm>
        </p:grpSpPr>
        <p:sp>
          <p:nvSpPr>
            <p:cNvPr id="9" name="Rectangle 9"/>
            <p:cNvSpPr/>
            <p:nvPr/>
          </p:nvSpPr>
          <p:spPr>
            <a:xfrm>
              <a:off x="685800" y="2000250"/>
              <a:ext cx="33909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685800" y="2000250"/>
              <a:ext cx="33909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433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499" y="26670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失控成本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3086100"/>
              <a:ext cx="1475994" cy="49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 tool call</a:t>
              </a:r>
              <a:b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就是一次不可逆操作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784600"/>
              <a:ext cx="14066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误删文件 · 超额扣费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并发写坏状态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4457700"/>
              <a:ext cx="28575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099185" y="4438650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场景：删错一个目录，</a:t>
              </a:r>
              <a:b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无法回滚，只剩事后日志</a:t>
              </a:r>
            </a:p>
          </p:txBody>
        </p:sp>
      </p:grpSp>
      <p:grpSp>
        <p:nvGrpSpPr>
          <p:cNvPr id="26" name="pillar-compliance"/>
          <p:cNvGrpSpPr/>
          <p:nvPr/>
        </p:nvGrpSpPr>
        <p:grpSpPr>
          <a:xfrm>
            <a:off x="4400550" y="2000250"/>
            <a:ext cx="3390900" cy="3143250"/>
            <a:chOff x="4400550" y="2000250"/>
            <a:chExt cx="3390900" cy="3143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2000250"/>
              <a:ext cx="33909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4400550" y="2000250"/>
              <a:ext cx="33909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5810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9249" y="26670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合规黑洞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0773" y="3086100"/>
              <a:ext cx="1860042" cy="49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EU AI Act 已生效</a:t>
              </a:r>
              <a:b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PIPL 把声纹列为敏感信息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1154" y="3784600"/>
              <a:ext cx="15438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企业上 Agent，缺一层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可审计的证据链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67250" y="4457700"/>
              <a:ext cx="28575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4813935" y="4438650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场景：审计方问「谁在何时</a:t>
              </a:r>
              <a:b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动了什么」，答不上来</a:t>
              </a:r>
            </a:p>
          </p:txBody>
        </p:sp>
      </p:grpSp>
      <p:grpSp>
        <p:nvGrpSpPr>
          <p:cNvPr id="35" name="pillar-device"/>
          <p:cNvGrpSpPr/>
          <p:nvPr/>
        </p:nvGrpSpPr>
        <p:grpSpPr>
          <a:xfrm>
            <a:off x="8115300" y="2000250"/>
            <a:ext cx="3390900" cy="3143250"/>
            <a:chOff x="8115300" y="2000250"/>
            <a:chExt cx="3390900" cy="3143250"/>
          </a:xfrm>
        </p:grpSpPr>
        <p:sp>
          <p:nvSpPr>
            <p:cNvPr id="27" name="Rectangle 27"/>
            <p:cNvSpPr/>
            <p:nvPr/>
          </p:nvSpPr>
          <p:spPr>
            <a:xfrm>
              <a:off x="8115300" y="2000250"/>
              <a:ext cx="33909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8115300" y="2000250"/>
              <a:ext cx="33909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3728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3999" y="26670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端侧碎片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523" y="3086100"/>
              <a:ext cx="1714144" cy="49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麦克风/屏幕/通知/NPU</a:t>
              </a:r>
              <a:b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各自为 SDK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5904" y="378460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接入每件设备都要重写一遍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且没有统一隐私闸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0" y="4457700"/>
              <a:ext cx="28575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528685" y="4438650"/>
              <a:ext cx="14409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场景：同一个 Agent，</a:t>
              </a:r>
              <a:b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换一台耳机就重做集成</a:t>
              </a:r>
            </a:p>
          </p:txBody>
        </p:sp>
      </p:grpSp>
      <p:grpSp>
        <p:nvGrpSpPr>
          <p:cNvPr id="37" name="root-cause"/>
          <p:cNvGrpSpPr/>
          <p:nvPr/>
        </p:nvGrpSpPr>
        <p:grpSpPr>
          <a:xfrm>
            <a:off x="678561" y="5708650"/>
            <a:ext cx="9120904" cy="278702"/>
            <a:chOff x="678561" y="5708650"/>
            <a:chExt cx="9120904" cy="278702"/>
          </a:xfrm>
        </p:grpSpPr>
        <p:sp>
          <p:nvSpPr>
            <p:cNvPr id="36" name="TextBox 36"/>
            <p:cNvSpPr txBox="1"/>
            <p:nvPr/>
          </p:nvSpPr>
          <p:spPr>
            <a:xfrm>
              <a:off x="678561" y="5708650"/>
              <a:ext cx="91209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三柱同一个根因：现有框架（LangChain/MCP host 等）在</a:t>
              </a:r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应用层 try-catch，挡不住</a:t>
              </a:r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——缺的是 syscall 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8" name="Line 3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927526" y="361950"/>
              <a:ext cx="1583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04 / 15 · 为什么是现在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7532455" cy="747903"/>
            <a:chOff x="671322" y="1104900"/>
            <a:chExt cx="7532455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6239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· 为什么是现在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75324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三浪叠加：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治理层是这轮 Agent 浪潮的空位</a:t>
              </a:r>
            </a:p>
          </p:txBody>
        </p:sp>
      </p:grpSp>
      <p:grpSp>
        <p:nvGrpSpPr>
          <p:cNvPr id="13" name="wave-mcp"/>
          <p:cNvGrpSpPr/>
          <p:nvPr/>
        </p:nvGrpSpPr>
        <p:grpSpPr>
          <a:xfrm>
            <a:off x="685800" y="1905000"/>
            <a:ext cx="10820400" cy="990600"/>
            <a:chOff x="685800" y="1905000"/>
            <a:chExt cx="10820400" cy="990600"/>
          </a:xfrm>
        </p:grpSpPr>
        <p:sp>
          <p:nvSpPr>
            <p:cNvPr id="9" name="Rectangle 9"/>
            <p:cNvSpPr/>
            <p:nvPr/>
          </p:nvSpPr>
          <p:spPr>
            <a:xfrm>
              <a:off x="685800" y="1905000"/>
              <a:ext cx="108204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43356" y="2127250"/>
              <a:ext cx="476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浪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9661" y="2146300"/>
              <a:ext cx="16174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成为事实标准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0423" y="2495550"/>
              <a:ext cx="74899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2026-07-28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规范更新（Tasks/Elicitation/MRTR）——工具调用接口统一，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治理层有了统一切入点</a:t>
              </a:r>
            </a:p>
          </p:txBody>
        </p:sp>
      </p:grpSp>
      <p:grpSp>
        <p:nvGrpSpPr>
          <p:cNvPr id="18" name="wave-execution"/>
          <p:cNvGrpSpPr/>
          <p:nvPr/>
        </p:nvGrpSpPr>
        <p:grpSpPr>
          <a:xfrm>
            <a:off x="685800" y="3086100"/>
            <a:ext cx="10820400" cy="990600"/>
            <a:chOff x="685800" y="3086100"/>
            <a:chExt cx="10820400" cy="990600"/>
          </a:xfrm>
        </p:grpSpPr>
        <p:sp>
          <p:nvSpPr>
            <p:cNvPr id="14" name="Rectangle 14"/>
            <p:cNvSpPr/>
            <p:nvPr/>
          </p:nvSpPr>
          <p:spPr>
            <a:xfrm>
              <a:off x="685800" y="3086100"/>
              <a:ext cx="108204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943356" y="3308350"/>
              <a:ext cx="476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浪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9661" y="3327400"/>
              <a:ext cx="1971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从聊天走向执行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0423" y="3676650"/>
              <a:ext cx="64912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企业开始让 Agent 动真实系统——「能干活」到「敢让它干活」之间，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差的正是 OS 层</a:t>
              </a:r>
            </a:p>
          </p:txBody>
        </p:sp>
      </p:grpSp>
      <p:grpSp>
        <p:nvGrpSpPr>
          <p:cNvPr id="23" name="wave-regulation"/>
          <p:cNvGrpSpPr/>
          <p:nvPr/>
        </p:nvGrpSpPr>
        <p:grpSpPr>
          <a:xfrm>
            <a:off x="685800" y="4267200"/>
            <a:ext cx="10820400" cy="990600"/>
            <a:chOff x="685800" y="4267200"/>
            <a:chExt cx="10820400" cy="990600"/>
          </a:xfrm>
        </p:grpSpPr>
        <p:sp>
          <p:nvSpPr>
            <p:cNvPr id="19" name="Rectangle 19"/>
            <p:cNvSpPr/>
            <p:nvPr/>
          </p:nvSpPr>
          <p:spPr>
            <a:xfrm>
              <a:off x="685800" y="4267200"/>
              <a:ext cx="108204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3356" y="4489450"/>
              <a:ext cx="476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浪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9661" y="450850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监管落地窗口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0423" y="4857750"/>
              <a:ext cx="53429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AI Act 分阶段生效 / 国内生成式算法备案——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合规是预算充足的用户</a:t>
              </a:r>
            </a:p>
          </p:txBody>
        </p:sp>
      </p:grpSp>
      <p:grpSp>
        <p:nvGrpSpPr>
          <p:cNvPr id="25" name="window-takeaway"/>
          <p:cNvGrpSpPr/>
          <p:nvPr/>
        </p:nvGrpSpPr>
        <p:grpSpPr>
          <a:xfrm>
            <a:off x="678561" y="5765800"/>
            <a:ext cx="6016915" cy="278702"/>
            <a:chOff x="678561" y="5765800"/>
            <a:chExt cx="6016915" cy="278702"/>
          </a:xfrm>
        </p:grpSpPr>
        <p:sp>
          <p:nvSpPr>
            <p:cNvPr id="24" name="TextBox 24"/>
            <p:cNvSpPr txBox="1"/>
            <p:nvPr/>
          </p:nvSpPr>
          <p:spPr>
            <a:xfrm>
              <a:off x="678561" y="5765800"/>
              <a:ext cx="6016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接口统一 × 走向执行 × 监管倒逼——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三条浪同时到齐，切入窗口就在当下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26" name="Line 2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492930" y="361950"/>
              <a:ext cx="10180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05 / 15 · 产品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7457708" cy="747903"/>
            <a:chOff x="671322" y="1104900"/>
            <a:chExt cx="7457708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6205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方案 · laos 是什么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74577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laos 把每一次工具调用，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变成一次系统调用</a:t>
              </a:r>
            </a:p>
          </p:txBody>
        </p:sp>
      </p:grpSp>
      <p:grpSp>
        <p:nvGrpSpPr>
          <p:cNvPr id="32" name="arch-chain"/>
          <p:cNvGrpSpPr/>
          <p:nvPr/>
        </p:nvGrpSpPr>
        <p:grpSpPr>
          <a:xfrm>
            <a:off x="685800" y="1943100"/>
            <a:ext cx="10820400" cy="1143000"/>
            <a:chOff x="685800" y="1943100"/>
            <a:chExt cx="10820400" cy="1143000"/>
          </a:xfrm>
        </p:grpSpPr>
        <p:sp>
          <p:nvSpPr>
            <p:cNvPr id="9" name="Rectangle 9"/>
            <p:cNvSpPr/>
            <p:nvPr/>
          </p:nvSpPr>
          <p:spPr>
            <a:xfrm>
              <a:off x="685800" y="2133600"/>
              <a:ext cx="171450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1256699" y="2279650"/>
              <a:ext cx="5727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0597" y="2590800"/>
              <a:ext cx="11049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模型 · 规划 · 意图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00300" y="2305050"/>
              <a:ext cx="666750" cy="342900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Freeform 13"/>
            <p:cNvSpPr/>
            <p:nvPr/>
          </p:nvSpPr>
          <p:spPr>
            <a:xfrm>
              <a:off x="6496050" y="2305050"/>
              <a:ext cx="666750" cy="342900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Freeform 14"/>
            <p:cNvSpPr/>
            <p:nvPr/>
          </p:nvSpPr>
          <p:spPr>
            <a:xfrm>
              <a:off x="8877300" y="2305050"/>
              <a:ext cx="666750" cy="342900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kernel-node"/>
            <p:cNvSpPr/>
            <p:nvPr/>
          </p:nvSpPr>
          <p:spPr>
            <a:xfrm>
              <a:off x="3067050" y="1943100"/>
              <a:ext cx="3429000" cy="1143000"/>
            </a:xfrm>
            <a:prstGeom prst="roundRect">
              <a:avLst>
                <a:gd name="adj" fmla="val 3333"/>
              </a:avLst>
            </a:prstGeom>
            <a:solidFill>
              <a:srgbClr val="E9EEFA"/>
            </a:solidFill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3287649" y="2095500"/>
              <a:ext cx="200740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内核（用户态）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295650" y="2457450"/>
              <a:ext cx="685800" cy="247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435706" y="251460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闸门链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457450"/>
              <a:ext cx="495300" cy="247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168419" y="25146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629150" y="2457450"/>
              <a:ext cx="495300" cy="247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739919" y="25146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200650" y="2457450"/>
              <a:ext cx="495300" cy="247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5311419" y="25146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90697" y="2819400"/>
              <a:ext cx="16326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先扣账 · 后派发 · 全量审计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62800" y="2133600"/>
              <a:ext cx="171450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7585568" y="2222500"/>
              <a:ext cx="8689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 个驱动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77492" y="253365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子进程 · 隔离运行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44050" y="2133600"/>
              <a:ext cx="196215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640448" y="2222500"/>
              <a:ext cx="1769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Linux / MCP / 外设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26498" y="25336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真实系统与真实设备</a:t>
              </a:r>
            </a:p>
          </p:txBody>
        </p:sp>
      </p:grpSp>
      <p:grpSp>
        <p:nvGrpSpPr>
          <p:cNvPr id="42" name="kernel-semantics"/>
          <p:cNvGrpSpPr/>
          <p:nvPr/>
        </p:nvGrpSpPr>
        <p:grpSpPr>
          <a:xfrm>
            <a:off x="679323" y="3657600"/>
            <a:ext cx="9555785" cy="937578"/>
            <a:chOff x="679323" y="3657600"/>
            <a:chExt cx="9555785" cy="937578"/>
          </a:xfrm>
        </p:grpSpPr>
        <p:sp>
          <p:nvSpPr>
            <p:cNvPr id="33" name="TextBox 33"/>
            <p:cNvSpPr txBox="1"/>
            <p:nvPr/>
          </p:nvSpPr>
          <p:spPr>
            <a:xfrm>
              <a:off x="681038" y="3657600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三件内核语义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323" y="4057650"/>
              <a:ext cx="18308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tool call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＝ 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085" y="43751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每次过闸，而非直通工具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038600" y="39052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4298823" y="4057650"/>
              <a:ext cx="19494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MCP Server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＝ 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设备驱动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99585" y="4375150"/>
              <a:ext cx="2211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外挂任意 MCP 服务器，遥测必关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153400" y="39052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8413623" y="4057650"/>
              <a:ext cx="13225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能力表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＝ 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权限位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4385" y="43751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能力可收回，权限收到最小</a:t>
              </a:r>
            </a:p>
          </p:txBody>
        </p:sp>
      </p:grpSp>
      <p:grpSp>
        <p:nvGrpSpPr>
          <p:cNvPr id="46" name="zero-dep-band"/>
          <p:cNvGrpSpPr/>
          <p:nvPr/>
        </p:nvGrpSpPr>
        <p:grpSpPr>
          <a:xfrm>
            <a:off x="685800" y="5105400"/>
            <a:ext cx="10820400" cy="609600"/>
            <a:chOff x="685800" y="5105400"/>
            <a:chExt cx="10820400" cy="609600"/>
          </a:xfrm>
        </p:grpSpPr>
        <p:sp>
          <p:nvSpPr>
            <p:cNvPr id="43" name="Rectangle 43"/>
            <p:cNvSpPr/>
            <p:nvPr/>
          </p:nvSpPr>
          <p:spPr>
            <a:xfrm>
              <a:off x="685800" y="5105400"/>
              <a:ext cx="108204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985647" y="5219700"/>
              <a:ext cx="7907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零依赖承诺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4123" y="5429250"/>
              <a:ext cx="54702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内核纯 </a:t>
              </a:r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stdlib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——可进任何低端安卓 / 边缘盒子的 Python 环境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7" name="Line 4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8" name="TextBox 48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1580" y="361950"/>
              <a:ext cx="1159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06 / 15 · 壁垒一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7014573" cy="747903"/>
            <a:chOff x="671322" y="1104900"/>
            <a:chExt cx="7014573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7123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壁垒 · 一 8 环闸门链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70145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越界在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2 环即被拒绝</a:t>
              </a: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：强制，不是建议</a:t>
              </a:r>
            </a:p>
          </p:txBody>
        </p:sp>
      </p:grpSp>
      <p:grpSp>
        <p:nvGrpSpPr>
          <p:cNvPr id="40" name="gate-chain"/>
          <p:cNvGrpSpPr/>
          <p:nvPr/>
        </p:nvGrpSpPr>
        <p:grpSpPr>
          <a:xfrm>
            <a:off x="781050" y="2486025"/>
            <a:ext cx="10115550" cy="870903"/>
            <a:chOff x="781050" y="2486025"/>
            <a:chExt cx="10115550" cy="870903"/>
          </a:xfrm>
        </p:grpSpPr>
        <p:sp>
          <p:nvSpPr>
            <p:cNvPr id="9" name="Line 9"/>
            <p:cNvSpPr/>
            <p:nvPr/>
          </p:nvSpPr>
          <p:spPr>
            <a:xfrm>
              <a:off x="13906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0" name="Line 10"/>
            <p:cNvSpPr/>
            <p:nvPr/>
          </p:nvSpPr>
          <p:spPr>
            <a:xfrm>
              <a:off x="27622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1338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55054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68770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4" name="Line 14"/>
            <p:cNvSpPr/>
            <p:nvPr/>
          </p:nvSpPr>
          <p:spPr>
            <a:xfrm>
              <a:off x="82486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5" name="Line 15"/>
            <p:cNvSpPr/>
            <p:nvPr/>
          </p:nvSpPr>
          <p:spPr>
            <a:xfrm>
              <a:off x="9620250" y="2743200"/>
              <a:ext cx="666750" cy="1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6" name="Ellipse 16"/>
            <p:cNvSpPr/>
            <p:nvPr/>
          </p:nvSpPr>
          <p:spPr>
            <a:xfrm>
              <a:off x="7810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9688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348" y="3136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152650" y="2486025"/>
              <a:ext cx="514350" cy="514350"/>
            </a:xfrm>
            <a:prstGeom prst="ellipse">
              <a:avLst/>
            </a:prstGeom>
            <a:solidFill>
              <a:srgbClr val="E9EEFA"/>
            </a:solidFill>
            <a:ln w="28575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23404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68749" y="3136900"/>
              <a:ext cx="8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task_scope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5242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37120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11855" y="3136900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schema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958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50836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7918" y="3136900"/>
              <a:ext cx="950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EDQUOT 预算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674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4552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77164" y="3136900"/>
              <a:ext cx="89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FleetLedger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390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8268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89957" y="3136900"/>
              <a:ext cx="612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Jev 预审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0106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91984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0561" y="31369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确认横幅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10382250" y="2486025"/>
              <a:ext cx="514350" cy="5143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10570007" y="2628900"/>
              <a:ext cx="1388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82936" y="31369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</a:t>
              </a:r>
            </a:p>
          </p:txBody>
        </p:sp>
      </p:grpSp>
      <p:grpSp>
        <p:nvGrpSpPr>
          <p:cNvPr id="45" name="ledger-band"/>
          <p:cNvGrpSpPr/>
          <p:nvPr/>
        </p:nvGrpSpPr>
        <p:grpSpPr>
          <a:xfrm>
            <a:off x="685800" y="3848100"/>
            <a:ext cx="10820400" cy="609600"/>
            <a:chOff x="685800" y="3848100"/>
            <a:chExt cx="10820400" cy="609600"/>
          </a:xfrm>
        </p:grpSpPr>
        <p:sp>
          <p:nvSpPr>
            <p:cNvPr id="41" name="Rectangle 41"/>
            <p:cNvSpPr/>
            <p:nvPr/>
          </p:nvSpPr>
          <p:spPr>
            <a:xfrm>
              <a:off x="685800" y="3848100"/>
              <a:ext cx="10820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Rectangle 42"/>
            <p:cNvSpPr/>
            <p:nvPr/>
          </p:nvSpPr>
          <p:spPr>
            <a:xfrm>
              <a:off x="685800" y="3848100"/>
              <a:ext cx="381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985647" y="3962400"/>
              <a:ext cx="7907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不可逆账本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4123" y="4171950"/>
              <a:ext cx="509831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FleetLedger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先扣账、后派发——操作前风险已定价，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事后不可抵赖</a:t>
              </a:r>
            </a:p>
          </p:txBody>
        </p:sp>
      </p:grpSp>
      <p:grpSp>
        <p:nvGrpSpPr>
          <p:cNvPr id="49" name="contrast-existing"/>
          <p:cNvGrpSpPr/>
          <p:nvPr/>
        </p:nvGrpSpPr>
        <p:grpSpPr>
          <a:xfrm>
            <a:off x="685800" y="4724400"/>
            <a:ext cx="5257800" cy="1143000"/>
            <a:chOff x="685800" y="4724400"/>
            <a:chExt cx="5257800" cy="1143000"/>
          </a:xfrm>
        </p:grpSpPr>
        <p:sp>
          <p:nvSpPr>
            <p:cNvPr id="46" name="Rectangle 46"/>
            <p:cNvSpPr/>
            <p:nvPr/>
          </p:nvSpPr>
          <p:spPr>
            <a:xfrm>
              <a:off x="685800" y="4724400"/>
              <a:ext cx="52578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944499" y="4876800"/>
              <a:ext cx="16389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现有方案 ＝ 建议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6404" y="5219700"/>
              <a:ext cx="20086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应用层 guardrail / 策略文件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写在上下文里——模型可以不听</a:t>
              </a:r>
            </a:p>
          </p:txBody>
        </p:sp>
      </p:grpSp>
      <p:grpSp>
        <p:nvGrpSpPr>
          <p:cNvPr id="53" name="contrast-laos"/>
          <p:cNvGrpSpPr/>
          <p:nvPr/>
        </p:nvGrpSpPr>
        <p:grpSpPr>
          <a:xfrm>
            <a:off x="6248400" y="4724400"/>
            <a:ext cx="5257800" cy="1143000"/>
            <a:chOff x="6248400" y="4724400"/>
            <a:chExt cx="5257800" cy="1143000"/>
          </a:xfrm>
        </p:grpSpPr>
        <p:sp>
          <p:nvSpPr>
            <p:cNvPr id="50" name="Rectangle 50"/>
            <p:cNvSpPr/>
            <p:nvPr/>
          </p:nvSpPr>
          <p:spPr>
            <a:xfrm>
              <a:off x="6248400" y="4724400"/>
              <a:ext cx="5257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6507099" y="4876800"/>
              <a:ext cx="122360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 ＝ 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09004" y="5219700"/>
              <a:ext cx="2634615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闸门在执行路径上，绕不过去</a:t>
              </a:r>
              <a:b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越界在第 2 环即拒，驱动根本不被触达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54" name="Line 5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1580" y="361950"/>
              <a:ext cx="1159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07 / 15 · 壁垒二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7416464" cy="747903"/>
            <a:chOff x="671322" y="1104900"/>
            <a:chExt cx="7416464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6917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壁垒 · 二 端侧听觉栈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74164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端侧听觉栈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全自研</a:t>
              </a: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：纯 stdlib、零云端依赖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80847" y="1962150"/>
            <a:ext cx="208010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225" dirty="0">
                <a:solidFill>
                  <a:srgbClr val="8A8A93"/>
                </a:solidFill>
                <a:latin typeface="+mn-lt"/>
                <a:ea typeface="+mn-ea"/>
                <a:cs typeface="+mn-cs"/>
              </a:rPr>
              <a:t>六层信号流 · 端侧 · 全自研</a:t>
            </a:r>
          </a:p>
        </p:txBody>
      </p:sp>
      <p:grpSp>
        <p:nvGrpSpPr>
          <p:cNvPr id="34" name="audio-stack"/>
          <p:cNvGrpSpPr/>
          <p:nvPr/>
        </p:nvGrpSpPr>
        <p:grpSpPr>
          <a:xfrm>
            <a:off x="685800" y="2247900"/>
            <a:ext cx="5715000" cy="3086100"/>
            <a:chOff x="685800" y="2247900"/>
            <a:chExt cx="5715000" cy="3086100"/>
          </a:xfrm>
        </p:grpSpPr>
        <p:sp>
          <p:nvSpPr>
            <p:cNvPr id="10" name="Rectangle 10"/>
            <p:cNvSpPr/>
            <p:nvPr/>
          </p:nvSpPr>
          <p:spPr>
            <a:xfrm>
              <a:off x="685800" y="2247900"/>
              <a:ext cx="571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09638" y="241300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8923" y="2362200"/>
              <a:ext cx="141961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VAD 语音活动检测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543300" y="2676525"/>
              <a:ext cx="1" cy="95250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4" name="Rectangle 14"/>
            <p:cNvSpPr/>
            <p:nvPr/>
          </p:nvSpPr>
          <p:spPr>
            <a:xfrm>
              <a:off x="685800" y="2781300"/>
              <a:ext cx="571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909638" y="294640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8923" y="2895600"/>
              <a:ext cx="136122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BS.1770-4 响度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44222" y="2908300"/>
              <a:ext cx="1333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−23.00 LUFS ±0.1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543300" y="3209925"/>
              <a:ext cx="1" cy="95250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685800" y="3314700"/>
              <a:ext cx="571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09638" y="347980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8923" y="3429000"/>
              <a:ext cx="198088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Goertzel 双耳 ILD / IPD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543300" y="3743325"/>
              <a:ext cx="1" cy="95250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685800" y="3848100"/>
              <a:ext cx="571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09638" y="401320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88923" y="3962400"/>
              <a:ext cx="12855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麦克风几何 MPE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543300" y="4276725"/>
              <a:ext cx="1" cy="95250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27" name="Rectangle 27"/>
            <p:cNvSpPr/>
            <p:nvPr/>
          </p:nvSpPr>
          <p:spPr>
            <a:xfrm>
              <a:off x="685800" y="4381500"/>
              <a:ext cx="571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09638" y="454660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88923" y="4495800"/>
              <a:ext cx="940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FOA 编解码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43300" y="4810125"/>
              <a:ext cx="1" cy="95250"/>
            </a:xfrm>
            <a:prstGeom prst="line">
              <a:avLst/>
            </a:prstGeom>
            <a:noFill/>
            <a:ln w="14288">
              <a:solidFill>
                <a:srgbClr val="8A8A93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31" name="Rectangle 31"/>
            <p:cNvSpPr/>
            <p:nvPr/>
          </p:nvSpPr>
          <p:spPr>
            <a:xfrm>
              <a:off x="685800" y="4914900"/>
              <a:ext cx="571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909638" y="508000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88923" y="5029200"/>
              <a:ext cx="17104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ShoNet 声源定位复现</a:t>
              </a:r>
            </a:p>
          </p:txBody>
        </p:sp>
      </p:grpSp>
      <p:grpSp>
        <p:nvGrpSpPr>
          <p:cNvPr id="38" name="lufs-anchor"/>
          <p:cNvGrpSpPr/>
          <p:nvPr/>
        </p:nvGrpSpPr>
        <p:grpSpPr>
          <a:xfrm>
            <a:off x="6762750" y="1962150"/>
            <a:ext cx="2529371" cy="1013778"/>
            <a:chOff x="6762750" y="1962150"/>
            <a:chExt cx="2529371" cy="1013778"/>
          </a:xfrm>
        </p:grpSpPr>
        <p:sp>
          <p:nvSpPr>
            <p:cNvPr id="35" name="TextBox 35"/>
            <p:cNvSpPr txBox="1"/>
            <p:nvPr/>
          </p:nvSpPr>
          <p:spPr>
            <a:xfrm>
              <a:off x="6776847" y="1962150"/>
              <a:ext cx="20031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响度校准锚点 · 与标准对齐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62750" y="2165350"/>
              <a:ext cx="252937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−23.00</a:t>
              </a:r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LUFS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6085" y="2755900"/>
              <a:ext cx="2402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偏差 ±0.1 以内——复现 R128 校准点</a:t>
              </a:r>
            </a:p>
          </p:txBody>
        </p:sp>
      </p:grpSp>
      <p:grpSp>
        <p:nvGrpSpPr>
          <p:cNvPr id="49" name="duplex-trio"/>
          <p:cNvGrpSpPr/>
          <p:nvPr/>
        </p:nvGrpSpPr>
        <p:grpSpPr>
          <a:xfrm>
            <a:off x="6776847" y="3257550"/>
            <a:ext cx="2340940" cy="1091946"/>
            <a:chOff x="6776847" y="3257550"/>
            <a:chExt cx="2340940" cy="1091946"/>
          </a:xfrm>
        </p:grpSpPr>
        <p:sp>
          <p:nvSpPr>
            <p:cNvPr id="39" name="TextBox 39"/>
            <p:cNvSpPr txBox="1"/>
            <p:nvPr/>
          </p:nvSpPr>
          <p:spPr>
            <a:xfrm>
              <a:off x="6776847" y="3257550"/>
              <a:ext cx="952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全双工三件套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1800" y="3505200"/>
              <a:ext cx="19050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6800869" y="353377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18604" y="3505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时序度量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1800" y="3810000"/>
              <a:ext cx="19050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6800869" y="383857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18604" y="381000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speak-hold-stop 轮转策略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1800" y="4114800"/>
              <a:ext cx="19050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6800869" y="414337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8604" y="41148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打断即作废轮缓冲</a:t>
              </a:r>
            </a:p>
          </p:txBody>
        </p:sp>
      </p:grpSp>
      <p:grpSp>
        <p:nvGrpSpPr>
          <p:cNvPr id="54" name="why-valuable"/>
          <p:cNvGrpSpPr/>
          <p:nvPr/>
        </p:nvGrpSpPr>
        <p:grpSpPr>
          <a:xfrm>
            <a:off x="6781800" y="4686300"/>
            <a:ext cx="4724400" cy="1181100"/>
            <a:chOff x="6781800" y="4686300"/>
            <a:chExt cx="4724400" cy="1181100"/>
          </a:xfrm>
        </p:grpSpPr>
        <p:sp>
          <p:nvSpPr>
            <p:cNvPr id="50" name="Rectangle 50"/>
            <p:cNvSpPr/>
            <p:nvPr/>
          </p:nvSpPr>
          <p:spPr>
            <a:xfrm>
              <a:off x="6781800" y="4686300"/>
              <a:ext cx="472440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Rectangle 51"/>
            <p:cNvSpPr/>
            <p:nvPr/>
          </p:nvSpPr>
          <p:spPr>
            <a:xfrm>
              <a:off x="6781800" y="4686300"/>
              <a:ext cx="38100" cy="1181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TextBox 52"/>
            <p:cNvSpPr txBox="1"/>
            <p:nvPr/>
          </p:nvSpPr>
          <p:spPr>
            <a:xfrm>
              <a:off x="7043547" y="4838700"/>
              <a:ext cx="7907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为什么值钱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42023" y="5067300"/>
              <a:ext cx="2833370" cy="745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语音是 Agent 最自然入口，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端侧＝隐私</a:t>
              </a:r>
              <a:b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合规的唯一安全区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——而市面方案全部</a:t>
              </a:r>
              <a:b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依赖云端大模型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55" name="Line 5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1580" y="361950"/>
              <a:ext cx="1159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08 / 15 · 壁垒三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7702296" cy="747903"/>
            <a:chOff x="671322" y="1104900"/>
            <a:chExt cx="7702296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5194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壁垒 · 三 合规先发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77022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合规是入场券：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功课已完成，经得起逐行对标</a:t>
              </a:r>
            </a:p>
          </p:txBody>
        </p:sp>
      </p:grpSp>
      <p:grpSp>
        <p:nvGrpSpPr>
          <p:cNvPr id="15" name="law-homework"/>
          <p:cNvGrpSpPr/>
          <p:nvPr/>
        </p:nvGrpSpPr>
        <p:grpSpPr>
          <a:xfrm>
            <a:off x="678561" y="2133600"/>
            <a:ext cx="10827639" cy="1205802"/>
            <a:chOff x="678561" y="2133600"/>
            <a:chExt cx="10827639" cy="1205802"/>
          </a:xfrm>
        </p:grpSpPr>
        <p:sp>
          <p:nvSpPr>
            <p:cNvPr id="9" name="TextBox 9"/>
            <p:cNvSpPr txBox="1"/>
            <p:nvPr/>
          </p:nvSpPr>
          <p:spPr>
            <a:xfrm>
              <a:off x="680847" y="2133600"/>
              <a:ext cx="12773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已完成的法条功课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457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678561" y="2622550"/>
              <a:ext cx="17188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EU AI Act 禁令清单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9511" y="2622550"/>
              <a:ext cx="16386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PIPL 声纹单独同意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561" y="30607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录音触发四红线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17673" y="3086100"/>
              <a:ext cx="40686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显式 </a:t>
              </a:r>
              <a:r>
                <a:rPr lang="en-US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syscall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en-US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LAOS_REC=0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全量审计 · ASR 本地</a:t>
              </a:r>
            </a:p>
          </p:txBody>
        </p:sp>
      </p:grpSp>
      <p:grpSp>
        <p:nvGrpSpPr>
          <p:cNvPr id="19" name="refusal-evidence"/>
          <p:cNvGrpSpPr/>
          <p:nvPr/>
        </p:nvGrpSpPr>
        <p:grpSpPr>
          <a:xfrm>
            <a:off x="678561" y="3943350"/>
            <a:ext cx="10827639" cy="786702"/>
            <a:chOff x="678561" y="3943350"/>
            <a:chExt cx="10827639" cy="786702"/>
          </a:xfrm>
        </p:grpSpPr>
        <p:sp>
          <p:nvSpPr>
            <p:cNvPr id="16" name="TextBox 16"/>
            <p:cNvSpPr txBox="1"/>
            <p:nvPr/>
          </p:nvSpPr>
          <p:spPr>
            <a:xfrm>
              <a:off x="680847" y="3943350"/>
              <a:ext cx="952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拒绝清单实证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267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78561" y="4451350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对标开源产品的</a:t>
              </a: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七个越界文件</a:t>
              </a:r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逐行分析之后——</a:t>
              </a:r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一行不抄</a:t>
              </a:r>
            </a:p>
          </p:txBody>
        </p:sp>
      </p:grpSp>
      <p:grpSp>
        <p:nvGrpSpPr>
          <p:cNvPr id="23" name="ticket-band"/>
          <p:cNvGrpSpPr/>
          <p:nvPr/>
        </p:nvGrpSpPr>
        <p:grpSpPr>
          <a:xfrm>
            <a:off x="685800" y="5257800"/>
            <a:ext cx="10820400" cy="609600"/>
            <a:chOff x="685800" y="5257800"/>
            <a:chExt cx="10820400" cy="609600"/>
          </a:xfrm>
        </p:grpSpPr>
        <p:sp>
          <p:nvSpPr>
            <p:cNvPr id="20" name="Rectangle 20"/>
            <p:cNvSpPr/>
            <p:nvPr/>
          </p:nvSpPr>
          <p:spPr>
            <a:xfrm>
              <a:off x="685800" y="5257800"/>
              <a:ext cx="1082040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85647" y="5372100"/>
              <a:ext cx="3040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卖点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361" y="5556250"/>
              <a:ext cx="5441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企业采购 Agent 基础设施时，「可审计」是</a:t>
              </a: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入场券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，不是加分项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24" name="Line 2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10228" y="361950"/>
              <a:ext cx="1300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09 / 15 · 竞争格局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6427562" cy="747903"/>
            <a:chOff x="671322" y="1104900"/>
            <a:chExt cx="6427562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9270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竞争 · 格局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6427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四象限中，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只有 laos 站在执行路径上</a:t>
              </a:r>
            </a:p>
          </p:txBody>
        </p:sp>
      </p:grpSp>
      <p:grpSp>
        <p:nvGrpSpPr>
          <p:cNvPr id="29" name="quadrant-field"/>
          <p:cNvGrpSpPr/>
          <p:nvPr/>
        </p:nvGrpSpPr>
        <p:grpSpPr>
          <a:xfrm>
            <a:off x="680847" y="1828800"/>
            <a:ext cx="5915406" cy="3658743"/>
            <a:chOff x="680847" y="1828800"/>
            <a:chExt cx="5915406" cy="3658743"/>
          </a:xfrm>
        </p:grpSpPr>
        <p:sp>
          <p:nvSpPr>
            <p:cNvPr id="9" name="Rectangle 9"/>
            <p:cNvSpPr/>
            <p:nvPr/>
          </p:nvSpPr>
          <p:spPr>
            <a:xfrm>
              <a:off x="685800" y="2000250"/>
              <a:ext cx="5905500" cy="3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Line 10"/>
            <p:cNvSpPr/>
            <p:nvPr/>
          </p:nvSpPr>
          <p:spPr>
            <a:xfrm>
              <a:off x="3638550" y="20002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685800" y="36195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501669" y="18288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强制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01669" y="52959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847" y="5295900"/>
              <a:ext cx="13330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L0 约定层（框架/壳）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91425" y="5295900"/>
              <a:ext cx="704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L3 libOS 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838325" y="4505325"/>
              <a:ext cx="133350" cy="133350"/>
            </a:xfrm>
            <a:prstGeom prst="ellipse">
              <a:avLst/>
            </a:prstGeom>
            <a:solidFill>
              <a:srgbClr val="8A8A9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640053" y="47625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框架派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09667" y="4972050"/>
              <a:ext cx="13906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LangGraph 等 · 无强制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838325" y="3076575"/>
              <a:ext cx="133350" cy="133350"/>
            </a:xfrm>
            <a:prstGeom prst="ellipse">
              <a:avLst/>
            </a:prstGeom>
            <a:solidFill>
              <a:srgbClr val="8A8A9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1640053" y="26670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1740" y="2876550"/>
              <a:ext cx="13665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各家 SDK · 无 OS 语义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14950" y="4410075"/>
              <a:ext cx="133350" cy="133350"/>
            </a:xfrm>
            <a:prstGeom prst="ellipse">
              <a:avLst/>
            </a:prstGeom>
            <a:solidFill>
              <a:srgbClr val="8A8A9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5116678" y="39814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5212" y="4191000"/>
              <a:ext cx="16128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策略引擎 · 不在执行路径上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286375" y="24288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5178686" y="2051050"/>
              <a:ext cx="4058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83313" y="2743200"/>
              <a:ext cx="9966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用户态强制层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5317" y="2914650"/>
              <a:ext cx="16326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+ 端侧驱动 + 审计账本</a:t>
              </a:r>
            </a:p>
          </p:txBody>
        </p:sp>
      </p:grpSp>
      <p:grpSp>
        <p:nvGrpSpPr>
          <p:cNvPr id="36" name="camp-summary"/>
          <p:cNvGrpSpPr/>
          <p:nvPr/>
        </p:nvGrpSpPr>
        <p:grpSpPr>
          <a:xfrm>
            <a:off x="7042023" y="2095500"/>
            <a:ext cx="4464177" cy="1983867"/>
            <a:chOff x="7042023" y="2095500"/>
            <a:chExt cx="4464177" cy="1983867"/>
          </a:xfrm>
        </p:grpSpPr>
        <p:sp>
          <p:nvSpPr>
            <p:cNvPr id="30" name="TextBox 30"/>
            <p:cNvSpPr txBox="1"/>
            <p:nvPr/>
          </p:nvSpPr>
          <p:spPr>
            <a:xfrm>
              <a:off x="7043547" y="2095500"/>
              <a:ext cx="7907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四派一句话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048500" y="24003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042023" y="2590800"/>
              <a:ext cx="24970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框架派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　LangGraph 等——</a:t>
              </a:r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无强制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2023" y="2990850"/>
              <a:ext cx="27872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治理派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　策略引擎——</a:t>
              </a:r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不在执行路径上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42023" y="3390900"/>
              <a:ext cx="24650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端侧派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　各家 SDK——</a:t>
              </a:r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 OS 语义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42023" y="3829050"/>
              <a:ext cx="34674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laos</a:t>
              </a:r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唯一：执行路径上的强制＋端侧＋账本</a:t>
              </a:r>
            </a:p>
          </p:txBody>
        </p:sp>
      </p:grpSp>
      <p:grpSp>
        <p:nvGrpSpPr>
          <p:cNvPr id="41" name="rutgers-note"/>
          <p:cNvGrpSpPr/>
          <p:nvPr/>
        </p:nvGrpSpPr>
        <p:grpSpPr>
          <a:xfrm>
            <a:off x="7048500" y="4495800"/>
            <a:ext cx="4457700" cy="742950"/>
            <a:chOff x="7048500" y="4495800"/>
            <a:chExt cx="4457700" cy="742950"/>
          </a:xfrm>
        </p:grpSpPr>
        <p:sp>
          <p:nvSpPr>
            <p:cNvPr id="37" name="Rectangle 37"/>
            <p:cNvSpPr/>
            <p:nvPr/>
          </p:nvSpPr>
          <p:spPr>
            <a:xfrm>
              <a:off x="7048500" y="4495800"/>
              <a:ext cx="44577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Rectangle 38"/>
            <p:cNvSpPr/>
            <p:nvPr/>
          </p:nvSpPr>
          <p:spPr>
            <a:xfrm>
              <a:off x="7048500" y="4495800"/>
              <a:ext cx="38100" cy="742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7309485" y="4622800"/>
              <a:ext cx="2539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学术对照：Rutgers AIOS 是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调度优先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09485" y="488950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laos 互补不互竞（调研结论）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2" name="Line 4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1580" y="361950"/>
              <a:ext cx="1159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10 / 15 · 里程碑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8202022" cy="747903"/>
            <a:chOff x="671322" y="1104900"/>
            <a:chExt cx="8202022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26502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证据 · 里程碑与进展（全部真实）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82020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 天 12 个版本、765 项测试：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进展全部可验证</a:t>
              </a:r>
            </a:p>
          </p:txBody>
        </p:sp>
      </p:grpSp>
      <p:grpSp>
        <p:nvGrpSpPr>
          <p:cNvPr id="24" name="traction-numbers"/>
          <p:cNvGrpSpPr/>
          <p:nvPr/>
        </p:nvGrpSpPr>
        <p:grpSpPr>
          <a:xfrm>
            <a:off x="666750" y="2070100"/>
            <a:ext cx="10019157" cy="1394778"/>
            <a:chOff x="666750" y="2070100"/>
            <a:chExt cx="10019157" cy="1394778"/>
          </a:xfrm>
        </p:grpSpPr>
        <p:sp>
          <p:nvSpPr>
            <p:cNvPr id="9" name="TextBox 9"/>
            <p:cNvSpPr txBox="1"/>
            <p:nvPr/>
          </p:nvSpPr>
          <p:spPr>
            <a:xfrm>
              <a:off x="666750" y="2070100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561" y="2755900"/>
              <a:ext cx="1075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MINOR 版本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3035300"/>
              <a:ext cx="211658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v0.1.0 → v0.12.0 · 30 天</a:t>
              </a:r>
              <a:b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每版本 tag+Release+CHANGELOG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200400" y="21336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3486150" y="2070100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765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97961" y="27559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测试全绿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99485" y="3035300"/>
              <a:ext cx="22303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主库 415 / 隔离区 279 / 复现区 71</a:t>
              </a:r>
              <a:b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TDD 先红后绿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19800" y="21336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6305550" y="2070100"/>
              <a:ext cx="185728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19,792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7361" y="275590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论文全量语料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8885" y="3035300"/>
              <a:ext cx="21308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双会议全量遍历</a:t>
              </a:r>
              <a:b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 3,724 星标库分级 · 47 份调研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839200" y="21336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124950" y="2070100"/>
              <a:ext cx="34129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6761" y="27559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复现实证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8285" y="3035300"/>
              <a:ext cx="154762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响度 / ANC / DOA / MPE</a:t>
              </a:r>
              <a:b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与官方实现逐行对齐</a:t>
              </a:r>
            </a:p>
          </p:txBody>
        </p:sp>
      </p:grpSp>
      <p:grpSp>
        <p:nvGrpSpPr>
          <p:cNvPr id="29" name="honest-line"/>
          <p:cNvGrpSpPr/>
          <p:nvPr/>
        </p:nvGrpSpPr>
        <p:grpSpPr>
          <a:xfrm>
            <a:off x="685800" y="3848100"/>
            <a:ext cx="10820400" cy="609600"/>
            <a:chOff x="685800" y="3848100"/>
            <a:chExt cx="10820400" cy="609600"/>
          </a:xfrm>
        </p:grpSpPr>
        <p:sp>
          <p:nvSpPr>
            <p:cNvPr id="25" name="Rectangle 25"/>
            <p:cNvSpPr/>
            <p:nvPr/>
          </p:nvSpPr>
          <p:spPr>
            <a:xfrm>
              <a:off x="685800" y="3848100"/>
              <a:ext cx="10820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685800" y="3848100"/>
              <a:ext cx="381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985647" y="3962400"/>
              <a:ext cx="628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诚实呈现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4123" y="4171950"/>
              <a:ext cx="57917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开源一个月，社区冷启动期——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尚无外部贡献者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；增长曲线看 issue / PR 转化</a:t>
              </a:r>
            </a:p>
          </p:txBody>
        </p:sp>
      </p:grpSp>
      <p:grpSp>
        <p:nvGrpSpPr>
          <p:cNvPr id="47" name="release-timeline"/>
          <p:cNvGrpSpPr/>
          <p:nvPr/>
        </p:nvGrpSpPr>
        <p:grpSpPr>
          <a:xfrm>
            <a:off x="638175" y="4819650"/>
            <a:ext cx="10915650" cy="1012825"/>
            <a:chOff x="638175" y="4819650"/>
            <a:chExt cx="10915650" cy="1012825"/>
          </a:xfrm>
        </p:grpSpPr>
        <p:sp>
          <p:nvSpPr>
            <p:cNvPr id="30" name="TextBox 30"/>
            <p:cNvSpPr txBox="1"/>
            <p:nvPr/>
          </p:nvSpPr>
          <p:spPr>
            <a:xfrm>
              <a:off x="680847" y="4819650"/>
              <a:ext cx="10645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30 天发布节奏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2" name="Ellipse 32"/>
            <p:cNvSpPr/>
            <p:nvPr/>
          </p:nvSpPr>
          <p:spPr>
            <a:xfrm>
              <a:off x="638175" y="54387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Ellipse 33"/>
            <p:cNvSpPr/>
            <p:nvPr/>
          </p:nvSpPr>
          <p:spPr>
            <a:xfrm>
              <a:off x="1634490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Ellipse 34"/>
            <p:cNvSpPr/>
            <p:nvPr/>
          </p:nvSpPr>
          <p:spPr>
            <a:xfrm>
              <a:off x="2622232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Ellipse 35"/>
            <p:cNvSpPr/>
            <p:nvPr/>
          </p:nvSpPr>
          <p:spPr>
            <a:xfrm>
              <a:off x="3609022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Ellipse 36"/>
            <p:cNvSpPr/>
            <p:nvPr/>
          </p:nvSpPr>
          <p:spPr>
            <a:xfrm>
              <a:off x="4595812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Ellipse 37"/>
            <p:cNvSpPr/>
            <p:nvPr/>
          </p:nvSpPr>
          <p:spPr>
            <a:xfrm>
              <a:off x="5583555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Ellipse 38"/>
            <p:cNvSpPr/>
            <p:nvPr/>
          </p:nvSpPr>
          <p:spPr>
            <a:xfrm>
              <a:off x="6570345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7558088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Ellipse 40"/>
            <p:cNvSpPr/>
            <p:nvPr/>
          </p:nvSpPr>
          <p:spPr>
            <a:xfrm>
              <a:off x="8544878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Ellipse 41"/>
            <p:cNvSpPr/>
            <p:nvPr/>
          </p:nvSpPr>
          <p:spPr>
            <a:xfrm>
              <a:off x="9531668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Ellipse 42"/>
            <p:cNvSpPr/>
            <p:nvPr/>
          </p:nvSpPr>
          <p:spPr>
            <a:xfrm>
              <a:off x="10519410" y="5448300"/>
              <a:ext cx="76200" cy="76200"/>
            </a:xfrm>
            <a:prstGeom prst="ellipse">
              <a:avLst/>
            </a:prstGeom>
            <a:solidFill>
              <a:srgbClr val="E3E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11458575" y="54387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681038" y="5670550"/>
              <a:ext cx="37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v0.1.0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57670" y="5670550"/>
              <a:ext cx="20766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8A93"/>
                  </a:solidFill>
                  <a:latin typeface="Consolas"/>
                  <a:ea typeface="Microsoft YaHei"/>
                  <a:cs typeface="Consolas"/>
                </a:rPr>
                <a:t>每版本有 tag · Release · CHANGELOG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76442" y="5670550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v0.12.0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8" name="Line 48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9" name="TextBox 49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10228" y="361950"/>
              <a:ext cx="1300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11 / 15 · 商业模式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5400294" cy="747903"/>
            <a:chOff x="671322" y="1104900"/>
            <a:chExt cx="5400294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0993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商业 · 三条线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先开源建标准，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卖的是「敢用」</a:t>
              </a:r>
            </a:p>
          </p:txBody>
        </p:sp>
      </p:grpSp>
      <p:grpSp>
        <p:nvGrpSpPr>
          <p:cNvPr id="16" name="line-middleware"/>
          <p:cNvGrpSpPr/>
          <p:nvPr/>
        </p:nvGrpSpPr>
        <p:grpSpPr>
          <a:xfrm>
            <a:off x="685800" y="2000250"/>
            <a:ext cx="3390900" cy="2857500"/>
            <a:chOff x="685800" y="2000250"/>
            <a:chExt cx="3390900" cy="2857500"/>
          </a:xfrm>
        </p:grpSpPr>
        <p:sp>
          <p:nvSpPr>
            <p:cNvPr id="9" name="Rectangle 9"/>
            <p:cNvSpPr/>
            <p:nvPr/>
          </p:nvSpPr>
          <p:spPr>
            <a:xfrm>
              <a:off x="685800" y="2000250"/>
              <a:ext cx="33909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685800" y="2000250"/>
              <a:ext cx="3390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433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499" y="2660650"/>
              <a:ext cx="1661916" cy="5947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企业私有化</a:t>
              </a:r>
              <a:b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治理中间件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2500" y="3352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45261" y="3536950"/>
              <a:ext cx="1328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License + SLA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3898900"/>
              <a:ext cx="18790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闸门链 + FleetLedger 账本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打包进企业 MCP 网关</a:t>
              </a:r>
            </a:p>
          </p:txBody>
        </p:sp>
      </p:grpSp>
      <p:grpSp>
        <p:nvGrpSpPr>
          <p:cNvPr id="24" name="line-saas"/>
          <p:cNvGrpSpPr/>
          <p:nvPr/>
        </p:nvGrpSpPr>
        <p:grpSpPr>
          <a:xfrm>
            <a:off x="4400550" y="2000250"/>
            <a:ext cx="3390900" cy="2857500"/>
            <a:chOff x="4400550" y="2000250"/>
            <a:chExt cx="33909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4400550" y="2000250"/>
              <a:ext cx="33909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4400550" y="2000250"/>
              <a:ext cx="3390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465810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9249" y="2660650"/>
              <a:ext cx="1219962" cy="5947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审计合规报表</a:t>
              </a:r>
              <a:b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SaaS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667250" y="3352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60011" y="3536950"/>
              <a:ext cx="16502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 Agent 数量订阅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1154" y="3898900"/>
              <a:ext cx="12466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FleetLedger 数据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合规证据链导出</a:t>
              </a:r>
            </a:p>
          </p:txBody>
        </p:sp>
      </p:grpSp>
      <p:grpSp>
        <p:nvGrpSpPr>
          <p:cNvPr id="32" name="line-sdk"/>
          <p:cNvGrpSpPr/>
          <p:nvPr/>
        </p:nvGrpSpPr>
        <p:grpSpPr>
          <a:xfrm>
            <a:off x="8115300" y="2000250"/>
            <a:ext cx="3390900" cy="2857500"/>
            <a:chOff x="8115300" y="2000250"/>
            <a:chExt cx="33909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8115300" y="2000250"/>
              <a:ext cx="33909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8115300" y="2000250"/>
              <a:ext cx="3390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72856" y="22796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3999" y="2660650"/>
              <a:ext cx="1229493" cy="5947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端侧语音 SDK</a:t>
              </a:r>
              <a:b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382000" y="3352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374761" y="3536950"/>
              <a:ext cx="1648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OEM / 设备厂按量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904" y="3898900"/>
              <a:ext cx="926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零依赖听觉栈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全双工轮转</a:t>
              </a:r>
            </a:p>
          </p:txBody>
        </p:sp>
      </p:grpSp>
      <p:grpSp>
        <p:nvGrpSpPr>
          <p:cNvPr id="36" name="pricing-philosophy"/>
          <p:cNvGrpSpPr/>
          <p:nvPr/>
        </p:nvGrpSpPr>
        <p:grpSpPr>
          <a:xfrm>
            <a:off x="685800" y="5181600"/>
            <a:ext cx="10820400" cy="609600"/>
            <a:chOff x="685800" y="5181600"/>
            <a:chExt cx="10820400" cy="609600"/>
          </a:xfrm>
        </p:grpSpPr>
        <p:sp>
          <p:nvSpPr>
            <p:cNvPr id="33" name="Rectangle 33"/>
            <p:cNvSpPr/>
            <p:nvPr/>
          </p:nvSpPr>
          <p:spPr>
            <a:xfrm>
              <a:off x="685800" y="5181600"/>
              <a:ext cx="108204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985647" y="5295900"/>
              <a:ext cx="628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定价哲学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4123" y="5505450"/>
              <a:ext cx="41657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先开源内核建标准，卖的是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「敢用」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——强制层与证据链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7" name="Line 3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10228" y="361950"/>
              <a:ext cx="1300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12 / 15 · 市场空间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6551295" cy="747903"/>
            <a:chOff x="671322" y="1104900"/>
            <a:chExt cx="6551295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19609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商业 · 市场空间（示例）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市场测算待完成：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先看结构，再看数字</a:t>
              </a:r>
            </a:p>
          </p:txBody>
        </p:sp>
      </p:grpSp>
      <p:grpSp>
        <p:nvGrpSpPr>
          <p:cNvPr id="11" name="scenario-badge"/>
          <p:cNvGrpSpPr/>
          <p:nvPr/>
        </p:nvGrpSpPr>
        <p:grpSpPr>
          <a:xfrm>
            <a:off x="10363200" y="1104900"/>
            <a:ext cx="1143000" cy="342900"/>
            <a:chOff x="10363200" y="1104900"/>
            <a:chExt cx="1143000" cy="342900"/>
          </a:xfrm>
        </p:grpSpPr>
        <p:sp>
          <p:nvSpPr>
            <p:cNvPr id="9" name="Rectangle 9"/>
            <p:cNvSpPr/>
            <p:nvPr/>
          </p:nvSpPr>
          <p:spPr>
            <a:xfrm>
              <a:off x="10363200" y="1104900"/>
              <a:ext cx="1143000" cy="3429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10627436" y="11938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示例结构</a:t>
              </a:r>
            </a:p>
          </p:txBody>
        </p:sp>
      </p:grpSp>
      <p:grpSp>
        <p:nvGrpSpPr>
          <p:cNvPr id="19" name="market-nesting"/>
          <p:cNvGrpSpPr/>
          <p:nvPr/>
        </p:nvGrpSpPr>
        <p:grpSpPr>
          <a:xfrm>
            <a:off x="1143000" y="2209800"/>
            <a:ext cx="5410200" cy="3276600"/>
            <a:chOff x="1143000" y="2209800"/>
            <a:chExt cx="5410200" cy="3276600"/>
          </a:xfrm>
        </p:grpSpPr>
        <p:sp>
          <p:nvSpPr>
            <p:cNvPr id="12" name="Ellipse 12"/>
            <p:cNvSpPr/>
            <p:nvPr/>
          </p:nvSpPr>
          <p:spPr>
            <a:xfrm>
              <a:off x="1143000" y="2209800"/>
              <a:ext cx="5410200" cy="32766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3" name="Ellipse 13"/>
            <p:cNvSpPr/>
            <p:nvPr/>
          </p:nvSpPr>
          <p:spPr>
            <a:xfrm>
              <a:off x="1981200" y="2971800"/>
              <a:ext cx="3733800" cy="21336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8A8A93"/>
              </a:solidFill>
            </a:ln>
          </p:spPr>
          <p:txBody>
            <a:bodyPr/>
            <a:p/>
          </p:txBody>
        </p:sp>
        <p:sp>
          <p:nvSpPr>
            <p:cNvPr id="14" name="Ellipse 14"/>
            <p:cNvSpPr/>
            <p:nvPr/>
          </p:nvSpPr>
          <p:spPr>
            <a:xfrm>
              <a:off x="2781300" y="3676650"/>
              <a:ext cx="2133600" cy="11811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 w="23812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2643022" y="2393950"/>
              <a:ext cx="2410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TAM · Agent 基础设施软件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44840" y="3213100"/>
              <a:ext cx="16065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SAM · 治理与审计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98223" y="4019550"/>
              <a:ext cx="49975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6757" y="4337050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年可触达</a:t>
              </a:r>
            </a:p>
          </p:txBody>
        </p:sp>
      </p:grpSp>
      <p:grpSp>
        <p:nvGrpSpPr>
          <p:cNvPr id="29" name="market-definitions"/>
          <p:cNvGrpSpPr/>
          <p:nvPr/>
        </p:nvGrpSpPr>
        <p:grpSpPr>
          <a:xfrm>
            <a:off x="7041261" y="2476500"/>
            <a:ext cx="4464939" cy="2347278"/>
            <a:chOff x="7041261" y="2476500"/>
            <a:chExt cx="4464939" cy="2347278"/>
          </a:xfrm>
        </p:grpSpPr>
        <p:sp>
          <p:nvSpPr>
            <p:cNvPr id="20" name="Line 20"/>
            <p:cNvSpPr/>
            <p:nvPr/>
          </p:nvSpPr>
          <p:spPr>
            <a:xfrm>
              <a:off x="7048500" y="24765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7041261" y="2641600"/>
              <a:ext cx="2364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TAM　Agent 基础设施软件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42785" y="29273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示例口径，需替换为可辩护测算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048500" y="33147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7041261" y="3479800"/>
              <a:ext cx="26161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SAM　企业 Agent 治理与审计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2785" y="3765550"/>
              <a:ext cx="173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网关 / 策略执行细分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048500" y="41529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7041261" y="4318000"/>
              <a:ext cx="15756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SOM　3 年可触达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2785" y="4603750"/>
              <a:ext cx="2035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私有化 + 报表 + SDK 三线合计</a:t>
              </a:r>
            </a:p>
          </p:txBody>
        </p:sp>
      </p:grpSp>
      <p:grpSp>
        <p:nvGrpSpPr>
          <p:cNvPr id="33" name="market-note"/>
          <p:cNvGrpSpPr/>
          <p:nvPr/>
        </p:nvGrpSpPr>
        <p:grpSpPr>
          <a:xfrm>
            <a:off x="7048500" y="5029200"/>
            <a:ext cx="4457700" cy="876300"/>
            <a:chOff x="7048500" y="5029200"/>
            <a:chExt cx="4457700" cy="876300"/>
          </a:xfrm>
        </p:grpSpPr>
        <p:sp>
          <p:nvSpPr>
            <p:cNvPr id="30" name="Rectangle 30"/>
            <p:cNvSpPr/>
            <p:nvPr/>
          </p:nvSpPr>
          <p:spPr>
            <a:xfrm>
              <a:off x="7048500" y="5029200"/>
              <a:ext cx="4457700" cy="8763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7309485" y="51943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注：本页为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结构示意（情景数据，示例）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9485" y="54610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正式投资人版将附测算模型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4" name="Line 3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1580" y="361950"/>
              <a:ext cx="1159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13 / 15 · 路线图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7604787" cy="747903"/>
            <a:chOff x="671322" y="1104900"/>
            <a:chExt cx="7604787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20899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商业 · 路线图（12 个月）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760478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个月：从内核稳定，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到可复制的 A 轮案例</a:t>
              </a:r>
            </a:p>
          </p:txBody>
        </p:sp>
      </p:grpSp>
      <p:grpSp>
        <p:nvGrpSpPr>
          <p:cNvPr id="17" name="quarter-chain"/>
          <p:cNvGrpSpPr/>
          <p:nvPr/>
        </p:nvGrpSpPr>
        <p:grpSpPr>
          <a:xfrm>
            <a:off x="685800" y="2000250"/>
            <a:ext cx="10553700" cy="533400"/>
            <a:chOff x="685800" y="2000250"/>
            <a:chExt cx="10553700" cy="533400"/>
          </a:xfrm>
        </p:grpSpPr>
        <p:sp>
          <p:nvSpPr>
            <p:cNvPr id="9" name="Freeform 9"/>
            <p:cNvSpPr/>
            <p:nvPr/>
          </p:nvSpPr>
          <p:spPr>
            <a:xfrm>
              <a:off x="685800" y="2000250"/>
              <a:ext cx="2781300" cy="533400"/>
            </a:xfrm>
            <a:prstGeom prst="chevron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Freeform 10"/>
            <p:cNvSpPr/>
            <p:nvPr/>
          </p:nvSpPr>
          <p:spPr>
            <a:xfrm>
              <a:off x="3276600" y="2000250"/>
              <a:ext cx="2781300" cy="533400"/>
            </a:xfrm>
            <a:prstGeom prst="chevron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Freeform 11"/>
            <p:cNvSpPr/>
            <p:nvPr/>
          </p:nvSpPr>
          <p:spPr>
            <a:xfrm>
              <a:off x="5867400" y="2000250"/>
              <a:ext cx="2781300" cy="533400"/>
            </a:xfrm>
            <a:prstGeom prst="chevron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Freeform 12"/>
            <p:cNvSpPr/>
            <p:nvPr/>
          </p:nvSpPr>
          <p:spPr>
            <a:xfrm>
              <a:off x="8458200" y="2000250"/>
              <a:ext cx="2781300" cy="5334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850462" y="2181225"/>
              <a:ext cx="2614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41262" y="2181225"/>
              <a:ext cx="2614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32062" y="2181225"/>
              <a:ext cx="2614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80012" y="2181225"/>
              <a:ext cx="2614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</p:grpSp>
      <p:grpSp>
        <p:nvGrpSpPr>
          <p:cNvPr id="20" name="stage-q1"/>
          <p:cNvGrpSpPr/>
          <p:nvPr/>
        </p:nvGrpSpPr>
        <p:grpSpPr>
          <a:xfrm>
            <a:off x="678561" y="2889250"/>
            <a:ext cx="1285875" cy="1079246"/>
            <a:chOff x="678561" y="2889250"/>
            <a:chExt cx="1285875" cy="1079246"/>
          </a:xfrm>
        </p:grpSpPr>
        <p:sp>
          <p:nvSpPr>
            <p:cNvPr id="18" name="TextBox 18"/>
            <p:cNvSpPr txBox="1"/>
            <p:nvPr/>
          </p:nvSpPr>
          <p:spPr>
            <a:xfrm>
              <a:off x="678561" y="2889250"/>
              <a:ext cx="1280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 内核稳定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704" y="3238500"/>
              <a:ext cx="128473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 Agent 并发调度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首个企业试点：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治理中间件 POC</a:t>
              </a:r>
            </a:p>
          </p:txBody>
        </p:sp>
      </p:grpSp>
      <p:grpSp>
        <p:nvGrpSpPr>
          <p:cNvPr id="23" name="stage-q2"/>
          <p:cNvGrpSpPr/>
          <p:nvPr/>
        </p:nvGrpSpPr>
        <p:grpSpPr>
          <a:xfrm>
            <a:off x="3421761" y="2889250"/>
            <a:ext cx="1908264" cy="1079246"/>
            <a:chOff x="3421761" y="2889250"/>
            <a:chExt cx="1908264" cy="1079246"/>
          </a:xfrm>
        </p:grpSpPr>
        <p:sp>
          <p:nvSpPr>
            <p:cNvPr id="21" name="TextBox 21"/>
            <p:cNvSpPr txBox="1"/>
            <p:nvPr/>
          </p:nvSpPr>
          <p:spPr>
            <a:xfrm>
              <a:off x="3421761" y="2889250"/>
              <a:ext cx="19082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SaaS 内测 + 驱动市场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2904" y="3238500"/>
              <a:ext cx="135331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审计报表 SaaS 内测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驱动市场：第三方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治理接入协议</a:t>
              </a:r>
            </a:p>
          </p:txBody>
        </p:sp>
      </p:grpSp>
      <p:grpSp>
        <p:nvGrpSpPr>
          <p:cNvPr id="26" name="stage-q3"/>
          <p:cNvGrpSpPr/>
          <p:nvPr/>
        </p:nvGrpSpPr>
        <p:grpSpPr>
          <a:xfrm>
            <a:off x="6012561" y="2889250"/>
            <a:ext cx="1423035" cy="1079246"/>
            <a:chOff x="6012561" y="2889250"/>
            <a:chExt cx="1423035" cy="1079246"/>
          </a:xfrm>
        </p:grpSpPr>
        <p:sp>
          <p:nvSpPr>
            <p:cNvPr id="24" name="TextBox 24"/>
            <p:cNvSpPr txBox="1"/>
            <p:nvPr/>
          </p:nvSpPr>
          <p:spPr>
            <a:xfrm>
              <a:off x="6012561" y="2889250"/>
              <a:ext cx="12562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 SDK 落地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3704" y="3238500"/>
              <a:ext cx="14218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1-2 款设备落地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Bin2Ambi / 空间音频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能力进产品</a:t>
              </a:r>
            </a:p>
          </p:txBody>
        </p:sp>
      </p:grpSp>
      <p:grpSp>
        <p:nvGrpSpPr>
          <p:cNvPr id="29" name="stage-q4"/>
          <p:cNvGrpSpPr/>
          <p:nvPr/>
        </p:nvGrpSpPr>
        <p:grpSpPr>
          <a:xfrm>
            <a:off x="8603361" y="2889250"/>
            <a:ext cx="1721358" cy="831596"/>
            <a:chOff x="8603361" y="2889250"/>
            <a:chExt cx="1721358" cy="831596"/>
          </a:xfrm>
        </p:grpSpPr>
        <p:sp>
          <p:nvSpPr>
            <p:cNvPr id="27" name="TextBox 27"/>
            <p:cNvSpPr txBox="1"/>
            <p:nvPr/>
          </p:nvSpPr>
          <p:spPr>
            <a:xfrm>
              <a:off x="8603361" y="2889250"/>
              <a:ext cx="1150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轮叙事节点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04504" y="3238500"/>
              <a:ext cx="1720215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可复制的</a:t>
              </a:r>
              <a:b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「治理 + 听觉」打包案例</a:t>
              </a:r>
            </a:p>
          </p:txBody>
        </p:sp>
      </p:grpSp>
      <p:grpSp>
        <p:nvGrpSpPr>
          <p:cNvPr id="33" name="team-ladder"/>
          <p:cNvGrpSpPr/>
          <p:nvPr/>
        </p:nvGrpSpPr>
        <p:grpSpPr>
          <a:xfrm>
            <a:off x="685800" y="5257800"/>
            <a:ext cx="10820400" cy="609600"/>
            <a:chOff x="685800" y="5257800"/>
            <a:chExt cx="10820400" cy="609600"/>
          </a:xfrm>
        </p:grpSpPr>
        <p:sp>
          <p:nvSpPr>
            <p:cNvPr id="30" name="Rectangle 30"/>
            <p:cNvSpPr/>
            <p:nvPr/>
          </p:nvSpPr>
          <p:spPr>
            <a:xfrm>
              <a:off x="685800" y="5257800"/>
              <a:ext cx="108204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5647" y="5372100"/>
              <a:ext cx="628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团队扩张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4123" y="5581650"/>
              <a:ext cx="52760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单人 + AI 协作流水线　→　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+2（内核 / 端侧）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　→　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+2（合规 / BD）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4" name="Line 3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4" cy="276225"/>
            <a:chOff x="681038" y="361950"/>
            <a:chExt cx="10829924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210228" y="361950"/>
              <a:ext cx="1300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14 / 15 · 融资方案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8545404" cy="747903"/>
            <a:chOff x="671322" y="1104900"/>
            <a:chExt cx="8545404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23055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商业 · 融资方案（示例结构）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85454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天使轮 ¥500 万、出让 10%：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七成投进真机与生态</a:t>
              </a:r>
            </a:p>
          </p:txBody>
        </p:sp>
      </p:grpSp>
      <p:grpSp>
        <p:nvGrpSpPr>
          <p:cNvPr id="16" name="round-amount"/>
          <p:cNvGrpSpPr/>
          <p:nvPr/>
        </p:nvGrpSpPr>
        <p:grpSpPr>
          <a:xfrm>
            <a:off x="666750" y="2133600"/>
            <a:ext cx="3257550" cy="2517267"/>
            <a:chOff x="666750" y="2133600"/>
            <a:chExt cx="3257550" cy="2517267"/>
          </a:xfrm>
        </p:grpSpPr>
        <p:sp>
          <p:nvSpPr>
            <p:cNvPr id="9" name="TextBox 9"/>
            <p:cNvSpPr txBox="1"/>
            <p:nvPr/>
          </p:nvSpPr>
          <p:spPr>
            <a:xfrm>
              <a:off x="680847" y="2133600"/>
              <a:ext cx="15165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轮次 · 金额（示例）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6750" y="2374900"/>
              <a:ext cx="194129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¥500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561" y="3060700"/>
              <a:ext cx="16187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出让 </a:t>
              </a: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10%</a:t>
              </a:r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· 天使轮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085" y="33464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示例数字，可调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37338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680847" y="3924300"/>
              <a:ext cx="7907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里程碑对赌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323" y="4152900"/>
              <a:ext cx="1199642" cy="497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12 个月内 </a:t>
              </a:r>
              <a:r>
                <a:rPr lang="zh-CN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1.0</a:t>
              </a:r>
              <a:br>
                <a:rPr lang="zh-CN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＋ 首个付费试点</a:t>
              </a:r>
            </a:p>
          </p:txBody>
        </p:sp>
      </p:grpSp>
      <p:grpSp>
        <p:nvGrpSpPr>
          <p:cNvPr id="22" name="use-of-funds"/>
          <p:cNvGrpSpPr/>
          <p:nvPr/>
        </p:nvGrpSpPr>
        <p:grpSpPr>
          <a:xfrm>
            <a:off x="4762500" y="2857500"/>
            <a:ext cx="2286000" cy="2286000"/>
            <a:chOff x="4762500" y="2857500"/>
            <a:chExt cx="2286000" cy="2286000"/>
          </a:xfrm>
        </p:grpSpPr>
        <p:grpSp>
          <p:nvGrpSpPr>
            <p:cNvPr id="21" name="use-of-funds-chartArea"/>
            <p:cNvGrpSpPr/>
            <p:nvPr/>
          </p:nvGrpSpPr>
          <p:grpSpPr>
            <a:xfrm>
              <a:off x="4762500" y="2857500"/>
              <a:ext cx="2286000" cy="2286000"/>
              <a:chOff x="4762500" y="2857500"/>
              <a:chExt cx="2286000" cy="2286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762500" y="2857500"/>
                <a:ext cx="2286000" cy="2286000"/>
              </a:xfrm>
              <a:prstGeom prst="blockArc">
                <a:avLst>
                  <a:gd name="adj1" fmla="val 16200000"/>
                  <a:gd name="adj2" fmla="val 3240000"/>
                  <a:gd name="adj3" fmla="val 225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4762500" y="2857500"/>
                <a:ext cx="2286000" cy="2286000"/>
              </a:xfrm>
              <a:prstGeom prst="blockArc">
                <a:avLst>
                  <a:gd name="adj1" fmla="val 3240000"/>
                  <a:gd name="adj2" fmla="val 9720000"/>
                  <a:gd name="adj3" fmla="val 225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762500" y="2857500"/>
                <a:ext cx="2286000" cy="2286000"/>
              </a:xfrm>
              <a:prstGeom prst="blockArc">
                <a:avLst>
                  <a:gd name="adj1" fmla="val 9720000"/>
                  <a:gd name="adj2" fmla="val 14040000"/>
                  <a:gd name="adj3" fmla="val 225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4762500" y="2857500"/>
                <a:ext cx="2286000" cy="2286000"/>
              </a:xfrm>
              <a:prstGeom prst="blockArc">
                <a:avLst>
                  <a:gd name="adj1" fmla="val 14040000"/>
                  <a:gd name="adj2" fmla="val 16200000"/>
                  <a:gd name="adj3" fmla="val 22500"/>
                </a:avLst>
              </a:prstGeom>
              <a:solidFill>
                <a:srgbClr val="8A8A93"/>
              </a:solidFill>
              <a:ln>
                <a:noFill/>
              </a:ln>
            </p:spPr>
            <p:txBody>
              <a:bodyPr/>
              <a:p/>
            </p:txBody>
          </p:sp>
        </p:grpSp>
      </p:grpSp>
      <p:grpSp>
        <p:nvGrpSpPr>
          <p:cNvPr id="41" name="funds-legend"/>
          <p:cNvGrpSpPr/>
          <p:nvPr/>
        </p:nvGrpSpPr>
        <p:grpSpPr>
          <a:xfrm>
            <a:off x="7615047" y="2133600"/>
            <a:ext cx="3891153" cy="2600325"/>
            <a:chOff x="7615047" y="2133600"/>
            <a:chExt cx="3891153" cy="2600325"/>
          </a:xfrm>
        </p:grpSpPr>
        <p:sp>
          <p:nvSpPr>
            <p:cNvPr id="23" name="TextBox 23"/>
            <p:cNvSpPr txBox="1"/>
            <p:nvPr/>
          </p:nvSpPr>
          <p:spPr>
            <a:xfrm>
              <a:off x="7615047" y="2133600"/>
              <a:ext cx="12773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用途构成（示例）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20000" y="243840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25" name="Rectangle 25"/>
            <p:cNvSpPr/>
            <p:nvPr/>
          </p:nvSpPr>
          <p:spPr>
            <a:xfrm>
              <a:off x="7620000" y="2647950"/>
              <a:ext cx="13335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7917561" y="2603500"/>
              <a:ext cx="38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42223" y="26289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端侧真机验证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0" y="300990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7620000" y="3219450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7917561" y="3175000"/>
              <a:ext cx="38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42223" y="3200400"/>
              <a:ext cx="228229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生态适配（MCP / 驱动市场）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0" y="358140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3" name="Rectangle 33"/>
            <p:cNvSpPr/>
            <p:nvPr/>
          </p:nvSpPr>
          <p:spPr>
            <a:xfrm>
              <a:off x="7620000" y="3790950"/>
              <a:ext cx="13335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7917561" y="3746500"/>
              <a:ext cx="38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42223" y="37719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合规认证与试点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0" y="415290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7" name="Rectangle 37"/>
            <p:cNvSpPr/>
            <p:nvPr/>
          </p:nvSpPr>
          <p:spPr>
            <a:xfrm>
              <a:off x="7620000" y="4362450"/>
              <a:ext cx="133350" cy="133350"/>
            </a:xfrm>
            <a:prstGeom prst="rect">
              <a:avLst/>
            </a:prstGeom>
            <a:solidFill>
              <a:srgbClr val="8A8A93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7917561" y="4318000"/>
              <a:ext cx="38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42223" y="43434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运营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0" y="472440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45" name="funds-note"/>
          <p:cNvGrpSpPr/>
          <p:nvPr/>
        </p:nvGrpSpPr>
        <p:grpSpPr>
          <a:xfrm>
            <a:off x="7620000" y="5029200"/>
            <a:ext cx="3886200" cy="876300"/>
            <a:chOff x="7620000" y="5029200"/>
            <a:chExt cx="3886200" cy="876300"/>
          </a:xfrm>
        </p:grpSpPr>
        <p:sp>
          <p:nvSpPr>
            <p:cNvPr id="42" name="Rectangle 42"/>
            <p:cNvSpPr/>
            <p:nvPr/>
          </p:nvSpPr>
          <p:spPr>
            <a:xfrm>
              <a:off x="7620000" y="5029200"/>
              <a:ext cx="3886200" cy="8763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7880985" y="51943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注：金额与比例均为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示例（情景数据）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461000"/>
              <a:ext cx="133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按正式 BP 测算更新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46" name="Line 4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1038" y="361950"/>
            <a:ext cx="10829925" cy="276225"/>
            <a:chOff x="681038" y="361950"/>
            <a:chExt cx="10829925" cy="276225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361950"/>
              <a:ext cx="1948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068878" y="361950"/>
              <a:ext cx="14420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spc="15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15 / 15 · 团队与风险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62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</p:grpSp>
      <p:grpSp>
        <p:nvGrpSpPr>
          <p:cNvPr id="8" name="page-title"/>
          <p:cNvGrpSpPr/>
          <p:nvPr/>
        </p:nvGrpSpPr>
        <p:grpSpPr>
          <a:xfrm>
            <a:off x="671322" y="1104900"/>
            <a:ext cx="10133478" cy="747903"/>
            <a:chOff x="671322" y="1104900"/>
            <a:chExt cx="10133478" cy="747903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1104900"/>
              <a:ext cx="8310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团队与风险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1295400"/>
              <a:ext cx="101334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单人 + AI 流水线已交付 12 个版本；</a:t>
              </a:r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首要融资用途就是团队</a:t>
              </a:r>
            </a:p>
          </p:txBody>
        </p:sp>
      </p:grpSp>
      <p:grpSp>
        <p:nvGrpSpPr>
          <p:cNvPr id="12" name="team-fact"/>
          <p:cNvGrpSpPr/>
          <p:nvPr/>
        </p:nvGrpSpPr>
        <p:grpSpPr>
          <a:xfrm>
            <a:off x="679323" y="2095500"/>
            <a:ext cx="10826877" cy="726567"/>
            <a:chOff x="679323" y="2095500"/>
            <a:chExt cx="10826877" cy="726567"/>
          </a:xfrm>
        </p:grpSpPr>
        <p:sp>
          <p:nvSpPr>
            <p:cNvPr id="9" name="TextBox 9"/>
            <p:cNvSpPr txBox="1"/>
            <p:nvPr/>
          </p:nvSpPr>
          <p:spPr>
            <a:xfrm>
              <a:off x="680847" y="2095500"/>
              <a:ext cx="12773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225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团队（真实呈现）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40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679323" y="2571750"/>
              <a:ext cx="89275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独立开发者——30 天 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版本 / 765 测试 / 47 份调研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的 AI 协作流水线，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本身就是产品方法论证明</a:t>
              </a:r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；招人计划见路线图</a:t>
              </a:r>
            </a:p>
          </p:txBody>
        </p:sp>
      </p:grpSp>
      <p:grpSp>
        <p:nvGrpSpPr>
          <p:cNvPr id="17" name="risk-standard"/>
          <p:cNvGrpSpPr/>
          <p:nvPr/>
        </p:nvGrpSpPr>
        <p:grpSpPr>
          <a:xfrm>
            <a:off x="679323" y="3276600"/>
            <a:ext cx="7891831" cy="478917"/>
            <a:chOff x="679323" y="3276600"/>
            <a:chExt cx="7891831" cy="478917"/>
          </a:xfrm>
        </p:grpSpPr>
        <p:sp>
          <p:nvSpPr>
            <p:cNvPr id="13" name="TextBox 13"/>
            <p:cNvSpPr txBox="1"/>
            <p:nvPr/>
          </p:nvSpPr>
          <p:spPr>
            <a:xfrm>
              <a:off x="680847" y="3276600"/>
              <a:ext cx="13745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风险 01 · 标准竞争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23" y="3505200"/>
              <a:ext cx="17829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生态位被大厂占据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0" y="3600450"/>
              <a:ext cx="685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6318123" y="34480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深耕强制层与账本，标准中立</a:t>
              </a:r>
            </a:p>
          </p:txBody>
        </p:sp>
      </p:grpSp>
      <p:grpSp>
        <p:nvGrpSpPr>
          <p:cNvPr id="22" name="risk-solo"/>
          <p:cNvGrpSpPr/>
          <p:nvPr/>
        </p:nvGrpSpPr>
        <p:grpSpPr>
          <a:xfrm>
            <a:off x="679323" y="4114800"/>
            <a:ext cx="9674943" cy="478917"/>
            <a:chOff x="679323" y="4114800"/>
            <a:chExt cx="9674943" cy="478917"/>
          </a:xfrm>
        </p:grpSpPr>
        <p:sp>
          <p:nvSpPr>
            <p:cNvPr id="18" name="TextBox 18"/>
            <p:cNvSpPr txBox="1"/>
            <p:nvPr/>
          </p:nvSpPr>
          <p:spPr>
            <a:xfrm>
              <a:off x="680847" y="4114800"/>
              <a:ext cx="13745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风险 02 · 单人风险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323" y="43434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关键人依赖集中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334000" y="4438650"/>
              <a:ext cx="685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318123" y="4286250"/>
              <a:ext cx="40361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首要融资用途即团队（+2 内核/端侧，+2 合规/BD）</a:t>
              </a:r>
            </a:p>
          </p:txBody>
        </p:sp>
      </p:grpSp>
      <p:grpSp>
        <p:nvGrpSpPr>
          <p:cNvPr id="27" name="risk-sales"/>
          <p:cNvGrpSpPr/>
          <p:nvPr/>
        </p:nvGrpSpPr>
        <p:grpSpPr>
          <a:xfrm>
            <a:off x="679323" y="4953000"/>
            <a:ext cx="7891831" cy="478917"/>
            <a:chOff x="679323" y="4953000"/>
            <a:chExt cx="7891831" cy="478917"/>
          </a:xfrm>
        </p:grpSpPr>
        <p:sp>
          <p:nvSpPr>
            <p:cNvPr id="23" name="TextBox 23"/>
            <p:cNvSpPr txBox="1"/>
            <p:nvPr/>
          </p:nvSpPr>
          <p:spPr>
            <a:xfrm>
              <a:off x="680847" y="4953000"/>
              <a:ext cx="15266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风险 03 · 长销售周期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323" y="51816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企业采购节奏慢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334000" y="5276850"/>
              <a:ext cx="685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318123" y="51244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先开发者后企业（开源漏斗）</a:t>
              </a:r>
            </a:p>
          </p:txBody>
        </p:sp>
      </p:grpSp>
      <p:grpSp>
        <p:nvGrpSpPr>
          <p:cNvPr id="30" name="closing-takeaway"/>
          <p:cNvGrpSpPr/>
          <p:nvPr/>
        </p:nvGrpSpPr>
        <p:grpSpPr>
          <a:xfrm>
            <a:off x="685800" y="5676900"/>
            <a:ext cx="10820400" cy="609600"/>
            <a:chOff x="685800" y="5676900"/>
            <a:chExt cx="10820400" cy="609600"/>
          </a:xfrm>
        </p:grpSpPr>
        <p:sp>
          <p:nvSpPr>
            <p:cNvPr id="28" name="Rectangle 28"/>
            <p:cNvSpPr/>
            <p:nvPr/>
          </p:nvSpPr>
          <p:spPr>
            <a:xfrm>
              <a:off x="685800" y="5676900"/>
              <a:ext cx="108204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1456" y="5842000"/>
              <a:ext cx="72863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模型负责想，laos 负责说「不」　·　</a:t>
              </a:r>
              <a:r>
                <a:rPr lang="en-US" sz="1800" b="1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2"/>
                </a:rPr>
                <a:t>github.com/Yfredy/LAOS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81038" y="6362700"/>
            <a:ext cx="10829925" cy="288925"/>
            <a:chOff x="681038" y="6362700"/>
            <a:chExt cx="10829925" cy="288925"/>
          </a:xfrm>
        </p:grpSpPr>
        <p:sp>
          <p:nvSpPr>
            <p:cNvPr id="31" name="Line 3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3E3E8"/>
              </a:solidFill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681038" y="6489700"/>
              <a:ext cx="1940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github.com/Yfredy/LAOS · v0.12.0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07942" y="64897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8A93"/>
                  </a:solidFill>
                  <a:latin typeface="+mn-lt"/>
                  <a:ea typeface="+mn-ea"/>
                  <a:cs typeface="+mn-cs"/>
                </a:rPr>
                <a:t>创新融资 · 2026-10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os-funding-master">
  <a:themeElements>
    <a:clrScheme name="laos-funding-master">
      <a:dk1>
        <a:srgbClr val="55555E"/>
      </a:dk1>
      <a:lt1>
        <a:srgbClr val="FFFFFF"/>
      </a:lt1>
      <a:dk2>
        <a:srgbClr val="1F497D"/>
      </a:dk2>
      <a:lt2>
        <a:srgbClr val="F7F8FA"/>
      </a:lt2>
      <a:accent1>
        <a:srgbClr val="17171A"/>
      </a:accent1>
      <a:accent2>
        <a:srgbClr val="1F3BD8"/>
      </a:accent2>
      <a:accent3>
        <a:srgbClr val="C89B3C"/>
      </a:accent3>
      <a:accent4>
        <a:srgbClr val="17171A"/>
      </a:accent4>
      <a:accent5>
        <a:srgbClr val="F7F8FA"/>
      </a:accent5>
      <a:accent6>
        <a:srgbClr val="EFEFF2"/>
      </a:accent6>
      <a:hlink>
        <a:srgbClr val="1F3BD8"/>
      </a:hlink>
      <a:folHlink>
        <a:srgbClr val="C89B3C"/>
      </a:folHlink>
    </a:clrScheme>
    <a:fontScheme name="laos-funding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funding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os-funding-master">
  <a:themeElements>
    <a:clrScheme name="laos-funding-master">
      <a:dk1>
        <a:srgbClr val="55555E"/>
      </a:dk1>
      <a:lt1>
        <a:srgbClr val="FFFFFF"/>
      </a:lt1>
      <a:dk2>
        <a:srgbClr val="1F497D"/>
      </a:dk2>
      <a:lt2>
        <a:srgbClr val="F7F8FA"/>
      </a:lt2>
      <a:accent1>
        <a:srgbClr val="17171A"/>
      </a:accent1>
      <a:accent2>
        <a:srgbClr val="1F3BD8"/>
      </a:accent2>
      <a:accent3>
        <a:srgbClr val="C89B3C"/>
      </a:accent3>
      <a:accent4>
        <a:srgbClr val="17171A"/>
      </a:accent4>
      <a:accent5>
        <a:srgbClr val="F7F8FA"/>
      </a:accent5>
      <a:accent6>
        <a:srgbClr val="EFEFF2"/>
      </a:accent6>
      <a:hlink>
        <a:srgbClr val="1F3BD8"/>
      </a:hlink>
      <a:folHlink>
        <a:srgbClr val="C89B3C"/>
      </a:folHlink>
    </a:clrScheme>
    <a:fontScheme name="laos-funding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funding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2026-10-05T07:11:21Z</dcterms:created>
  <dcterms:modified xsi:type="dcterms:W3CDTF">2026-10-05T07:11:21Z</dcterms:modified>
  <cp:category/>
  <cp:contentStatus/>
</cp:coreProperties>
</file>