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各位好，今天讲的不是一个更聪明的模型，而是给 AI Agent 补上它缺的那层操作系统。laos 是一个用户态的治理内核，一句话说清：模型负责想，laos 负责说不。这不是概念产品，右边这个环就是它的核心机制，八环系统调用闸门链。左下角三个数字都可在仓库验证：开源版本 v0.12.0，三十天发了十二个版本，七百六十五项测试全绿。接下来十四页，我会讲清楚为什么这层东西值得现在投。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先给全片的骨架。问题在第一行：今天的 Agent 直接拿工具，没有系统调用这一层，所以没有预算、没有审计、没有回滚、也没有合规，一次工具调用就是一次不可逆操作。方案在第二行：laos 把自己放在用户态，做一个 Agent 内核，每次调用都要过八环闸门，从能力、范围、校验，一路到预算、计价、预审、确认、审计。第三行是进展：已经开源到 v0.12.0，十五个设备驱动，端侧听觉栈全部自研且只用标准库，背后还有一万九千七百九十二篇论文的语料。请记住最下面那句话：模型负责想，laos 负责说不。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这个缺口同时以三种形态发生。第一柱是失控成本：一次工具调用就是删文件、扣费、写坏状态这类不可逆动作，删错一个目录无法回滚，只剩事后日志。第二柱是合规黑洞：欧盟 AI 法案已经生效，个人信息保护法把声纹列为敏感个人信息，企业让 Agent 上生产，缺一层可审计的证据链，审计方问谁在何时动了什么，答不上来。第三柱是端侧碎片：麦克风、屏幕、通知、NPU 各自一套 SDK，同一个 Agent 换一台耳机就要重做集成，而且没有统一的隐私闸。三柱同一个根因：现有框架在应用层做 try-catch，那只是建议，挡不住。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为什么是现在做，而不是两年前或两年后。第一浪，MCP 已经成为事实标准，二零二六年七月二十八日的规范更新带上了 Tasks、Elicitation 和 MRTR，工具调用接口统一了，治理层第一次有了统一切入点。第二浪，Agent 正在从聊天走向执行，企业开始让 Agent 动真实系统，从能干活到敢让它干活，中间差的正是操作系统这一层。第三浪，监管落地窗口打开了，欧盟 AI 法案分阶段生效，国内生成式算法备案推进，合规用户是预算最充足的用户。三条浪同时到齐，这就是切入窗口。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产品形态一张图。左边是 Agent，右边是 Linux、MCP 和真实外设，中间就是 laos 内核：闸门链、调度、分支、记忆，先扣账、后派发、全量审计。它和十五个驱动子进程互相隔离运行。三件内核语义：工具调用等于系统调用，每次过闸而不是直通；MCP 服务器等于设备驱动，外挂任何服务但遥测必关；能力表等于权限位，能力可收回、权限收到最小。最下面是零依赖承诺：内核纯 Python 标准库，能进任何低端安卓和边缘盒子。下一页展开最核心的闸门链。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这是第一条壁垒。八环从左到右：能力表、task_scope、schema 校验、EDQUOT 预算、FleetLedger 计价、Jev 预审、确认横幅，最后是审计。关键是第二环：越界请求在 task_scope 就被拒绝，驱动根本不会被触达，这不是写在提示词里的恳求，而是执行路径上的强制。中间那条金色账本是商业模式的地基：FleetLedger 先扣账、后派发，操作之前风险已经定价，事后不可抵赖。对照来看，现有方案是应用层 guardrail 和策略文件，本质是建议，模型可以不听；laos 是内核强制，绕不过去。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第二条壁垒是端侧听觉栈，六层全部自研、纯标准库：从 VAD 语音活动检测，到 BS.1770-4 响度，再到 Goertzel 双耳定位、麦克风几何 MPE、FOA 编解码，最后是 ShoNet 声源定位复现。右上角这个数字值得注意：负二十三点零零 LUFS，偏差正负零点一以内，这是与 R128 校准点逐行对齐的结果，说明这套栈能做到论文级精度。全双工三件套也已落地：时序度量、speak-hold-stop 轮转、打断即作废轮缓冲。为什么值钱：语音是 Agent 最自然的入口，端侧是隐私合规唯一安全区，而市面上的方案全部依赖云端大模型。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第三条壁垒是合规先发，功课已经做完。法条层面：欧盟 AI 法案的禁令清单、PIPL 对声纹的单独同意要求，以及录音触发的四条红线，显式系统调用、LAOS_REC 等于零的全局禁录、全量审计、识别全部在本地。更硬的证据是拒绝清单：我们对标了开源产品里七个越界的文件，逐行分析之后，一行不抄。这一页想说的就一句：企业采购 Agent 基础设施时，可审计是入场券，不是加分项。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竞争格局用两根轴看：横轴是从 L0 约定层到 L3 libOS 层，纵轴从建议到强制。框架派如 LangGraph 在左下，无强制；治理派的策略引擎在右下，不在执行路径上；端侧派的各家 SDK 在左侧，没有操作系统语义。只有 laos 站在右上角：L2 用户态强制层，同时拿到执行路径上的强制、端侧驱动和审计账本。学术上，Rutgers 的 AIOS 是调度优先，与 laos 互补而不互竞，这是我们的调研结论。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进展页，每个数字都能在仓库点开验证。三十天十二个 MINOR 版本，从 v0.1.0 到 v0.12.0，每个版本都有 tag、Release 和 CHANGELOG；七百六十五项测试全绿，主库四百一十五、隔离区二百七十九、复现区七十一，全部先红后绿；一万九千七百九十二篇双会议论文全量语料，加上三千七百二十四个星标仓库分级和四十七份调研文档；四项复现实证，响度、主动降噪、声源定位和麦克风编码，与官方实现逐行对齐。也要诚实说：开源才一个月，社区还在冷启动，尚无外部贡献者，增长曲线要看 issue 和 PR 的转化。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商业模式三条线，都从强制层和证据链长出来。第一条，企业私有化治理中间件，License 加 SLA，把闸门链和账本打包进企业的 MCP 网关；第二条，审计合规报表 SaaS，按 Agent 数量订阅，把账本数据导出成合规证据链；第三条，端侧语音 SDK 授权，OEM 和设备厂按量付费，卖的是零依赖听觉栈加全双工轮转。定价哲学一句话：先开源内核建标准，卖的是敢用。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市场这一页先看结构，数字是示例，正式版会附测算模型。TAM 是 Agent 基础设施软件这个大盘；SAM 收窄到企业 Agent 治理与审计，也就是 MCP 网关和策略执行这个细分；SOM 是三年可触达的部分，来自私有化、报表、SDK 三条线合计。等正式 BP 时，这三层都会换成可辩护的测算。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未来十二个月，每个季度一个可检验节点。Q1 做 v1.0 内核稳定，多 Agent 并发调度，并跑通第一个企业试点的治理中间件 POC；Q2 审计报表 SaaS 内测，同时启动驱动市场，定义第三方 MCP 的治理接入协议；Q3 端侧语音 SDK 在一到两款设备落地，把 Bin2Ambi 和空间音频能力做进产品；Q4 是 A 轮叙事节点，交付可复制的治理加听觉打包案例。团队同步扩张：从单人加 AI 流水线，到加两名内核与端侧，再加两名合规与 BD。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融资方案，这一页的金额和比例都是示例结构。天使轮五百万，出让百分之十，示例数字可调。用途四块：四成投端侧真机验证，三成投生态适配也就是 MCP 生态和驱动市场，两成投合规认证与试点，一成运营，七成进真机与生态。愿意接受里程碑对赌：十二个月内交付 1.0 加首个付费试点。金额与比例按正式 BP 测算更新。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最后是团队与风险。团队按真实呈现：一名独立开发者，三十天十二版本、七百六十五项测试、四十七份调研，这条 AI 协作流水线本身就是产品方法论的证明，招人计划已在路线图里。三个风险点名说：标准竞争，MCP 生态位可能被大厂占据，对策是深耕强制层与账本，保持标准中立；单人风险，对策就是融资的首要用途，建团队；长销售周期，对策是先开发者后企业，走开源漏斗。回到开场那句话：模型负责想，laos 负责说不。仓库在 github.com/Yfredy/LAOS，欢迎尽调。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laos-funding-mast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laos-funding-mast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285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hyperlink" Target="https://github.com/Yfredy/LAOS" TargetMode="External"/>
  <Relationship Id="rId3" Type="http://schemas.openxmlformats.org/officeDocument/2006/relationships/notesSlide" Target="../notesSlides/notesSlide15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over-kicker"/>
          <p:cNvGrpSpPr/>
          <p:nvPr/>
        </p:nvGrpSpPr>
        <p:grpSpPr>
          <a:xfrm>
            <a:off x="680847" y="1524000"/>
            <a:ext cx="3531839" cy="191643"/>
            <a:chOff x="680847" y="1524000"/>
            <a:chExt cx="3531839" cy="191643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1524000"/>
              <a:ext cx="353183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LAOS · 创新融资 · 项目介绍 · 2026-10</a:t>
              </a:r>
            </a:p>
          </p:txBody>
        </p:sp>
      </p:grpSp>
      <p:grpSp>
        <p:nvGrpSpPr>
          <p:cNvPr id="5" name="cover-title"/>
          <p:cNvGrpSpPr/>
          <p:nvPr/>
        </p:nvGrpSpPr>
        <p:grpSpPr>
          <a:xfrm>
            <a:off x="666750" y="1962150"/>
            <a:ext cx="5010150" cy="1552575"/>
            <a:chOff x="666750" y="1962150"/>
            <a:chExt cx="5010150" cy="1552575"/>
          </a:xfrm>
        </p:grpSpPr>
        <p:sp>
          <p:nvSpPr>
            <p:cNvPr id="4" name="TextBox 4"/>
            <p:cNvSpPr txBox="1"/>
            <p:nvPr/>
          </p:nvSpPr>
          <p:spPr>
            <a:xfrm>
              <a:off x="666750" y="1962150"/>
              <a:ext cx="5010150" cy="1552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5550"/>
                </a:lnSpc>
              </a:pPr>
              <a:r>
                <a:rPr lang="zh-CN" sz="4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给 AI Agent 装上</a:t>
              </a:r>
              <a:br>
                <a:rPr lang="zh-CN" sz="4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4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操作系统的治理内核</a:t>
              </a:r>
            </a:p>
          </p:txBody>
        </p:sp>
      </p:grpSp>
      <p:grpSp>
        <p:nvGrpSpPr>
          <p:cNvPr id="8" name="cover-claim"/>
          <p:cNvGrpSpPr/>
          <p:nvPr/>
        </p:nvGrpSpPr>
        <p:grpSpPr>
          <a:xfrm>
            <a:off x="675894" y="3848100"/>
            <a:ext cx="3790098" cy="597281"/>
            <a:chOff x="675894" y="3848100"/>
            <a:chExt cx="3790098" cy="597281"/>
          </a:xfrm>
        </p:grpSpPr>
        <p:sp>
          <p:nvSpPr>
            <p:cNvPr id="6" name="Rectangle 6"/>
            <p:cNvSpPr/>
            <p:nvPr/>
          </p:nvSpPr>
          <p:spPr>
            <a:xfrm>
              <a:off x="685800" y="3848100"/>
              <a:ext cx="419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75894" y="4064000"/>
              <a:ext cx="37900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模型负责想，</a:t>
              </a:r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laos 负责说「不」</a:t>
              </a:r>
            </a:p>
          </p:txBody>
        </p:sp>
      </p:grpSp>
      <p:grpSp>
        <p:nvGrpSpPr>
          <p:cNvPr id="18" name="cover-badges"/>
          <p:cNvGrpSpPr/>
          <p:nvPr/>
        </p:nvGrpSpPr>
        <p:grpSpPr>
          <a:xfrm>
            <a:off x="676656" y="4972050"/>
            <a:ext cx="6347313" cy="823278"/>
            <a:chOff x="676656" y="4972050"/>
            <a:chExt cx="6347313" cy="823278"/>
          </a:xfrm>
        </p:grpSpPr>
        <p:sp>
          <p:nvSpPr>
            <p:cNvPr id="9" name="Line 9"/>
            <p:cNvSpPr/>
            <p:nvPr/>
          </p:nvSpPr>
          <p:spPr>
            <a:xfrm>
              <a:off x="685800" y="4972050"/>
              <a:ext cx="6096000" cy="9525"/>
            </a:xfrm>
            <a:custGeom>
              <a:avLst/>
              <a:gdLst/>
              <a:ahLst/>
              <a:cxnLst/>
              <a:rect l="l" t="t" r="r" b="b"/>
              <a:pathLst>
                <a:path w="6096000" h="9525">
                  <a:moveTo>
                    <a:pt x="0" y="0"/>
                  </a:moveTo>
                  <a:lnTo>
                    <a:pt x="60960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6656" y="5251450"/>
              <a:ext cx="99785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v0.12.0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80085" y="55753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开源版本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2552700" y="5124450"/>
              <a:ext cx="9525" cy="609600"/>
            </a:xfrm>
            <a:custGeom>
              <a:avLst/>
              <a:gdLst/>
              <a:ahLst/>
              <a:cxnLst/>
              <a:rect l="l" t="t" r="r" b="b"/>
              <a:pathLst>
                <a:path w="9525" h="609600">
                  <a:moveTo>
                    <a:pt x="0" y="0"/>
                  </a:moveTo>
                  <a:lnTo>
                    <a:pt x="0" y="60960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810256" y="5251450"/>
              <a:ext cx="8591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12 版本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13685" y="5575300"/>
              <a:ext cx="2352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30 天 · 每版本有 tag/CHANGELOG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5353050" y="5124450"/>
              <a:ext cx="9525" cy="609600"/>
            </a:xfrm>
            <a:custGeom>
              <a:avLst/>
              <a:gdLst/>
              <a:ahLst/>
              <a:cxnLst/>
              <a:rect l="l" t="t" r="r" b="b"/>
              <a:pathLst>
                <a:path w="9525" h="609600">
                  <a:moveTo>
                    <a:pt x="0" y="0"/>
                  </a:moveTo>
                  <a:lnTo>
                    <a:pt x="0" y="60960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10606" y="5251450"/>
              <a:ext cx="9990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765 测试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614035" y="5575300"/>
              <a:ext cx="1409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全绿 · TDD 先红后绿</a:t>
              </a:r>
            </a:p>
          </p:txBody>
        </p:sp>
      </p:grpSp>
      <p:grpSp>
        <p:nvGrpSpPr>
          <p:cNvPr id="20" name="cover-meta"/>
          <p:cNvGrpSpPr/>
          <p:nvPr/>
        </p:nvGrpSpPr>
        <p:grpSpPr>
          <a:xfrm>
            <a:off x="681038" y="6184900"/>
            <a:ext cx="3176704" cy="161925"/>
            <a:chOff x="681038" y="6184900"/>
            <a:chExt cx="3176704" cy="161925"/>
          </a:xfrm>
        </p:grpSpPr>
        <p:sp>
          <p:nvSpPr>
            <p:cNvPr id="19" name="TextBox 19"/>
            <p:cNvSpPr txBox="1"/>
            <p:nvPr/>
          </p:nvSpPr>
          <p:spPr>
            <a:xfrm>
              <a:off x="681038" y="6184900"/>
              <a:ext cx="317670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天使轮（示例结构） · github.com/Yfredy/LAOS</a:t>
              </a:r>
            </a:p>
          </p:txBody>
        </p:sp>
      </p:grpSp>
      <p:grpSp>
        <p:nvGrpSpPr>
          <p:cNvPr id="39" name="cover-ring-motif"/>
          <p:cNvGrpSpPr/>
          <p:nvPr/>
        </p:nvGrpSpPr>
        <p:grpSpPr>
          <a:xfrm>
            <a:off x="8362950" y="2009775"/>
            <a:ext cx="3393199" cy="3651250"/>
            <a:chOff x="8362950" y="2009775"/>
            <a:chExt cx="3393199" cy="3651250"/>
          </a:xfrm>
        </p:grpSpPr>
        <p:sp>
          <p:nvSpPr>
            <p:cNvPr id="21" name="Ellipse 21"/>
            <p:cNvSpPr/>
            <p:nvPr/>
          </p:nvSpPr>
          <p:spPr>
            <a:xfrm>
              <a:off x="8362950" y="2133600"/>
              <a:ext cx="2895600" cy="2895600"/>
            </a:xfrm>
            <a:prstGeom prst="ellipse">
              <a:avLst/>
            </a:prstGeom>
            <a:noFill/>
            <a:ln w="19050">
              <a:solidFill>
                <a:srgbClr val="E3E3E8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9753600" y="3524250"/>
              <a:ext cx="114300" cy="114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Line 23"/>
            <p:cNvSpPr/>
            <p:nvPr/>
          </p:nvSpPr>
          <p:spPr>
            <a:xfrm>
              <a:off x="9810750" y="2133600"/>
              <a:ext cx="9525" cy="1447800"/>
            </a:xfrm>
            <a:custGeom>
              <a:avLst/>
              <a:gdLst/>
              <a:ahLst/>
              <a:cxnLst/>
              <a:rect l="l" t="t" r="r" b="b"/>
              <a:pathLst>
                <a:path w="9525" h="1447800">
                  <a:moveTo>
                    <a:pt x="0" y="14478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9810750" y="3143250"/>
              <a:ext cx="1019175" cy="438150"/>
            </a:xfrm>
            <a:custGeom>
              <a:avLst/>
              <a:gdLst/>
              <a:ahLst/>
              <a:cxnLst/>
              <a:rect l="l" t="t" r="r" b="b"/>
              <a:pathLst>
                <a:path w="1019175" h="438150">
                  <a:moveTo>
                    <a:pt x="0" y="438150"/>
                  </a:moveTo>
                  <a:lnTo>
                    <a:pt x="1019175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9810750" y="3581400"/>
              <a:ext cx="1019175" cy="438150"/>
            </a:xfrm>
            <a:custGeom>
              <a:avLst/>
              <a:gdLst/>
              <a:ahLst/>
              <a:cxnLst/>
              <a:rect l="l" t="t" r="r" b="b"/>
              <a:pathLst>
                <a:path w="1019175" h="438150">
                  <a:moveTo>
                    <a:pt x="0" y="0"/>
                  </a:moveTo>
                  <a:lnTo>
                    <a:pt x="1019175" y="4381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9810750" y="3581400"/>
              <a:ext cx="9525" cy="1447800"/>
            </a:xfrm>
            <a:custGeom>
              <a:avLst/>
              <a:gdLst/>
              <a:ahLst/>
              <a:cxnLst/>
              <a:rect l="l" t="t" r="r" b="b"/>
              <a:pathLst>
                <a:path w="9525" h="1447800">
                  <a:moveTo>
                    <a:pt x="0" y="0"/>
                  </a:moveTo>
                  <a:lnTo>
                    <a:pt x="0" y="144780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8791575" y="3581400"/>
              <a:ext cx="1019175" cy="438150"/>
            </a:xfrm>
            <a:custGeom>
              <a:avLst/>
              <a:gdLst/>
              <a:ahLst/>
              <a:cxnLst/>
              <a:rect l="l" t="t" r="r" b="b"/>
              <a:pathLst>
                <a:path w="1019175" h="438150">
                  <a:moveTo>
                    <a:pt x="1019175" y="0"/>
                  </a:moveTo>
                  <a:lnTo>
                    <a:pt x="0" y="4381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791575" y="3143250"/>
              <a:ext cx="1019175" cy="438150"/>
            </a:xfrm>
            <a:custGeom>
              <a:avLst/>
              <a:gdLst/>
              <a:ahLst/>
              <a:cxnLst/>
              <a:rect l="l" t="t" r="r" b="b"/>
              <a:pathLst>
                <a:path w="1019175" h="438150">
                  <a:moveTo>
                    <a:pt x="1019175" y="4381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9686925" y="2009775"/>
              <a:ext cx="247650" cy="24765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10706100" y="3019425"/>
              <a:ext cx="247650" cy="247650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10706100" y="3895725"/>
              <a:ext cx="247650" cy="24765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rgbClr val="E3E3E8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9686925" y="4905375"/>
              <a:ext cx="247650" cy="24765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rgbClr val="E3E3E8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8667750" y="3895725"/>
              <a:ext cx="247650" cy="24765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rgbClr val="E3E3E8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8667750" y="3019425"/>
              <a:ext cx="247650" cy="24765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rgbClr val="E3E3E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1139488" y="2908300"/>
              <a:ext cx="13702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139488" y="3089275"/>
              <a:ext cx="61666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task_scope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141628" y="5251450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 环 syscall 闸门链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245766" y="5499100"/>
              <a:ext cx="11299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越界在第 2 环即被拒绝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210228" y="361950"/>
              <a:ext cx="13007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02 / 15 · 一页看懂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8396255" cy="747903"/>
            <a:chOff x="671322" y="1104900"/>
            <a:chExt cx="8396255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65877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一页看懂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839625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 缺一层操作系统：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laos 用 8 环闸门补上它</a:t>
              </a:r>
            </a:p>
          </p:txBody>
        </p:sp>
      </p:grpSp>
      <p:grpSp>
        <p:nvGrpSpPr>
          <p:cNvPr id="15" name="band-problem"/>
          <p:cNvGrpSpPr/>
          <p:nvPr/>
        </p:nvGrpSpPr>
        <p:grpSpPr>
          <a:xfrm>
            <a:off x="685800" y="1905000"/>
            <a:ext cx="10820400" cy="1028700"/>
            <a:chOff x="685800" y="1905000"/>
            <a:chExt cx="10820400" cy="1028700"/>
          </a:xfrm>
        </p:grpSpPr>
        <p:sp>
          <p:nvSpPr>
            <p:cNvPr id="9" name="Rectangle 9"/>
            <p:cNvSpPr/>
            <p:nvPr/>
          </p:nvSpPr>
          <p:spPr>
            <a:xfrm>
              <a:off x="685800" y="1905000"/>
              <a:ext cx="10820400" cy="102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44499" y="21717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7738" y="2495550"/>
              <a:ext cx="68160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PROBLEM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2057400" y="2114550"/>
              <a:ext cx="9525" cy="628650"/>
            </a:xfrm>
            <a:custGeom>
              <a:avLst/>
              <a:gdLst/>
              <a:ahLst/>
              <a:cxnLst/>
              <a:rect l="l" t="t" r="r" b="b"/>
              <a:pathLst>
                <a:path w="9525" h="628650">
                  <a:moveTo>
                    <a:pt x="0" y="0"/>
                  </a:moveTo>
                  <a:lnTo>
                    <a:pt x="0" y="62865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354961" y="2108200"/>
              <a:ext cx="35010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 直接拿工具，没有「系统调用」层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55723" y="2476500"/>
              <a:ext cx="558342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无预算 · 无审计 · 无回滚 · 无合规——</a:t>
              </a: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一次 tool call 就是一次不可逆操作</a:t>
              </a:r>
            </a:p>
          </p:txBody>
        </p:sp>
      </p:grpSp>
      <p:grpSp>
        <p:nvGrpSpPr>
          <p:cNvPr id="22" name="band-solution"/>
          <p:cNvGrpSpPr/>
          <p:nvPr/>
        </p:nvGrpSpPr>
        <p:grpSpPr>
          <a:xfrm>
            <a:off x="685800" y="3086100"/>
            <a:ext cx="10820400" cy="1028700"/>
            <a:chOff x="685800" y="3086100"/>
            <a:chExt cx="10820400" cy="1028700"/>
          </a:xfrm>
        </p:grpSpPr>
        <p:sp>
          <p:nvSpPr>
            <p:cNvPr id="16" name="Rectangle 16"/>
            <p:cNvSpPr/>
            <p:nvPr/>
          </p:nvSpPr>
          <p:spPr>
            <a:xfrm>
              <a:off x="685800" y="3086100"/>
              <a:ext cx="10820400" cy="102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499" y="33528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方案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7738" y="3676650"/>
              <a:ext cx="74135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SOLUTION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2057400" y="3295650"/>
              <a:ext cx="9525" cy="628650"/>
            </a:xfrm>
            <a:custGeom>
              <a:avLst/>
              <a:gdLst/>
              <a:ahLst/>
              <a:cxnLst/>
              <a:rect l="l" t="t" r="r" b="b"/>
              <a:pathLst>
                <a:path w="9525" h="628650">
                  <a:moveTo>
                    <a:pt x="0" y="0"/>
                  </a:moveTo>
                  <a:lnTo>
                    <a:pt x="0" y="62865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354961" y="3289300"/>
              <a:ext cx="2232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laos＝用户态 Agent 内核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55723" y="3657600"/>
              <a:ext cx="588023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syscall</a:t>
              </a: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8 环闸门链：能力 → 范围 → 校验 → 预算 → 计价 → 预审 → 确认 → 审计</a:t>
              </a:r>
            </a:p>
          </p:txBody>
        </p:sp>
      </p:grpSp>
      <p:grpSp>
        <p:nvGrpSpPr>
          <p:cNvPr id="29" name="band-progress"/>
          <p:cNvGrpSpPr/>
          <p:nvPr/>
        </p:nvGrpSpPr>
        <p:grpSpPr>
          <a:xfrm>
            <a:off x="685800" y="4267200"/>
            <a:ext cx="10820400" cy="1028700"/>
            <a:chOff x="685800" y="4267200"/>
            <a:chExt cx="10820400" cy="1028700"/>
          </a:xfrm>
        </p:grpSpPr>
        <p:sp>
          <p:nvSpPr>
            <p:cNvPr id="23" name="Rectangle 23"/>
            <p:cNvSpPr/>
            <p:nvPr/>
          </p:nvSpPr>
          <p:spPr>
            <a:xfrm>
              <a:off x="685800" y="4267200"/>
              <a:ext cx="10820400" cy="102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4499" y="4533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7738" y="4857750"/>
              <a:ext cx="7157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TRACTION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2057400" y="4476750"/>
              <a:ext cx="9525" cy="628650"/>
            </a:xfrm>
            <a:custGeom>
              <a:avLst/>
              <a:gdLst/>
              <a:ahLst/>
              <a:cxnLst/>
              <a:rect l="l" t="t" r="r" b="b"/>
              <a:pathLst>
                <a:path w="9525" h="628650">
                  <a:moveTo>
                    <a:pt x="0" y="0"/>
                  </a:moveTo>
                  <a:lnTo>
                    <a:pt x="0" y="62865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354961" y="4470400"/>
              <a:ext cx="26974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开源 v0.12.0 · 15 个设备驱动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355723" y="4838700"/>
              <a:ext cx="404380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端侧听觉栈</a:t>
              </a: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全自研 · 纯 stdlib</a:t>
              </a: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19,792 篇</a:t>
              </a: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论文语料</a:t>
              </a:r>
            </a:p>
          </p:txBody>
        </p:sp>
      </p:grpSp>
      <p:grpSp>
        <p:nvGrpSpPr>
          <p:cNvPr id="32" name="conclusion-band"/>
          <p:cNvGrpSpPr/>
          <p:nvPr/>
        </p:nvGrpSpPr>
        <p:grpSpPr>
          <a:xfrm>
            <a:off x="685800" y="5600700"/>
            <a:ext cx="10820400" cy="571500"/>
            <a:chOff x="685800" y="5600700"/>
            <a:chExt cx="10820400" cy="571500"/>
          </a:xfrm>
        </p:grpSpPr>
        <p:sp>
          <p:nvSpPr>
            <p:cNvPr id="30" name="Rectangle 30"/>
            <p:cNvSpPr/>
            <p:nvPr/>
          </p:nvSpPr>
          <p:spPr>
            <a:xfrm>
              <a:off x="685800" y="5600700"/>
              <a:ext cx="108204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1456" y="5746750"/>
              <a:ext cx="4467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一句话：模型负责想，laos 负责说「不」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3" name="Line 33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210228" y="361950"/>
              <a:ext cx="13007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03 / 15 · 痛点三柱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8944899" cy="747903"/>
            <a:chOff x="671322" y="1104900"/>
            <a:chExt cx="8944899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127929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问题 · 痛点三柱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894489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 直接拿工具：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成本失控、合规黑洞、端侧碎片</a:t>
              </a:r>
            </a:p>
          </p:txBody>
        </p:sp>
      </p:grpSp>
      <p:grpSp>
        <p:nvGrpSpPr>
          <p:cNvPr id="17" name="pillar-cost"/>
          <p:cNvGrpSpPr/>
          <p:nvPr/>
        </p:nvGrpSpPr>
        <p:grpSpPr>
          <a:xfrm>
            <a:off x="685800" y="2000250"/>
            <a:ext cx="3390900" cy="3143250"/>
            <a:chOff x="685800" y="2000250"/>
            <a:chExt cx="3390900" cy="3143250"/>
          </a:xfrm>
        </p:grpSpPr>
        <p:sp>
          <p:nvSpPr>
            <p:cNvPr id="9" name="Rectangle 9"/>
            <p:cNvSpPr/>
            <p:nvPr/>
          </p:nvSpPr>
          <p:spPr>
            <a:xfrm>
              <a:off x="685800" y="2000250"/>
              <a:ext cx="3390900" cy="3143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685800" y="2000250"/>
              <a:ext cx="3390900" cy="571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3356" y="22796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4499" y="26670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失控成本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46023" y="3086100"/>
              <a:ext cx="1475994" cy="4979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一次 tool call</a:t>
              </a:r>
              <a:b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就是一次不可逆操作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6404" y="3784600"/>
              <a:ext cx="140665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误删文件 · 超额扣费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并发写坏状态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52500" y="4457700"/>
              <a:ext cx="28575" cy="381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99185" y="4438650"/>
              <a:ext cx="15760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场景：删错一个目录，</a:t>
              </a:r>
              <a:b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无法回滚，只剩事后日志</a:t>
              </a:r>
            </a:p>
          </p:txBody>
        </p:sp>
      </p:grpSp>
      <p:grpSp>
        <p:nvGrpSpPr>
          <p:cNvPr id="26" name="pillar-compliance"/>
          <p:cNvGrpSpPr/>
          <p:nvPr/>
        </p:nvGrpSpPr>
        <p:grpSpPr>
          <a:xfrm>
            <a:off x="4400550" y="2000250"/>
            <a:ext cx="3390900" cy="3143250"/>
            <a:chOff x="4400550" y="2000250"/>
            <a:chExt cx="3390900" cy="3143250"/>
          </a:xfrm>
        </p:grpSpPr>
        <p:sp>
          <p:nvSpPr>
            <p:cNvPr id="18" name="Rectangle 18"/>
            <p:cNvSpPr/>
            <p:nvPr/>
          </p:nvSpPr>
          <p:spPr>
            <a:xfrm>
              <a:off x="4400550" y="2000250"/>
              <a:ext cx="3390900" cy="3143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400550" y="2000250"/>
              <a:ext cx="3390900" cy="571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58106" y="22796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59249" y="26670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合规黑洞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60773" y="3086100"/>
              <a:ext cx="1860042" cy="4979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EU AI Act 已生效</a:t>
              </a:r>
              <a:b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PIPL 把声纹列为敏感信息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61154" y="3784600"/>
              <a:ext cx="154381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企业上 Agent，缺一层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可审计的证据链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667250" y="4457700"/>
              <a:ext cx="28575" cy="381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813935" y="4438650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场景：审计方问「谁在何时</a:t>
              </a:r>
              <a:b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动了什么」，答不上来</a:t>
              </a:r>
            </a:p>
          </p:txBody>
        </p:sp>
      </p:grpSp>
      <p:grpSp>
        <p:nvGrpSpPr>
          <p:cNvPr id="35" name="pillar-device"/>
          <p:cNvGrpSpPr/>
          <p:nvPr/>
        </p:nvGrpSpPr>
        <p:grpSpPr>
          <a:xfrm>
            <a:off x="8115300" y="2000250"/>
            <a:ext cx="3390900" cy="3143250"/>
            <a:chOff x="8115300" y="2000250"/>
            <a:chExt cx="3390900" cy="3143250"/>
          </a:xfrm>
        </p:grpSpPr>
        <p:sp>
          <p:nvSpPr>
            <p:cNvPr id="27" name="Rectangle 27"/>
            <p:cNvSpPr/>
            <p:nvPr/>
          </p:nvSpPr>
          <p:spPr>
            <a:xfrm>
              <a:off x="8115300" y="2000250"/>
              <a:ext cx="3390900" cy="3143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115300" y="2000250"/>
              <a:ext cx="3390900" cy="571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72856" y="22796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73999" y="26670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端侧碎片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75523" y="3086100"/>
              <a:ext cx="1714144" cy="4979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麦克风/屏幕/通知/NPU</a:t>
              </a:r>
              <a:b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各自为 SDK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75904" y="3784600"/>
              <a:ext cx="184099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接入每件设备都要重写一遍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且没有统一隐私闸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382000" y="4457700"/>
              <a:ext cx="28575" cy="381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528685" y="4438650"/>
              <a:ext cx="144094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场景：同一个 Agent，</a:t>
              </a:r>
              <a:b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换一台耳机就重做集成</a:t>
              </a:r>
            </a:p>
          </p:txBody>
        </p:sp>
      </p:grpSp>
      <p:grpSp>
        <p:nvGrpSpPr>
          <p:cNvPr id="37" name="root-cause"/>
          <p:cNvGrpSpPr/>
          <p:nvPr/>
        </p:nvGrpSpPr>
        <p:grpSpPr>
          <a:xfrm>
            <a:off x="678561" y="5708650"/>
            <a:ext cx="9120904" cy="278702"/>
            <a:chOff x="678561" y="5708650"/>
            <a:chExt cx="9120904" cy="278702"/>
          </a:xfrm>
        </p:grpSpPr>
        <p:sp>
          <p:nvSpPr>
            <p:cNvPr id="36" name="TextBox 36"/>
            <p:cNvSpPr txBox="1"/>
            <p:nvPr/>
          </p:nvSpPr>
          <p:spPr>
            <a:xfrm>
              <a:off x="678561" y="5708650"/>
              <a:ext cx="912090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三柱同一个根因：现有框架（LangChain/MCP host 等）在</a:t>
              </a:r>
              <a:r>
                <a:rPr lang="zh-CN" sz="14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应用层 try-catch，挡不住</a:t>
              </a:r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——缺的是 syscall 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8" name="Line 38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927526" y="361950"/>
              <a:ext cx="1583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04 / 15 · 为什么是现在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7532455" cy="747903"/>
            <a:chOff x="671322" y="1104900"/>
            <a:chExt cx="7532455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16239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问题 · 为什么是现在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753245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三浪叠加：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治理层是这轮 Agent 浪潮的空位</a:t>
              </a:r>
            </a:p>
          </p:txBody>
        </p:sp>
      </p:grpSp>
      <p:grpSp>
        <p:nvGrpSpPr>
          <p:cNvPr id="13" name="wave-mcp"/>
          <p:cNvGrpSpPr/>
          <p:nvPr/>
        </p:nvGrpSpPr>
        <p:grpSpPr>
          <a:xfrm>
            <a:off x="685800" y="1905000"/>
            <a:ext cx="10820400" cy="990600"/>
            <a:chOff x="685800" y="1905000"/>
            <a:chExt cx="10820400" cy="990600"/>
          </a:xfrm>
        </p:grpSpPr>
        <p:sp>
          <p:nvSpPr>
            <p:cNvPr id="9" name="Rectangle 9"/>
            <p:cNvSpPr/>
            <p:nvPr/>
          </p:nvSpPr>
          <p:spPr>
            <a:xfrm>
              <a:off x="685800" y="1905000"/>
              <a:ext cx="10820400" cy="990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43356" y="2127250"/>
              <a:ext cx="4768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浪 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59661" y="2146300"/>
              <a:ext cx="16174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MCP 成为事实标准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60423" y="2495550"/>
              <a:ext cx="748996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2026-07-28</a:t>
              </a: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规范更新（Tasks/Elicitation/MRTR）——工具调用接口统一，</a:t>
              </a: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治理层有了统一切入点</a:t>
              </a:r>
            </a:p>
          </p:txBody>
        </p:sp>
      </p:grpSp>
      <p:grpSp>
        <p:nvGrpSpPr>
          <p:cNvPr id="18" name="wave-execution"/>
          <p:cNvGrpSpPr/>
          <p:nvPr/>
        </p:nvGrpSpPr>
        <p:grpSpPr>
          <a:xfrm>
            <a:off x="685800" y="3086100"/>
            <a:ext cx="10820400" cy="990600"/>
            <a:chOff x="685800" y="3086100"/>
            <a:chExt cx="10820400" cy="990600"/>
          </a:xfrm>
        </p:grpSpPr>
        <p:sp>
          <p:nvSpPr>
            <p:cNvPr id="14" name="Rectangle 14"/>
            <p:cNvSpPr/>
            <p:nvPr/>
          </p:nvSpPr>
          <p:spPr>
            <a:xfrm>
              <a:off x="685800" y="3086100"/>
              <a:ext cx="10820400" cy="990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3356" y="3308350"/>
              <a:ext cx="4768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浪 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59661" y="3327400"/>
              <a:ext cx="19717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 从聊天走向执行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60423" y="3676650"/>
              <a:ext cx="649123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企业开始让 Agent 动真实系统——「能干活」到「敢让它干活」之间，</a:t>
              </a: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差的正是 OS 层</a:t>
              </a:r>
            </a:p>
          </p:txBody>
        </p:sp>
      </p:grpSp>
      <p:grpSp>
        <p:nvGrpSpPr>
          <p:cNvPr id="23" name="wave-regulation"/>
          <p:cNvGrpSpPr/>
          <p:nvPr/>
        </p:nvGrpSpPr>
        <p:grpSpPr>
          <a:xfrm>
            <a:off x="685800" y="4267200"/>
            <a:ext cx="10820400" cy="990600"/>
            <a:chOff x="685800" y="4267200"/>
            <a:chExt cx="10820400" cy="990600"/>
          </a:xfrm>
        </p:grpSpPr>
        <p:sp>
          <p:nvSpPr>
            <p:cNvPr id="19" name="Rectangle 19"/>
            <p:cNvSpPr/>
            <p:nvPr/>
          </p:nvSpPr>
          <p:spPr>
            <a:xfrm>
              <a:off x="685800" y="4267200"/>
              <a:ext cx="10820400" cy="990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3356" y="4489450"/>
              <a:ext cx="4768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浪 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59661" y="4508500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监管落地窗口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860423" y="4857750"/>
              <a:ext cx="534294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EU AI Act 分阶段生效 / 国内生成式算法备案——</a:t>
              </a: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合规是预算充足的用户</a:t>
              </a:r>
            </a:p>
          </p:txBody>
        </p:sp>
      </p:grpSp>
      <p:grpSp>
        <p:nvGrpSpPr>
          <p:cNvPr id="25" name="window-takeaway"/>
          <p:cNvGrpSpPr/>
          <p:nvPr/>
        </p:nvGrpSpPr>
        <p:grpSpPr>
          <a:xfrm>
            <a:off x="678561" y="5765800"/>
            <a:ext cx="6016915" cy="278702"/>
            <a:chOff x="678561" y="5765800"/>
            <a:chExt cx="6016915" cy="278702"/>
          </a:xfrm>
        </p:grpSpPr>
        <p:sp>
          <p:nvSpPr>
            <p:cNvPr id="24" name="TextBox 24"/>
            <p:cNvSpPr txBox="1"/>
            <p:nvPr/>
          </p:nvSpPr>
          <p:spPr>
            <a:xfrm>
              <a:off x="678561" y="5765800"/>
              <a:ext cx="60169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接口统一 × 走向执行 × 监管倒逼——</a:t>
              </a:r>
              <a:r>
                <a:rPr lang="zh-CN" sz="14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三条浪同时到齐，切入窗口就在当下</a:t>
              </a:r>
            </a:p>
          </p:txBody>
        </p:sp>
      </p:grpSp>
      <p:grpSp>
        <p:nvGrpSpPr>
          <p:cNvPr id="29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26" name="Line 26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492930" y="361950"/>
              <a:ext cx="101803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05 / 15 · 产品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7457708" cy="747903"/>
            <a:chOff x="671322" y="1104900"/>
            <a:chExt cx="7457708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16205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方案 · laos 是什么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745770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laos 把每一次工具调用，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变成一次系统调用</a:t>
              </a:r>
            </a:p>
          </p:txBody>
        </p:sp>
      </p:grpSp>
      <p:grpSp>
        <p:nvGrpSpPr>
          <p:cNvPr id="32" name="arch-chain"/>
          <p:cNvGrpSpPr/>
          <p:nvPr/>
        </p:nvGrpSpPr>
        <p:grpSpPr>
          <a:xfrm>
            <a:off x="685800" y="1943100"/>
            <a:ext cx="10820400" cy="1143000"/>
            <a:chOff x="685800" y="1943100"/>
            <a:chExt cx="10820400" cy="1143000"/>
          </a:xfrm>
        </p:grpSpPr>
        <p:sp>
          <p:nvSpPr>
            <p:cNvPr id="9" name="Rectangle 9"/>
            <p:cNvSpPr/>
            <p:nvPr/>
          </p:nvSpPr>
          <p:spPr>
            <a:xfrm>
              <a:off x="685800" y="2133600"/>
              <a:ext cx="1714500" cy="7620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 w="9525">
              <a:solidFill>
                <a:srgbClr val="E3E3E8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56699" y="2279650"/>
              <a:ext cx="5727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90597" y="2590800"/>
              <a:ext cx="11049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模型 · 规划 · 意图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2400300" y="2305050"/>
              <a:ext cx="666750" cy="342900"/>
            </a:xfrm>
            <a:prstGeom prst="leftRightArrow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6496050" y="2305050"/>
              <a:ext cx="666750" cy="342900"/>
            </a:xfrm>
            <a:prstGeom prst="leftRightArrow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8877300" y="2305050"/>
              <a:ext cx="666750" cy="342900"/>
            </a:xfrm>
            <a:prstGeom prst="leftRightArrow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kernel-node"/>
            <p:cNvSpPr/>
            <p:nvPr/>
          </p:nvSpPr>
          <p:spPr>
            <a:xfrm>
              <a:off x="3067050" y="1943100"/>
              <a:ext cx="3429000" cy="1143000"/>
            </a:xfrm>
            <a:prstGeom prst="roundRect">
              <a:avLst>
                <a:gd name="adj" fmla="val 3333"/>
              </a:avLst>
            </a:prstGeom>
            <a:solidFill>
              <a:srgbClr val="E9EEFA"/>
            </a:solidFill>
            <a:ln w="19050">
              <a:solidFill>
                <a:schemeClr val="accent2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287649" y="2095500"/>
              <a:ext cx="20074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laos 内核（用户态）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295650" y="2457450"/>
              <a:ext cx="685800" cy="2476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435706" y="2514600"/>
              <a:ext cx="40568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闸门链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057650" y="2457450"/>
              <a:ext cx="495300" cy="2476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168419" y="25146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调度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629150" y="2457450"/>
              <a:ext cx="495300" cy="2476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739919" y="25146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分支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200650" y="2457450"/>
              <a:ext cx="495300" cy="2476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311419" y="25146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记忆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290697" y="2819400"/>
              <a:ext cx="163261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先扣账 · 后派发 · 全量审计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162800" y="2133600"/>
              <a:ext cx="1714500" cy="7620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 w="9525">
              <a:solidFill>
                <a:srgbClr val="E3E3E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85568" y="2222500"/>
              <a:ext cx="8689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15 个驱动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477492" y="2533650"/>
              <a:ext cx="10851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子进程 · 隔离运行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9544050" y="2133600"/>
              <a:ext cx="1962150" cy="7620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 w="9525">
              <a:solidFill>
                <a:srgbClr val="E3E3E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0448" y="2222500"/>
              <a:ext cx="17693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Linux / MCP / 外设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926498" y="2533650"/>
              <a:ext cx="119725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真实系统与真实设备</a:t>
              </a:r>
            </a:p>
          </p:txBody>
        </p:sp>
      </p:grpSp>
      <p:grpSp>
        <p:nvGrpSpPr>
          <p:cNvPr id="42" name="kernel-semantics"/>
          <p:cNvGrpSpPr/>
          <p:nvPr/>
        </p:nvGrpSpPr>
        <p:grpSpPr>
          <a:xfrm>
            <a:off x="679323" y="3657600"/>
            <a:ext cx="9555785" cy="937578"/>
            <a:chOff x="679323" y="3657600"/>
            <a:chExt cx="9555785" cy="937578"/>
          </a:xfrm>
        </p:grpSpPr>
        <p:sp>
          <p:nvSpPr>
            <p:cNvPr id="33" name="TextBox 33"/>
            <p:cNvSpPr txBox="1"/>
            <p:nvPr/>
          </p:nvSpPr>
          <p:spPr>
            <a:xfrm>
              <a:off x="681038" y="3657600"/>
              <a:ext cx="8879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三件内核语义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9323" y="4057650"/>
              <a:ext cx="183086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tool call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 ＝ </a:t>
              </a:r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系统调用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0085" y="43751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每次过闸，而非直通工具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4038600" y="3905250"/>
              <a:ext cx="9525" cy="685800"/>
            </a:xfrm>
            <a:custGeom>
              <a:avLst/>
              <a:gdLst/>
              <a:ahLst/>
              <a:cxnLst/>
              <a:rect l="l" t="t" r="r" b="b"/>
              <a:pathLst>
                <a:path w="9525"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298823" y="4057650"/>
              <a:ext cx="194947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MCP Server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 ＝ </a:t>
              </a:r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设备驱动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299585" y="4375150"/>
              <a:ext cx="2211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外挂任意 MCP 服务器，遥测必关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8153400" y="3905250"/>
              <a:ext cx="9525" cy="685800"/>
            </a:xfrm>
            <a:custGeom>
              <a:avLst/>
              <a:gdLst/>
              <a:ahLst/>
              <a:cxnLst/>
              <a:rect l="l" t="t" r="r" b="b"/>
              <a:pathLst>
                <a:path w="9525"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413623" y="4057650"/>
              <a:ext cx="132253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Consolas"/>
                  <a:ea typeface="Microsoft YaHei"/>
                  <a:cs typeface="Consolas"/>
                </a:rPr>
                <a:t>能力表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 ＝ </a:t>
              </a:r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权限位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414385" y="43751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能力可收回，权限收到最小</a:t>
              </a:r>
            </a:p>
          </p:txBody>
        </p:sp>
      </p:grpSp>
      <p:grpSp>
        <p:nvGrpSpPr>
          <p:cNvPr id="46" name="zero-dep-band"/>
          <p:cNvGrpSpPr/>
          <p:nvPr/>
        </p:nvGrpSpPr>
        <p:grpSpPr>
          <a:xfrm>
            <a:off x="685800" y="5105400"/>
            <a:ext cx="10820400" cy="609600"/>
            <a:chOff x="685800" y="5105400"/>
            <a:chExt cx="10820400" cy="609600"/>
          </a:xfrm>
        </p:grpSpPr>
        <p:sp>
          <p:nvSpPr>
            <p:cNvPr id="43" name="Rectangle 43"/>
            <p:cNvSpPr/>
            <p:nvPr/>
          </p:nvSpPr>
          <p:spPr>
            <a:xfrm>
              <a:off x="685800" y="5105400"/>
              <a:ext cx="10820400" cy="609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5647" y="5219700"/>
              <a:ext cx="7907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零依赖承诺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84123" y="5429250"/>
              <a:ext cx="547021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内核纯 </a:t>
              </a:r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Python stdlib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——可进任何低端安卓 / 边缘盒子的 Python 环境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47" name="Line 47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351580" y="361950"/>
              <a:ext cx="11593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06 / 15 · 壁垒一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7014573" cy="747903"/>
            <a:chOff x="671322" y="1104900"/>
            <a:chExt cx="7014573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171232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壁垒 · 一 8 环闸门链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701457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越界在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第 2 环即被拒绝</a:t>
              </a:r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：强制，不是建议</a:t>
              </a:r>
            </a:p>
          </p:txBody>
        </p:sp>
      </p:grpSp>
      <p:grpSp>
        <p:nvGrpSpPr>
          <p:cNvPr id="40" name="gate-chain"/>
          <p:cNvGrpSpPr/>
          <p:nvPr/>
        </p:nvGrpSpPr>
        <p:grpSpPr>
          <a:xfrm>
            <a:off x="781050" y="2486025"/>
            <a:ext cx="10115550" cy="870903"/>
            <a:chOff x="781050" y="2486025"/>
            <a:chExt cx="10115550" cy="870903"/>
          </a:xfrm>
        </p:grpSpPr>
        <p:sp>
          <p:nvSpPr>
            <p:cNvPr id="9" name="Line 9"/>
            <p:cNvSpPr/>
            <p:nvPr/>
          </p:nvSpPr>
          <p:spPr>
            <a:xfrm>
              <a:off x="1390650" y="2743200"/>
              <a:ext cx="666750" cy="1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10" name="Line 10"/>
            <p:cNvSpPr/>
            <p:nvPr/>
          </p:nvSpPr>
          <p:spPr>
            <a:xfrm>
              <a:off x="2762250" y="2743200"/>
              <a:ext cx="666750" cy="1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11" name="Line 11"/>
            <p:cNvSpPr/>
            <p:nvPr/>
          </p:nvSpPr>
          <p:spPr>
            <a:xfrm>
              <a:off x="4133850" y="2743200"/>
              <a:ext cx="666750" cy="1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12" name="Line 12"/>
            <p:cNvSpPr/>
            <p:nvPr/>
          </p:nvSpPr>
          <p:spPr>
            <a:xfrm>
              <a:off x="5505450" y="2743200"/>
              <a:ext cx="666750" cy="1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13" name="Line 13"/>
            <p:cNvSpPr/>
            <p:nvPr/>
          </p:nvSpPr>
          <p:spPr>
            <a:xfrm>
              <a:off x="6877050" y="2743200"/>
              <a:ext cx="666750" cy="1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14" name="Line 14"/>
            <p:cNvSpPr/>
            <p:nvPr/>
          </p:nvSpPr>
          <p:spPr>
            <a:xfrm>
              <a:off x="8248650" y="2743200"/>
              <a:ext cx="666750" cy="1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15" name="Line 15"/>
            <p:cNvSpPr/>
            <p:nvPr/>
          </p:nvSpPr>
          <p:spPr>
            <a:xfrm>
              <a:off x="9620250" y="2743200"/>
              <a:ext cx="666750" cy="1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16" name="Ellipse 16"/>
            <p:cNvSpPr/>
            <p:nvPr/>
          </p:nvSpPr>
          <p:spPr>
            <a:xfrm>
              <a:off x="781050" y="2486025"/>
              <a:ext cx="514350" cy="514350"/>
            </a:xfrm>
            <a:prstGeom prst="ellipse">
              <a:avLst/>
            </a:prstGeom>
            <a:solidFill>
              <a:schemeClr val="lt1"/>
            </a:solidFill>
            <a:ln w="14288">
              <a:solidFill>
                <a:srgbClr val="E3E3E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8807" y="26289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6348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能力表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2152650" y="2486025"/>
              <a:ext cx="514350" cy="514350"/>
            </a:xfrm>
            <a:prstGeom prst="ellipse">
              <a:avLst/>
            </a:prstGeom>
            <a:solidFill>
              <a:srgbClr val="E9EEFA"/>
            </a:solidFill>
            <a:ln w="28575">
              <a:solidFill>
                <a:schemeClr val="accent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340407" y="26289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68749" y="3136900"/>
              <a:ext cx="8821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task_scope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3524250" y="2486025"/>
              <a:ext cx="514350" cy="514350"/>
            </a:xfrm>
            <a:prstGeom prst="ellipse">
              <a:avLst/>
            </a:prstGeom>
            <a:solidFill>
              <a:schemeClr val="lt1"/>
            </a:solidFill>
            <a:ln w="14288">
              <a:solidFill>
                <a:srgbClr val="E3E3E8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12007" y="26289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511855" y="3136900"/>
              <a:ext cx="539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schema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95850" y="2486025"/>
              <a:ext cx="514350" cy="514350"/>
            </a:xfrm>
            <a:prstGeom prst="ellipse">
              <a:avLst/>
            </a:prstGeom>
            <a:solidFill>
              <a:schemeClr val="lt1"/>
            </a:solidFill>
            <a:ln w="14288">
              <a:solidFill>
                <a:srgbClr val="E3E3E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083607" y="26289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77918" y="3136900"/>
              <a:ext cx="950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EDQUOT 预算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267450" y="2486025"/>
              <a:ext cx="514350" cy="514350"/>
            </a:xfrm>
            <a:prstGeom prst="ellipse">
              <a:avLst/>
            </a:prstGeom>
            <a:solidFill>
              <a:schemeClr val="lt1"/>
            </a:solidFill>
            <a:ln w="14288">
              <a:solidFill>
                <a:srgbClr val="E3E3E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55207" y="26289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077164" y="3136900"/>
              <a:ext cx="8949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FleetLedger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639050" y="2486025"/>
              <a:ext cx="514350" cy="514350"/>
            </a:xfrm>
            <a:prstGeom prst="ellipse">
              <a:avLst/>
            </a:prstGeom>
            <a:solidFill>
              <a:schemeClr val="lt1"/>
            </a:solidFill>
            <a:ln w="14288">
              <a:solidFill>
                <a:srgbClr val="E3E3E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826807" y="26289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89957" y="3136900"/>
              <a:ext cx="6125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Jev 预审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9010650" y="2486025"/>
              <a:ext cx="514350" cy="514350"/>
            </a:xfrm>
            <a:prstGeom prst="ellipse">
              <a:avLst/>
            </a:prstGeom>
            <a:solidFill>
              <a:schemeClr val="lt1"/>
            </a:solidFill>
            <a:ln w="14288">
              <a:solidFill>
                <a:srgbClr val="E3E3E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198407" y="26289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960561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确认横幅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10382250" y="2486025"/>
              <a:ext cx="514350" cy="51435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3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0570007" y="26289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482936" y="3136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审计</a:t>
              </a:r>
            </a:p>
          </p:txBody>
        </p:sp>
      </p:grpSp>
      <p:grpSp>
        <p:nvGrpSpPr>
          <p:cNvPr id="45" name="ledger-band"/>
          <p:cNvGrpSpPr/>
          <p:nvPr/>
        </p:nvGrpSpPr>
        <p:grpSpPr>
          <a:xfrm>
            <a:off x="685800" y="3848100"/>
            <a:ext cx="10820400" cy="609600"/>
            <a:chOff x="685800" y="3848100"/>
            <a:chExt cx="10820400" cy="609600"/>
          </a:xfrm>
        </p:grpSpPr>
        <p:sp>
          <p:nvSpPr>
            <p:cNvPr id="41" name="Rectangle 41"/>
            <p:cNvSpPr/>
            <p:nvPr/>
          </p:nvSpPr>
          <p:spPr>
            <a:xfrm>
              <a:off x="685800" y="3848100"/>
              <a:ext cx="10820400" cy="609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85800" y="3848100"/>
              <a:ext cx="38100" cy="6096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85647" y="3962400"/>
              <a:ext cx="7907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不可逆账本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84123" y="4171950"/>
              <a:ext cx="509831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FleetLedger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 先扣账、后派发——操作前风险已定价，</a:t>
              </a: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事后不可抵赖</a:t>
              </a:r>
            </a:p>
          </p:txBody>
        </p:sp>
      </p:grpSp>
      <p:grpSp>
        <p:nvGrpSpPr>
          <p:cNvPr id="49" name="contrast-existing"/>
          <p:cNvGrpSpPr/>
          <p:nvPr/>
        </p:nvGrpSpPr>
        <p:grpSpPr>
          <a:xfrm>
            <a:off x="685800" y="4724400"/>
            <a:ext cx="5257800" cy="1143000"/>
            <a:chOff x="685800" y="4724400"/>
            <a:chExt cx="5257800" cy="1143000"/>
          </a:xfrm>
        </p:grpSpPr>
        <p:sp>
          <p:nvSpPr>
            <p:cNvPr id="46" name="Rectangle 46"/>
            <p:cNvSpPr/>
            <p:nvPr/>
          </p:nvSpPr>
          <p:spPr>
            <a:xfrm>
              <a:off x="685800" y="4724400"/>
              <a:ext cx="5257800" cy="1143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44499" y="4876800"/>
              <a:ext cx="16389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现有方案 ＝ 建议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46404" y="5219700"/>
              <a:ext cx="2008632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应用层 guardrail / 策略文件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写在上下文里——模型可以不听</a:t>
              </a:r>
            </a:p>
          </p:txBody>
        </p:sp>
      </p:grpSp>
      <p:grpSp>
        <p:nvGrpSpPr>
          <p:cNvPr id="53" name="contrast-laos"/>
          <p:cNvGrpSpPr/>
          <p:nvPr/>
        </p:nvGrpSpPr>
        <p:grpSpPr>
          <a:xfrm>
            <a:off x="6248400" y="4724400"/>
            <a:ext cx="5257800" cy="1143000"/>
            <a:chOff x="6248400" y="4724400"/>
            <a:chExt cx="5257800" cy="1143000"/>
          </a:xfrm>
        </p:grpSpPr>
        <p:sp>
          <p:nvSpPr>
            <p:cNvPr id="50" name="Rectangle 50"/>
            <p:cNvSpPr/>
            <p:nvPr/>
          </p:nvSpPr>
          <p:spPr>
            <a:xfrm>
              <a:off x="6248400" y="4724400"/>
              <a:ext cx="5257800" cy="11430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07099" y="4876800"/>
              <a:ext cx="122360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laos ＝ 强制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509004" y="5219700"/>
              <a:ext cx="2634615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闸门在执行路径上，绕不过去</a:t>
              </a:r>
              <a:b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越界在第 2 环即拒，驱动根本不被触达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54" name="Line 5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351580" y="361950"/>
              <a:ext cx="11593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07 / 15 · 壁垒二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7416464" cy="747903"/>
            <a:chOff x="671322" y="1104900"/>
            <a:chExt cx="7416464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16917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壁垒 · 二 端侧听觉栈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741646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端侧听觉栈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全自研</a:t>
              </a:r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：纯 stdlib、零云端依赖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80847" y="1962150"/>
            <a:ext cx="2080100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六层信号流 · 端侧 · 全自研</a:t>
            </a:r>
          </a:p>
        </p:txBody>
      </p:sp>
      <p:grpSp>
        <p:nvGrpSpPr>
          <p:cNvPr id="34" name="audio-stack"/>
          <p:cNvGrpSpPr/>
          <p:nvPr/>
        </p:nvGrpSpPr>
        <p:grpSpPr>
          <a:xfrm>
            <a:off x="685800" y="2247900"/>
            <a:ext cx="5715000" cy="3086100"/>
            <a:chOff x="685800" y="2247900"/>
            <a:chExt cx="5715000" cy="3086100"/>
          </a:xfrm>
        </p:grpSpPr>
        <p:sp>
          <p:nvSpPr>
            <p:cNvPr id="10" name="Rectangle 10"/>
            <p:cNvSpPr/>
            <p:nvPr/>
          </p:nvSpPr>
          <p:spPr>
            <a:xfrm>
              <a:off x="685800" y="2247900"/>
              <a:ext cx="5715000" cy="419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9638" y="2413000"/>
              <a:ext cx="1503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L1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88923" y="2362200"/>
              <a:ext cx="141961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VAD 语音活动检测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3543300" y="2676525"/>
              <a:ext cx="1" cy="95250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14" name="Rectangle 14"/>
            <p:cNvSpPr/>
            <p:nvPr/>
          </p:nvSpPr>
          <p:spPr>
            <a:xfrm>
              <a:off x="685800" y="2781300"/>
              <a:ext cx="5715000" cy="419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9638" y="2946400"/>
              <a:ext cx="1503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L2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88923" y="2895600"/>
              <a:ext cx="136122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BS.1770-4 响度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844222" y="2908300"/>
              <a:ext cx="1333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−23.00 LUFS ±0.1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3543300" y="3209925"/>
              <a:ext cx="1" cy="95250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85800" y="3314700"/>
              <a:ext cx="5715000" cy="419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09638" y="3479800"/>
              <a:ext cx="1503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L3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88923" y="3429000"/>
              <a:ext cx="198088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Goertzel 双耳 ILD / IPD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3543300" y="3743325"/>
              <a:ext cx="1" cy="95250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85800" y="3848100"/>
              <a:ext cx="5715000" cy="419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09638" y="4013200"/>
              <a:ext cx="1503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L4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88923" y="3962400"/>
              <a:ext cx="128553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麦克风几何 MPE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3543300" y="4276725"/>
              <a:ext cx="1" cy="95250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85800" y="4381500"/>
              <a:ext cx="5715000" cy="419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9638" y="4546600"/>
              <a:ext cx="1503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L5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88923" y="4495800"/>
              <a:ext cx="94091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FOA 编解码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3543300" y="4810125"/>
              <a:ext cx="1" cy="95250"/>
            </a:xfrm>
            <a:prstGeom prst="line">
              <a:avLst/>
            </a:prstGeom>
            <a:noFill/>
            <a:ln w="14288">
              <a:solidFill>
                <a:srgbClr val="8A8A93"/>
              </a:solidFill>
              <a:tailEnd type="triangle" w="lg" len="lg"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85800" y="4914900"/>
              <a:ext cx="5715000" cy="419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9638" y="5080000"/>
              <a:ext cx="1503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L6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288923" y="5029200"/>
              <a:ext cx="171047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ShoNet 声源定位复现</a:t>
              </a:r>
            </a:p>
          </p:txBody>
        </p:sp>
      </p:grpSp>
      <p:grpSp>
        <p:nvGrpSpPr>
          <p:cNvPr id="38" name="lufs-anchor"/>
          <p:cNvGrpSpPr/>
          <p:nvPr/>
        </p:nvGrpSpPr>
        <p:grpSpPr>
          <a:xfrm>
            <a:off x="6762750" y="1962150"/>
            <a:ext cx="2529371" cy="1013778"/>
            <a:chOff x="6762750" y="1962150"/>
            <a:chExt cx="2529371" cy="1013778"/>
          </a:xfrm>
        </p:grpSpPr>
        <p:sp>
          <p:nvSpPr>
            <p:cNvPr id="35" name="TextBox 35"/>
            <p:cNvSpPr txBox="1"/>
            <p:nvPr/>
          </p:nvSpPr>
          <p:spPr>
            <a:xfrm>
              <a:off x="6776847" y="1962150"/>
              <a:ext cx="20031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响度校准锚点 · 与标准对齐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762750" y="2165350"/>
              <a:ext cx="2529371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−23.00</a:t>
              </a:r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LUFS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76085" y="2755900"/>
              <a:ext cx="24024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偏差 ±0.1 以内——复现 R128 校准点</a:t>
              </a:r>
            </a:p>
          </p:txBody>
        </p:sp>
      </p:grpSp>
      <p:grpSp>
        <p:nvGrpSpPr>
          <p:cNvPr id="49" name="duplex-trio"/>
          <p:cNvGrpSpPr/>
          <p:nvPr/>
        </p:nvGrpSpPr>
        <p:grpSpPr>
          <a:xfrm>
            <a:off x="6776847" y="3257550"/>
            <a:ext cx="2340940" cy="1091946"/>
            <a:chOff x="6776847" y="3257550"/>
            <a:chExt cx="2340940" cy="1091946"/>
          </a:xfrm>
        </p:grpSpPr>
        <p:sp>
          <p:nvSpPr>
            <p:cNvPr id="39" name="TextBox 39"/>
            <p:cNvSpPr txBox="1"/>
            <p:nvPr/>
          </p:nvSpPr>
          <p:spPr>
            <a:xfrm>
              <a:off x="6776847" y="3257550"/>
              <a:ext cx="95291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全双工三件套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781800" y="3505200"/>
              <a:ext cx="190500" cy="190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00869" y="353377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118604" y="350520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时序度量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781800" y="3810000"/>
              <a:ext cx="190500" cy="190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800869" y="383857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118604" y="3810000"/>
              <a:ext cx="19991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speak-hold-stop 轮转策略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781800" y="4114800"/>
              <a:ext cx="190500" cy="190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800869" y="414337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118604" y="411480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打断即作废轮缓冲</a:t>
              </a:r>
            </a:p>
          </p:txBody>
        </p:sp>
      </p:grpSp>
      <p:grpSp>
        <p:nvGrpSpPr>
          <p:cNvPr id="54" name="why-valuable"/>
          <p:cNvGrpSpPr/>
          <p:nvPr/>
        </p:nvGrpSpPr>
        <p:grpSpPr>
          <a:xfrm>
            <a:off x="6781800" y="4686300"/>
            <a:ext cx="4724400" cy="1181100"/>
            <a:chOff x="6781800" y="4686300"/>
            <a:chExt cx="4724400" cy="1181100"/>
          </a:xfrm>
        </p:grpSpPr>
        <p:sp>
          <p:nvSpPr>
            <p:cNvPr id="50" name="Rectangle 50"/>
            <p:cNvSpPr/>
            <p:nvPr/>
          </p:nvSpPr>
          <p:spPr>
            <a:xfrm>
              <a:off x="6781800" y="4686300"/>
              <a:ext cx="4724400" cy="1181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781800" y="4686300"/>
              <a:ext cx="38100" cy="1181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043547" y="4838700"/>
              <a:ext cx="7907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为什么值钱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042023" y="5067300"/>
              <a:ext cx="2833370" cy="7456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语音是 Agent 最自然入口，</a:t>
              </a: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端侧＝隐私</a:t>
              </a:r>
              <a:b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合规的唯一安全区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——而市面方案全部</a:t>
              </a:r>
              <a:b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依赖云端大模型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55" name="Line 55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351580" y="361950"/>
              <a:ext cx="11593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08 / 15 · 壁垒三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7702296" cy="747903"/>
            <a:chOff x="671322" y="1104900"/>
            <a:chExt cx="7702296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15194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壁垒 · 三 合规先发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770229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合规是入场券：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功课已完成，经得起逐行对标</a:t>
              </a:r>
            </a:p>
          </p:txBody>
        </p:sp>
      </p:grpSp>
      <p:grpSp>
        <p:nvGrpSpPr>
          <p:cNvPr id="15" name="law-homework"/>
          <p:cNvGrpSpPr/>
          <p:nvPr/>
        </p:nvGrpSpPr>
        <p:grpSpPr>
          <a:xfrm>
            <a:off x="678561" y="2133600"/>
            <a:ext cx="10827639" cy="1205802"/>
            <a:chOff x="678561" y="2133600"/>
            <a:chExt cx="10827639" cy="1205802"/>
          </a:xfrm>
        </p:grpSpPr>
        <p:sp>
          <p:nvSpPr>
            <p:cNvPr id="9" name="TextBox 9"/>
            <p:cNvSpPr txBox="1"/>
            <p:nvPr/>
          </p:nvSpPr>
          <p:spPr>
            <a:xfrm>
              <a:off x="680847" y="2133600"/>
              <a:ext cx="12773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已完成的法条功课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685800" y="24574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78561" y="2622550"/>
              <a:ext cx="17188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EU AI Act 禁令清单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469511" y="2622550"/>
              <a:ext cx="16386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PIPL 声纹单独同意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8561" y="3060700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录音触发四红线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717673" y="3086100"/>
              <a:ext cx="406866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显式 </a:t>
              </a:r>
              <a:r>
                <a:rPr lang="en-US" sz="128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syscall</a:t>
              </a: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en-US" sz="128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LAOS_REC=0</a:t>
              </a: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全量审计 · ASR 本地</a:t>
              </a:r>
            </a:p>
          </p:txBody>
        </p:sp>
      </p:grpSp>
      <p:grpSp>
        <p:nvGrpSpPr>
          <p:cNvPr id="19" name="refusal-evidence"/>
          <p:cNvGrpSpPr/>
          <p:nvPr/>
        </p:nvGrpSpPr>
        <p:grpSpPr>
          <a:xfrm>
            <a:off x="678561" y="3943350"/>
            <a:ext cx="10827639" cy="786702"/>
            <a:chOff x="678561" y="3943350"/>
            <a:chExt cx="10827639" cy="786702"/>
          </a:xfrm>
        </p:grpSpPr>
        <p:sp>
          <p:nvSpPr>
            <p:cNvPr id="16" name="TextBox 16"/>
            <p:cNvSpPr txBox="1"/>
            <p:nvPr/>
          </p:nvSpPr>
          <p:spPr>
            <a:xfrm>
              <a:off x="680847" y="3943350"/>
              <a:ext cx="95291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拒绝清单实证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85800" y="42672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8561" y="4451350"/>
              <a:ext cx="46214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对标开源产品的</a:t>
              </a:r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七个越界文件</a:t>
              </a:r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逐行分析之后——</a:t>
              </a:r>
              <a:r>
                <a:rPr lang="zh-CN" sz="14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一行不抄</a:t>
              </a:r>
            </a:p>
          </p:txBody>
        </p:sp>
      </p:grpSp>
      <p:grpSp>
        <p:nvGrpSpPr>
          <p:cNvPr id="23" name="ticket-band"/>
          <p:cNvGrpSpPr/>
          <p:nvPr/>
        </p:nvGrpSpPr>
        <p:grpSpPr>
          <a:xfrm>
            <a:off x="685800" y="5257800"/>
            <a:ext cx="10820400" cy="609600"/>
            <a:chOff x="685800" y="5257800"/>
            <a:chExt cx="10820400" cy="609600"/>
          </a:xfrm>
        </p:grpSpPr>
        <p:sp>
          <p:nvSpPr>
            <p:cNvPr id="20" name="Rectangle 20"/>
            <p:cNvSpPr/>
            <p:nvPr/>
          </p:nvSpPr>
          <p:spPr>
            <a:xfrm>
              <a:off x="685800" y="5257800"/>
              <a:ext cx="10820400" cy="60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85647" y="5372100"/>
              <a:ext cx="3040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卖点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361" y="5556250"/>
              <a:ext cx="54411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企业采购 Agent 基础设施时，「可审计」是</a:t>
              </a:r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入场券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，不是加分项</a:t>
              </a:r>
            </a:p>
          </p:txBody>
        </p:sp>
      </p:grpSp>
      <p:grpSp>
        <p:nvGrpSpPr>
          <p:cNvPr id="27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24" name="Line 2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210228" y="361950"/>
              <a:ext cx="13007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09 / 15 · 竞争格局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6427562" cy="747903"/>
            <a:chOff x="671322" y="1104900"/>
            <a:chExt cx="6427562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9270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竞争 · 格局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642756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四象限中，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只有 laos 站在执行路径上</a:t>
              </a:r>
            </a:p>
          </p:txBody>
        </p:sp>
      </p:grpSp>
      <p:grpSp>
        <p:nvGrpSpPr>
          <p:cNvPr id="29" name="quadrant-field"/>
          <p:cNvGrpSpPr/>
          <p:nvPr/>
        </p:nvGrpSpPr>
        <p:grpSpPr>
          <a:xfrm>
            <a:off x="680847" y="1828800"/>
            <a:ext cx="5915406" cy="3658743"/>
            <a:chOff x="680847" y="1828800"/>
            <a:chExt cx="5915406" cy="3658743"/>
          </a:xfrm>
        </p:grpSpPr>
        <p:sp>
          <p:nvSpPr>
            <p:cNvPr id="9" name="Rectangle 9"/>
            <p:cNvSpPr/>
            <p:nvPr/>
          </p:nvSpPr>
          <p:spPr>
            <a:xfrm>
              <a:off x="685800" y="2000250"/>
              <a:ext cx="5905500" cy="3238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Line 10"/>
            <p:cNvSpPr/>
            <p:nvPr/>
          </p:nvSpPr>
          <p:spPr>
            <a:xfrm>
              <a:off x="3638550" y="2000250"/>
              <a:ext cx="9525" cy="3238500"/>
            </a:xfrm>
            <a:custGeom>
              <a:avLst/>
              <a:gdLst/>
              <a:ahLst/>
              <a:cxnLst/>
              <a:rect l="l" t="t" r="r" b="b"/>
              <a:pathLst>
                <a:path w="9525" h="3238500">
                  <a:moveTo>
                    <a:pt x="0" y="0"/>
                  </a:moveTo>
                  <a:lnTo>
                    <a:pt x="0" y="3238500"/>
                  </a:lnTo>
                </a:path>
              </a:pathLst>
            </a:custGeom>
            <a:noFill/>
            <a:ln w="14288">
              <a:solidFill>
                <a:srgbClr val="E3E3E8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685800" y="3619500"/>
              <a:ext cx="5905500" cy="9525"/>
            </a:xfrm>
            <a:custGeom>
              <a:avLst/>
              <a:gdLst/>
              <a:ahLst/>
              <a:cxnLst/>
              <a:rect l="l" t="t" r="r" b="b"/>
              <a:pathLst>
                <a:path w="5905500" h="9525">
                  <a:moveTo>
                    <a:pt x="0" y="0"/>
                  </a:moveTo>
                  <a:lnTo>
                    <a:pt x="5905500" y="0"/>
                  </a:lnTo>
                </a:path>
              </a:pathLst>
            </a:custGeom>
            <a:noFill/>
            <a:ln w="14288">
              <a:solidFill>
                <a:srgbClr val="E3E3E8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501669" y="1828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强制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501669" y="52959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0847" y="5295900"/>
              <a:ext cx="13330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L0 约定层（框架/壳）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891425" y="5295900"/>
              <a:ext cx="70482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L3 libOS 层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1838325" y="4505325"/>
              <a:ext cx="133350" cy="133350"/>
            </a:xfrm>
            <a:prstGeom prst="ellipse">
              <a:avLst/>
            </a:prstGeom>
            <a:solidFill>
              <a:srgbClr val="8A8A9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640053" y="4762500"/>
              <a:ext cx="52989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框架派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09667" y="4972050"/>
              <a:ext cx="139066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LangGraph 等 · 无强制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1838325" y="3076575"/>
              <a:ext cx="133350" cy="133350"/>
            </a:xfrm>
            <a:prstGeom prst="ellipse">
              <a:avLst/>
            </a:prstGeom>
            <a:solidFill>
              <a:srgbClr val="8A8A9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640053" y="2667000"/>
              <a:ext cx="52989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端侧派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21740" y="2876550"/>
              <a:ext cx="13665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各家 SDK · 无 OS 语义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14950" y="4410075"/>
              <a:ext cx="133350" cy="133350"/>
            </a:xfrm>
            <a:prstGeom prst="ellipse">
              <a:avLst/>
            </a:prstGeom>
            <a:solidFill>
              <a:srgbClr val="8A8A9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116678" y="3981450"/>
              <a:ext cx="52989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治理派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75212" y="4191000"/>
              <a:ext cx="161282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策略引擎 · 不在执行路径上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286375" y="2428875"/>
              <a:ext cx="190500" cy="19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178686" y="2051050"/>
              <a:ext cx="4058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laos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883313" y="2743200"/>
              <a:ext cx="9966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L2 用户态强制层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65317" y="2914650"/>
              <a:ext cx="163261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强制 + 端侧驱动 + 审计账本</a:t>
              </a:r>
            </a:p>
          </p:txBody>
        </p:sp>
      </p:grpSp>
      <p:grpSp>
        <p:nvGrpSpPr>
          <p:cNvPr id="36" name="camp-summary"/>
          <p:cNvGrpSpPr/>
          <p:nvPr/>
        </p:nvGrpSpPr>
        <p:grpSpPr>
          <a:xfrm>
            <a:off x="7042023" y="2095500"/>
            <a:ext cx="4464177" cy="1983867"/>
            <a:chOff x="7042023" y="2095500"/>
            <a:chExt cx="4464177" cy="1983867"/>
          </a:xfrm>
        </p:grpSpPr>
        <p:sp>
          <p:nvSpPr>
            <p:cNvPr id="30" name="TextBox 30"/>
            <p:cNvSpPr txBox="1"/>
            <p:nvPr/>
          </p:nvSpPr>
          <p:spPr>
            <a:xfrm>
              <a:off x="7043547" y="2095500"/>
              <a:ext cx="7907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四派一句话</a:t>
              </a:r>
            </a:p>
          </p:txBody>
        </p:sp>
        <p:sp>
          <p:nvSpPr>
            <p:cNvPr id="31" name="Line 31"/>
            <p:cNvSpPr/>
            <p:nvPr/>
          </p:nvSpPr>
          <p:spPr>
            <a:xfrm>
              <a:off x="7048500" y="2400300"/>
              <a:ext cx="4457700" cy="9525"/>
            </a:xfrm>
            <a:custGeom>
              <a:avLst/>
              <a:gdLst/>
              <a:ahLst/>
              <a:cxnLst/>
              <a:rect l="l" t="t" r="r" b="b"/>
              <a:pathLst>
                <a:path w="4457700" h="9525">
                  <a:moveTo>
                    <a:pt x="0" y="0"/>
                  </a:moveTo>
                  <a:lnTo>
                    <a:pt x="4457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042023" y="2590800"/>
              <a:ext cx="249703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框架派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　LangGraph 等——</a:t>
              </a:r>
              <a:r>
                <a:rPr lang="zh-CN" sz="12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无强制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042023" y="2990850"/>
              <a:ext cx="278720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治理派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　策略引擎——</a:t>
              </a:r>
              <a:r>
                <a:rPr lang="zh-CN" sz="12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不在执行路径上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42023" y="3390900"/>
              <a:ext cx="246500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端侧派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　各家 SDK——</a:t>
              </a:r>
              <a:r>
                <a:rPr lang="zh-CN" sz="12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无 OS 语义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42023" y="3829050"/>
              <a:ext cx="346741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laos</a:t>
              </a:r>
              <a:r>
                <a:rPr lang="zh-CN" sz="12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 xml:space="preserve">　唯一：执行路径上的强制＋端侧＋账本</a:t>
              </a:r>
            </a:p>
          </p:txBody>
        </p:sp>
      </p:grpSp>
      <p:grpSp>
        <p:nvGrpSpPr>
          <p:cNvPr id="41" name="rutgers-note"/>
          <p:cNvGrpSpPr/>
          <p:nvPr/>
        </p:nvGrpSpPr>
        <p:grpSpPr>
          <a:xfrm>
            <a:off x="7048500" y="4495800"/>
            <a:ext cx="4457700" cy="742950"/>
            <a:chOff x="7048500" y="4495800"/>
            <a:chExt cx="4457700" cy="742950"/>
          </a:xfrm>
        </p:grpSpPr>
        <p:sp>
          <p:nvSpPr>
            <p:cNvPr id="37" name="Rectangle 37"/>
            <p:cNvSpPr/>
            <p:nvPr/>
          </p:nvSpPr>
          <p:spPr>
            <a:xfrm>
              <a:off x="7048500" y="4495800"/>
              <a:ext cx="4457700" cy="7429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048500" y="4495800"/>
              <a:ext cx="38100" cy="7429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309485" y="4622800"/>
              <a:ext cx="2539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学术对照：Rutgers AIOS 是</a:t>
              </a:r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调度优先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09485" y="4889500"/>
              <a:ext cx="2205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 laos 互补不互竞（调研结论）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42" name="Line 42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351580" y="361950"/>
              <a:ext cx="11593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10 / 15 · 里程碑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8202022" cy="747903"/>
            <a:chOff x="671322" y="1104900"/>
            <a:chExt cx="8202022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26502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证据 · 里程碑与进展（全部真实）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820202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30 天 12 个版本、765 项测试：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进展全部可验证</a:t>
              </a:r>
            </a:p>
          </p:txBody>
        </p:sp>
      </p:grpSp>
      <p:grpSp>
        <p:nvGrpSpPr>
          <p:cNvPr id="24" name="traction-numbers"/>
          <p:cNvGrpSpPr/>
          <p:nvPr/>
        </p:nvGrpSpPr>
        <p:grpSpPr>
          <a:xfrm>
            <a:off x="666750" y="2070100"/>
            <a:ext cx="10019157" cy="1394778"/>
            <a:chOff x="666750" y="2070100"/>
            <a:chExt cx="10019157" cy="1394778"/>
          </a:xfrm>
        </p:grpSpPr>
        <p:sp>
          <p:nvSpPr>
            <p:cNvPr id="9" name="TextBox 9"/>
            <p:cNvSpPr txBox="1"/>
            <p:nvPr/>
          </p:nvSpPr>
          <p:spPr>
            <a:xfrm>
              <a:off x="666750" y="2070100"/>
              <a:ext cx="644496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78561" y="2755900"/>
              <a:ext cx="10754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MINOR 版本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80085" y="3035300"/>
              <a:ext cx="2116582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v0.1.0 → v0.12.0 · 30 天</a:t>
              </a:r>
              <a:b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每版本 tag+Release+CHANGELOG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3200400" y="2133600"/>
              <a:ext cx="9525" cy="1257300"/>
            </a:xfrm>
            <a:custGeom>
              <a:avLst/>
              <a:gdLst/>
              <a:ahLst/>
              <a:cxnLst/>
              <a:rect l="l" t="t" r="r" b="b"/>
              <a:pathLst>
                <a:path w="9525" h="1257300">
                  <a:moveTo>
                    <a:pt x="0" y="0"/>
                  </a:moveTo>
                  <a:lnTo>
                    <a:pt x="0" y="125730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486150" y="2070100"/>
              <a:ext cx="947694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765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97961" y="275590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测试全绿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499485" y="3035300"/>
              <a:ext cx="2230374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主库 415 / 隔离区 279 / 复现区 71</a:t>
              </a:r>
              <a:b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TDD 先红后绿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6019800" y="2133600"/>
              <a:ext cx="9525" cy="1257300"/>
            </a:xfrm>
            <a:custGeom>
              <a:avLst/>
              <a:gdLst/>
              <a:ahLst/>
              <a:cxnLst/>
              <a:rect l="l" t="t" r="r" b="b"/>
              <a:pathLst>
                <a:path w="9525" h="1257300">
                  <a:moveTo>
                    <a:pt x="0" y="0"/>
                  </a:moveTo>
                  <a:lnTo>
                    <a:pt x="0" y="125730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05550" y="2070100"/>
              <a:ext cx="1857287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19,792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17361" y="2755900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论文全量语料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18885" y="3035300"/>
              <a:ext cx="2130806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双会议全量遍历</a:t>
              </a:r>
              <a:b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另 3,724 星标库分级 · 47 份调研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8839200" y="2133600"/>
              <a:ext cx="9525" cy="1257300"/>
            </a:xfrm>
            <a:custGeom>
              <a:avLst/>
              <a:gdLst/>
              <a:ahLst/>
              <a:cxnLst/>
              <a:rect l="l" t="t" r="r" b="b"/>
              <a:pathLst>
                <a:path w="9525" h="1257300">
                  <a:moveTo>
                    <a:pt x="0" y="0"/>
                  </a:moveTo>
                  <a:lnTo>
                    <a:pt x="0" y="125730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124950" y="2070100"/>
              <a:ext cx="341298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136761" y="275590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复现实证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38285" y="3035300"/>
              <a:ext cx="1547622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响度 / ANC / DOA / MPE</a:t>
              </a:r>
              <a:b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与官方实现逐行对齐</a:t>
              </a:r>
            </a:p>
          </p:txBody>
        </p:sp>
      </p:grpSp>
      <p:grpSp>
        <p:nvGrpSpPr>
          <p:cNvPr id="29" name="honest-line"/>
          <p:cNvGrpSpPr/>
          <p:nvPr/>
        </p:nvGrpSpPr>
        <p:grpSpPr>
          <a:xfrm>
            <a:off x="685800" y="3848100"/>
            <a:ext cx="10820400" cy="609600"/>
            <a:chOff x="685800" y="3848100"/>
            <a:chExt cx="10820400" cy="609600"/>
          </a:xfrm>
        </p:grpSpPr>
        <p:sp>
          <p:nvSpPr>
            <p:cNvPr id="25" name="Rectangle 25"/>
            <p:cNvSpPr/>
            <p:nvPr/>
          </p:nvSpPr>
          <p:spPr>
            <a:xfrm>
              <a:off x="685800" y="3848100"/>
              <a:ext cx="10820400" cy="609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85800" y="3848100"/>
              <a:ext cx="38100" cy="6096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85647" y="3962400"/>
              <a:ext cx="6284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诚实呈现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4123" y="4171950"/>
              <a:ext cx="579175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开源一个月，社区冷启动期——</a:t>
              </a: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尚无外部贡献者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；增长曲线看 issue / PR 转化</a:t>
              </a:r>
            </a:p>
          </p:txBody>
        </p:sp>
      </p:grpSp>
      <p:grpSp>
        <p:nvGrpSpPr>
          <p:cNvPr id="47" name="release-timeline"/>
          <p:cNvGrpSpPr/>
          <p:nvPr/>
        </p:nvGrpSpPr>
        <p:grpSpPr>
          <a:xfrm>
            <a:off x="638175" y="4819650"/>
            <a:ext cx="10915650" cy="1012825"/>
            <a:chOff x="638175" y="4819650"/>
            <a:chExt cx="10915650" cy="1012825"/>
          </a:xfrm>
        </p:grpSpPr>
        <p:sp>
          <p:nvSpPr>
            <p:cNvPr id="30" name="TextBox 30"/>
            <p:cNvSpPr txBox="1"/>
            <p:nvPr/>
          </p:nvSpPr>
          <p:spPr>
            <a:xfrm>
              <a:off x="680847" y="4819650"/>
              <a:ext cx="106455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30 天发布节奏</a:t>
              </a:r>
            </a:p>
          </p:txBody>
        </p:sp>
        <p:sp>
          <p:nvSpPr>
            <p:cNvPr id="31" name="Line 31"/>
            <p:cNvSpPr/>
            <p:nvPr/>
          </p:nvSpPr>
          <p:spPr>
            <a:xfrm>
              <a:off x="685800" y="5486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E3E3E8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638175" y="54387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1634490" y="5448300"/>
              <a:ext cx="76200" cy="76200"/>
            </a:xfrm>
            <a:prstGeom prst="ellipse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2622232" y="5448300"/>
              <a:ext cx="76200" cy="76200"/>
            </a:xfrm>
            <a:prstGeom prst="ellipse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3609022" y="5448300"/>
              <a:ext cx="76200" cy="76200"/>
            </a:xfrm>
            <a:prstGeom prst="ellipse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4595812" y="5448300"/>
              <a:ext cx="76200" cy="76200"/>
            </a:xfrm>
            <a:prstGeom prst="ellipse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5583555" y="5448300"/>
              <a:ext cx="76200" cy="76200"/>
            </a:xfrm>
            <a:prstGeom prst="ellipse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6570345" y="5448300"/>
              <a:ext cx="76200" cy="76200"/>
            </a:xfrm>
            <a:prstGeom prst="ellipse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7558088" y="5448300"/>
              <a:ext cx="76200" cy="76200"/>
            </a:xfrm>
            <a:prstGeom prst="ellipse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8544878" y="5448300"/>
              <a:ext cx="76200" cy="76200"/>
            </a:xfrm>
            <a:prstGeom prst="ellipse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9531668" y="5448300"/>
              <a:ext cx="76200" cy="76200"/>
            </a:xfrm>
            <a:prstGeom prst="ellipse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10519410" y="5448300"/>
              <a:ext cx="76200" cy="76200"/>
            </a:xfrm>
            <a:prstGeom prst="ellipse">
              <a:avLst/>
            </a:prstGeom>
            <a:solidFill>
              <a:srgbClr val="E3E3E8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11458575" y="54387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81038" y="5670550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v0.1.0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057670" y="5670550"/>
              <a:ext cx="207666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8A8A93"/>
                  </a:solidFill>
                  <a:latin typeface="Consolas"/>
                  <a:ea typeface="Microsoft YaHei"/>
                  <a:cs typeface="Consolas"/>
                </a:rPr>
                <a:t>每版本有 tag · Release · CHANGELOG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076442" y="5670550"/>
              <a:ext cx="43452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v0.12.0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48" name="Line 48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210228" y="361950"/>
              <a:ext cx="13007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11 / 15 · 商业模式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5400294" cy="747903"/>
            <a:chOff x="671322" y="1104900"/>
            <a:chExt cx="5400294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10993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商业 · 三条线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先开源建标准，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卖的是「敢用」</a:t>
              </a:r>
            </a:p>
          </p:txBody>
        </p:sp>
      </p:grpSp>
      <p:grpSp>
        <p:nvGrpSpPr>
          <p:cNvPr id="16" name="line-middleware"/>
          <p:cNvGrpSpPr/>
          <p:nvPr/>
        </p:nvGrpSpPr>
        <p:grpSpPr>
          <a:xfrm>
            <a:off x="685800" y="2000250"/>
            <a:ext cx="3390900" cy="2857500"/>
            <a:chOff x="685800" y="2000250"/>
            <a:chExt cx="3390900" cy="2857500"/>
          </a:xfrm>
        </p:grpSpPr>
        <p:sp>
          <p:nvSpPr>
            <p:cNvPr id="9" name="Rectangle 9"/>
            <p:cNvSpPr/>
            <p:nvPr/>
          </p:nvSpPr>
          <p:spPr>
            <a:xfrm>
              <a:off x="685800" y="2000250"/>
              <a:ext cx="3390900" cy="2857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685800" y="2000250"/>
              <a:ext cx="33909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3356" y="22796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4499" y="2660650"/>
              <a:ext cx="1661916" cy="5947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企业私有化</a:t>
              </a:r>
              <a:b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 治理中间件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952500" y="3352800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5261" y="3536950"/>
              <a:ext cx="13281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License + SLA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404" y="3898900"/>
              <a:ext cx="187909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闸门链 + FleetLedger 账本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打包进企业 MCP 网关</a:t>
              </a:r>
            </a:p>
          </p:txBody>
        </p:sp>
      </p:grpSp>
      <p:grpSp>
        <p:nvGrpSpPr>
          <p:cNvPr id="24" name="line-saas"/>
          <p:cNvGrpSpPr/>
          <p:nvPr/>
        </p:nvGrpSpPr>
        <p:grpSpPr>
          <a:xfrm>
            <a:off x="4400550" y="2000250"/>
            <a:ext cx="3390900" cy="2857500"/>
            <a:chOff x="4400550" y="2000250"/>
            <a:chExt cx="339090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400550" y="2000250"/>
              <a:ext cx="3390900" cy="2857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400550" y="2000250"/>
              <a:ext cx="33909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658106" y="22796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59249" y="2660650"/>
              <a:ext cx="1219962" cy="5947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审计合规报表</a:t>
              </a:r>
              <a:b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SaaS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4667250" y="3352800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60011" y="3536950"/>
              <a:ext cx="16502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按 Agent 数量订阅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61154" y="3898900"/>
              <a:ext cx="124663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FleetLedger 数据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→ 合规证据链导出</a:t>
              </a:r>
            </a:p>
          </p:txBody>
        </p:sp>
      </p:grpSp>
      <p:grpSp>
        <p:nvGrpSpPr>
          <p:cNvPr id="32" name="line-sdk"/>
          <p:cNvGrpSpPr/>
          <p:nvPr/>
        </p:nvGrpSpPr>
        <p:grpSpPr>
          <a:xfrm>
            <a:off x="8115300" y="2000250"/>
            <a:ext cx="3390900" cy="2857500"/>
            <a:chOff x="8115300" y="2000250"/>
            <a:chExt cx="3390900" cy="2857500"/>
          </a:xfrm>
        </p:grpSpPr>
        <p:sp>
          <p:nvSpPr>
            <p:cNvPr id="25" name="Rectangle 25"/>
            <p:cNvSpPr/>
            <p:nvPr/>
          </p:nvSpPr>
          <p:spPr>
            <a:xfrm>
              <a:off x="8115300" y="2000250"/>
              <a:ext cx="3390900" cy="2857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8115300" y="2000250"/>
              <a:ext cx="33909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72856" y="227965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73999" y="2660650"/>
              <a:ext cx="1229493" cy="5947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端侧语音 SDK</a:t>
              </a:r>
              <a:b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授权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8382000" y="3352800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74761" y="3536950"/>
              <a:ext cx="16489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OEM / 设备厂按量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75904" y="3898900"/>
              <a:ext cx="92659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零依赖听觉栈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+ 全双工轮转</a:t>
              </a:r>
            </a:p>
          </p:txBody>
        </p:sp>
      </p:grpSp>
      <p:grpSp>
        <p:nvGrpSpPr>
          <p:cNvPr id="36" name="pricing-philosophy"/>
          <p:cNvGrpSpPr/>
          <p:nvPr/>
        </p:nvGrpSpPr>
        <p:grpSpPr>
          <a:xfrm>
            <a:off x="685800" y="5181600"/>
            <a:ext cx="10820400" cy="609600"/>
            <a:chOff x="685800" y="5181600"/>
            <a:chExt cx="10820400" cy="609600"/>
          </a:xfrm>
        </p:grpSpPr>
        <p:sp>
          <p:nvSpPr>
            <p:cNvPr id="33" name="Rectangle 33"/>
            <p:cNvSpPr/>
            <p:nvPr/>
          </p:nvSpPr>
          <p:spPr>
            <a:xfrm>
              <a:off x="685800" y="5181600"/>
              <a:ext cx="10820400" cy="609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85647" y="5295900"/>
              <a:ext cx="6284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定价哲学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84123" y="5505450"/>
              <a:ext cx="416571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先开源内核建标准，卖的是</a:t>
              </a: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「敢用」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——强制层与证据链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7" name="Line 37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210228" y="361950"/>
              <a:ext cx="13007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12 / 15 · 市场空间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6551295" cy="747903"/>
            <a:chOff x="671322" y="1104900"/>
            <a:chExt cx="6551295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196095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商业 · 市场空间（示例）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65512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市场测算待完成：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先看结构，再看数字</a:t>
              </a:r>
            </a:p>
          </p:txBody>
        </p:sp>
      </p:grpSp>
      <p:grpSp>
        <p:nvGrpSpPr>
          <p:cNvPr id="11" name="scenario-badge"/>
          <p:cNvGrpSpPr/>
          <p:nvPr/>
        </p:nvGrpSpPr>
        <p:grpSpPr>
          <a:xfrm>
            <a:off x="10363200" y="1104900"/>
            <a:ext cx="1143000" cy="342900"/>
            <a:chOff x="10363200" y="1104900"/>
            <a:chExt cx="1143000" cy="342900"/>
          </a:xfrm>
        </p:grpSpPr>
        <p:sp>
          <p:nvSpPr>
            <p:cNvPr id="9" name="Rectangle 9"/>
            <p:cNvSpPr/>
            <p:nvPr/>
          </p:nvSpPr>
          <p:spPr>
            <a:xfrm>
              <a:off x="10363200" y="1104900"/>
              <a:ext cx="1143000" cy="342900"/>
            </a:xfrm>
            <a:prstGeom prst="rect">
              <a:avLst/>
            </a:pr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627436" y="11938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示例结构</a:t>
              </a:r>
            </a:p>
          </p:txBody>
        </p:sp>
      </p:grpSp>
      <p:grpSp>
        <p:nvGrpSpPr>
          <p:cNvPr id="19" name="market-nesting"/>
          <p:cNvGrpSpPr/>
          <p:nvPr/>
        </p:nvGrpSpPr>
        <p:grpSpPr>
          <a:xfrm>
            <a:off x="1143000" y="2209800"/>
            <a:ext cx="5410200" cy="3276600"/>
            <a:chOff x="1143000" y="2209800"/>
            <a:chExt cx="5410200" cy="3276600"/>
          </a:xfrm>
        </p:grpSpPr>
        <p:sp>
          <p:nvSpPr>
            <p:cNvPr id="12" name="Ellipse 12"/>
            <p:cNvSpPr/>
            <p:nvPr/>
          </p:nvSpPr>
          <p:spPr>
            <a:xfrm>
              <a:off x="1143000" y="2209800"/>
              <a:ext cx="5410200" cy="3276600"/>
            </a:xfrm>
            <a:prstGeom prst="ellipse">
              <a:avLst/>
            </a:prstGeom>
            <a:solidFill>
              <a:schemeClr val="lt2"/>
            </a:solidFill>
            <a:ln w="14288">
              <a:solidFill>
                <a:srgbClr val="E3E3E8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981200" y="2971800"/>
              <a:ext cx="3733800" cy="2133600"/>
            </a:xfrm>
            <a:prstGeom prst="ellipse">
              <a:avLst/>
            </a:prstGeom>
            <a:solidFill>
              <a:schemeClr val="lt1"/>
            </a:solidFill>
            <a:ln w="14288">
              <a:solidFill>
                <a:srgbClr val="8A8A93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2781300" y="3676650"/>
              <a:ext cx="2133600" cy="1181100"/>
            </a:xfrm>
            <a:prstGeom prst="ellipse">
              <a:avLst/>
            </a:prstGeom>
            <a:solidFill>
              <a:schemeClr val="accent2">
                <a:alpha val="8000"/>
              </a:schemeClr>
            </a:solidFill>
            <a:ln w="23812">
              <a:solidFill>
                <a:schemeClr val="accent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643022" y="2393950"/>
              <a:ext cx="24101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TAM · Agent 基础设施软件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44840" y="3213100"/>
              <a:ext cx="16065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SAM · 治理与审计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98223" y="4019550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SOM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476757" y="4337050"/>
              <a:ext cx="742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年可触达</a:t>
              </a:r>
            </a:p>
          </p:txBody>
        </p:sp>
      </p:grpSp>
      <p:grpSp>
        <p:nvGrpSpPr>
          <p:cNvPr id="29" name="market-definitions"/>
          <p:cNvGrpSpPr/>
          <p:nvPr/>
        </p:nvGrpSpPr>
        <p:grpSpPr>
          <a:xfrm>
            <a:off x="7041261" y="2476500"/>
            <a:ext cx="4464939" cy="2347278"/>
            <a:chOff x="7041261" y="2476500"/>
            <a:chExt cx="4464939" cy="2347278"/>
          </a:xfrm>
        </p:grpSpPr>
        <p:sp>
          <p:nvSpPr>
            <p:cNvPr id="20" name="Line 20"/>
            <p:cNvSpPr/>
            <p:nvPr/>
          </p:nvSpPr>
          <p:spPr>
            <a:xfrm>
              <a:off x="7048500" y="2476500"/>
              <a:ext cx="4457700" cy="9525"/>
            </a:xfrm>
            <a:custGeom>
              <a:avLst/>
              <a:gdLst/>
              <a:ahLst/>
              <a:cxnLst/>
              <a:rect l="l" t="t" r="r" b="b"/>
              <a:pathLst>
                <a:path w="4457700" h="9525">
                  <a:moveTo>
                    <a:pt x="0" y="0"/>
                  </a:moveTo>
                  <a:lnTo>
                    <a:pt x="4457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041261" y="2641600"/>
              <a:ext cx="23640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TAM　Agent 基础设施软件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42785" y="292735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示例口径，需替换为可辩护测算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7048500" y="3314700"/>
              <a:ext cx="4457700" cy="9525"/>
            </a:xfrm>
            <a:custGeom>
              <a:avLst/>
              <a:gdLst/>
              <a:ahLst/>
              <a:cxnLst/>
              <a:rect l="l" t="t" r="r" b="b"/>
              <a:pathLst>
                <a:path w="4457700" h="9525">
                  <a:moveTo>
                    <a:pt x="0" y="0"/>
                  </a:moveTo>
                  <a:lnTo>
                    <a:pt x="44577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041261" y="3479800"/>
              <a:ext cx="26161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SAM　企业 Agent 治理与审计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42785" y="3765550"/>
              <a:ext cx="17335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MCP 网关 / 策略执行细分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048500" y="4152900"/>
              <a:ext cx="4457700" cy="9525"/>
            </a:xfrm>
            <a:custGeom>
              <a:avLst/>
              <a:gdLst/>
              <a:ahLst/>
              <a:cxnLst/>
              <a:rect l="l" t="t" r="r" b="b"/>
              <a:pathLst>
                <a:path w="4457700" h="9525">
                  <a:moveTo>
                    <a:pt x="0" y="0"/>
                  </a:moveTo>
                  <a:lnTo>
                    <a:pt x="44577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041261" y="4318000"/>
              <a:ext cx="15756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SOM　3 年可触达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42785" y="4603750"/>
              <a:ext cx="2035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私有化 + 报表 + SDK 三线合计</a:t>
              </a:r>
            </a:p>
          </p:txBody>
        </p:sp>
      </p:grpSp>
      <p:grpSp>
        <p:nvGrpSpPr>
          <p:cNvPr id="33" name="market-note"/>
          <p:cNvGrpSpPr/>
          <p:nvPr/>
        </p:nvGrpSpPr>
        <p:grpSpPr>
          <a:xfrm>
            <a:off x="7048500" y="5029200"/>
            <a:ext cx="4457700" cy="876300"/>
            <a:chOff x="7048500" y="5029200"/>
            <a:chExt cx="4457700" cy="876300"/>
          </a:xfrm>
        </p:grpSpPr>
        <p:sp>
          <p:nvSpPr>
            <p:cNvPr id="30" name="Rectangle 30"/>
            <p:cNvSpPr/>
            <p:nvPr/>
          </p:nvSpPr>
          <p:spPr>
            <a:xfrm>
              <a:off x="7048500" y="5029200"/>
              <a:ext cx="4457700" cy="876300"/>
            </a:xfrm>
            <a:prstGeom prst="rect">
              <a:avLst/>
            </a:prstGeom>
            <a:solidFill>
              <a:schemeClr val="lt2"/>
            </a:solidFill>
            <a:ln w="14288">
              <a:solidFill>
                <a:schemeClr val="accent3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09485" y="5194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注：本页为</a:t>
              </a:r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结构示意（情景数据，示例）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09485" y="546100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正式投资人版将附测算模型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4" name="Line 3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351580" y="361950"/>
              <a:ext cx="11593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13 / 15 · 路线图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7604787" cy="747903"/>
            <a:chOff x="671322" y="1104900"/>
            <a:chExt cx="7604787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20899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商业 · 路线图（12 个月）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760478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12 个月：从内核稳定，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到可复制的 A 轮案例</a:t>
              </a:r>
            </a:p>
          </p:txBody>
        </p:sp>
      </p:grpSp>
      <p:grpSp>
        <p:nvGrpSpPr>
          <p:cNvPr id="17" name="quarter-chain"/>
          <p:cNvGrpSpPr/>
          <p:nvPr/>
        </p:nvGrpSpPr>
        <p:grpSpPr>
          <a:xfrm>
            <a:off x="685800" y="2000250"/>
            <a:ext cx="10553700" cy="533400"/>
            <a:chOff x="685800" y="2000250"/>
            <a:chExt cx="10553700" cy="533400"/>
          </a:xfrm>
        </p:grpSpPr>
        <p:sp>
          <p:nvSpPr>
            <p:cNvPr id="9" name="Freeform 9"/>
            <p:cNvSpPr/>
            <p:nvPr/>
          </p:nvSpPr>
          <p:spPr>
            <a:xfrm>
              <a:off x="685800" y="2000250"/>
              <a:ext cx="2781300" cy="533400"/>
            </a:xfrm>
            <a:prstGeom prst="chevron">
              <a:avLst/>
            </a:prstGeom>
            <a:solidFill>
              <a:schemeClr val="accent2">
                <a:alpha val="14000"/>
              </a:schemeClr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3276600" y="2000250"/>
              <a:ext cx="2781300" cy="533400"/>
            </a:xfrm>
            <a:prstGeom prst="chevron">
              <a:avLst/>
            </a:prstGeom>
            <a:solidFill>
              <a:schemeClr val="accent2">
                <a:alpha val="14000"/>
              </a:schemeClr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5867400" y="2000250"/>
              <a:ext cx="2781300" cy="533400"/>
            </a:xfrm>
            <a:prstGeom prst="chevron">
              <a:avLst/>
            </a:prstGeom>
            <a:solidFill>
              <a:schemeClr val="accent2">
                <a:alpha val="14000"/>
              </a:schemeClr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8458200" y="2000250"/>
              <a:ext cx="2781300" cy="533400"/>
            </a:xfrm>
            <a:prstGeom prst="chevron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850462" y="2181225"/>
              <a:ext cx="2614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441262" y="2181225"/>
              <a:ext cx="2614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32062" y="2181225"/>
              <a:ext cx="2614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80012" y="2181225"/>
              <a:ext cx="2614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</p:grpSp>
      <p:grpSp>
        <p:nvGrpSpPr>
          <p:cNvPr id="20" name="stage-q1"/>
          <p:cNvGrpSpPr/>
          <p:nvPr/>
        </p:nvGrpSpPr>
        <p:grpSpPr>
          <a:xfrm>
            <a:off x="678561" y="2889250"/>
            <a:ext cx="1285875" cy="1079246"/>
            <a:chOff x="678561" y="2889250"/>
            <a:chExt cx="1285875" cy="1079246"/>
          </a:xfrm>
        </p:grpSpPr>
        <p:sp>
          <p:nvSpPr>
            <p:cNvPr id="18" name="TextBox 18"/>
            <p:cNvSpPr txBox="1"/>
            <p:nvPr/>
          </p:nvSpPr>
          <p:spPr>
            <a:xfrm>
              <a:off x="678561" y="2889250"/>
              <a:ext cx="1280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v1.0 内核稳定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9704" y="3238500"/>
              <a:ext cx="128473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多 Agent 并发调度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首个企业试点：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治理中间件 POC</a:t>
              </a:r>
            </a:p>
          </p:txBody>
        </p:sp>
      </p:grpSp>
      <p:grpSp>
        <p:nvGrpSpPr>
          <p:cNvPr id="23" name="stage-q2"/>
          <p:cNvGrpSpPr/>
          <p:nvPr/>
        </p:nvGrpSpPr>
        <p:grpSpPr>
          <a:xfrm>
            <a:off x="3421761" y="2889250"/>
            <a:ext cx="1908264" cy="1079246"/>
            <a:chOff x="3421761" y="2889250"/>
            <a:chExt cx="1908264" cy="1079246"/>
          </a:xfrm>
        </p:grpSpPr>
        <p:sp>
          <p:nvSpPr>
            <p:cNvPr id="21" name="TextBox 21"/>
            <p:cNvSpPr txBox="1"/>
            <p:nvPr/>
          </p:nvSpPr>
          <p:spPr>
            <a:xfrm>
              <a:off x="3421761" y="2889250"/>
              <a:ext cx="19082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SaaS 内测 + 驱动市场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422904" y="3238500"/>
              <a:ext cx="135331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审计报表 SaaS 内测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驱动市场：第三方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MCP 治理接入协议</a:t>
              </a:r>
            </a:p>
          </p:txBody>
        </p:sp>
      </p:grpSp>
      <p:grpSp>
        <p:nvGrpSpPr>
          <p:cNvPr id="26" name="stage-q3"/>
          <p:cNvGrpSpPr/>
          <p:nvPr/>
        </p:nvGrpSpPr>
        <p:grpSpPr>
          <a:xfrm>
            <a:off x="6012561" y="2889250"/>
            <a:ext cx="1423035" cy="1079246"/>
            <a:chOff x="6012561" y="2889250"/>
            <a:chExt cx="1423035" cy="1079246"/>
          </a:xfrm>
        </p:grpSpPr>
        <p:sp>
          <p:nvSpPr>
            <p:cNvPr id="24" name="TextBox 24"/>
            <p:cNvSpPr txBox="1"/>
            <p:nvPr/>
          </p:nvSpPr>
          <p:spPr>
            <a:xfrm>
              <a:off x="6012561" y="2889250"/>
              <a:ext cx="12562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 SDK 落地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013704" y="3238500"/>
              <a:ext cx="14218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1-2 款设备落地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Bin2Ambi / 空间音频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能力进产品</a:t>
              </a:r>
            </a:p>
          </p:txBody>
        </p:sp>
      </p:grpSp>
      <p:grpSp>
        <p:nvGrpSpPr>
          <p:cNvPr id="29" name="stage-q4"/>
          <p:cNvGrpSpPr/>
          <p:nvPr/>
        </p:nvGrpSpPr>
        <p:grpSpPr>
          <a:xfrm>
            <a:off x="8603361" y="2889250"/>
            <a:ext cx="1721358" cy="831596"/>
            <a:chOff x="8603361" y="2889250"/>
            <a:chExt cx="1721358" cy="831596"/>
          </a:xfrm>
        </p:grpSpPr>
        <p:sp>
          <p:nvSpPr>
            <p:cNvPr id="27" name="TextBox 27"/>
            <p:cNvSpPr txBox="1"/>
            <p:nvPr/>
          </p:nvSpPr>
          <p:spPr>
            <a:xfrm>
              <a:off x="8603361" y="2889250"/>
              <a:ext cx="11505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 轮叙事节点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604504" y="3238500"/>
              <a:ext cx="1720215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可复制的</a:t>
              </a:r>
              <a:b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「治理 + 听觉」打包案例</a:t>
              </a:r>
            </a:p>
          </p:txBody>
        </p:sp>
      </p:grpSp>
      <p:grpSp>
        <p:nvGrpSpPr>
          <p:cNvPr id="33" name="team-ladder"/>
          <p:cNvGrpSpPr/>
          <p:nvPr/>
        </p:nvGrpSpPr>
        <p:grpSpPr>
          <a:xfrm>
            <a:off x="685800" y="5257800"/>
            <a:ext cx="10820400" cy="609600"/>
            <a:chOff x="685800" y="5257800"/>
            <a:chExt cx="10820400" cy="609600"/>
          </a:xfrm>
        </p:grpSpPr>
        <p:sp>
          <p:nvSpPr>
            <p:cNvPr id="30" name="Rectangle 30"/>
            <p:cNvSpPr/>
            <p:nvPr/>
          </p:nvSpPr>
          <p:spPr>
            <a:xfrm>
              <a:off x="685800" y="5257800"/>
              <a:ext cx="10820400" cy="609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372100"/>
              <a:ext cx="6284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团队扩张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4123" y="5581650"/>
              <a:ext cx="527608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单人 + AI 协作流水线　→　</a:t>
              </a: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+2（内核 / 端侧）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　→　</a:t>
              </a: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+2（合规 / BD）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4" name="Line 3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4" cy="276225"/>
            <a:chOff x="681038" y="361950"/>
            <a:chExt cx="10829924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210228" y="361950"/>
              <a:ext cx="13007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14 / 15 · 融资方案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8545404" cy="747903"/>
            <a:chOff x="671322" y="1104900"/>
            <a:chExt cx="8545404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23055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商业 · 融资方案（示例结构）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854540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天使轮 ¥500 万、出让 10%：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七成投进真机与生态</a:t>
              </a:r>
            </a:p>
          </p:txBody>
        </p:sp>
      </p:grpSp>
      <p:grpSp>
        <p:nvGrpSpPr>
          <p:cNvPr id="16" name="round-amount"/>
          <p:cNvGrpSpPr/>
          <p:nvPr/>
        </p:nvGrpSpPr>
        <p:grpSpPr>
          <a:xfrm>
            <a:off x="666750" y="2133600"/>
            <a:ext cx="3257550" cy="2517267"/>
            <a:chOff x="666750" y="2133600"/>
            <a:chExt cx="3257550" cy="2517267"/>
          </a:xfrm>
        </p:grpSpPr>
        <p:sp>
          <p:nvSpPr>
            <p:cNvPr id="9" name="TextBox 9"/>
            <p:cNvSpPr txBox="1"/>
            <p:nvPr/>
          </p:nvSpPr>
          <p:spPr>
            <a:xfrm>
              <a:off x="680847" y="2133600"/>
              <a:ext cx="15165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轮次 · 金额（示例）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66750" y="2374900"/>
              <a:ext cx="1941290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¥500 万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8561" y="3060700"/>
              <a:ext cx="16187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出让 </a:t>
              </a:r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10%</a:t>
              </a:r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 · 天使轮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80085" y="3346450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示例数字，可调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85800" y="37338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80847" y="3924300"/>
              <a:ext cx="7907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里程碑对赌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79323" y="4152900"/>
              <a:ext cx="1199642" cy="4979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12 个月内 </a:t>
              </a:r>
              <a:r>
                <a:rPr lang="zh-CN" sz="12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1.0</a:t>
              </a:r>
              <a:br>
                <a:rPr lang="zh-CN" sz="12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</a:b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＋ 首个付费试点</a:t>
              </a:r>
            </a:p>
          </p:txBody>
        </p:sp>
      </p:grpSp>
      <p:grpSp>
        <p:nvGrpSpPr>
          <p:cNvPr id="22" name="use-of-funds"/>
          <p:cNvGrpSpPr/>
          <p:nvPr/>
        </p:nvGrpSpPr>
        <p:grpSpPr>
          <a:xfrm>
            <a:off x="4762500" y="2857500"/>
            <a:ext cx="2286000" cy="2286000"/>
            <a:chOff x="4762500" y="2857500"/>
            <a:chExt cx="2286000" cy="2286000"/>
          </a:xfrm>
        </p:grpSpPr>
        <p:grpSp>
          <p:nvGrpSpPr>
            <p:cNvPr id="21" name="use-of-funds-chartArea"/>
            <p:cNvGrpSpPr/>
            <p:nvPr/>
          </p:nvGrpSpPr>
          <p:grpSpPr>
            <a:xfrm>
              <a:off x="4762500" y="2857500"/>
              <a:ext cx="2286000" cy="2286000"/>
              <a:chOff x="4762500" y="2857500"/>
              <a:chExt cx="2286000" cy="22860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4762500" y="2857500"/>
                <a:ext cx="2286000" cy="2286000"/>
              </a:xfrm>
              <a:prstGeom prst="blockArc">
                <a:avLst>
                  <a:gd name="adj1" fmla="val 16200000"/>
                  <a:gd name="adj2" fmla="val 3240000"/>
                  <a:gd name="adj3" fmla="val 22500"/>
                </a:avLst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4762500" y="2857500"/>
                <a:ext cx="2286000" cy="2286000"/>
              </a:xfrm>
              <a:prstGeom prst="blockArc">
                <a:avLst>
                  <a:gd name="adj1" fmla="val 3240000"/>
                  <a:gd name="adj2" fmla="val 9720000"/>
                  <a:gd name="adj3" fmla="val 22500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4762500" y="2857500"/>
                <a:ext cx="2286000" cy="2286000"/>
              </a:xfrm>
              <a:prstGeom prst="blockArc">
                <a:avLst>
                  <a:gd name="adj1" fmla="val 9720000"/>
                  <a:gd name="adj2" fmla="val 14040000"/>
                  <a:gd name="adj3" fmla="val 22500"/>
                </a:avLst>
              </a:pr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4762500" y="2857500"/>
                <a:ext cx="2286000" cy="2286000"/>
              </a:xfrm>
              <a:prstGeom prst="blockArc">
                <a:avLst>
                  <a:gd name="adj1" fmla="val 14040000"/>
                  <a:gd name="adj2" fmla="val 16200000"/>
                  <a:gd name="adj3" fmla="val 22500"/>
                </a:avLst>
              </a:prstGeom>
              <a:solidFill>
                <a:srgbClr val="8A8A93"/>
              </a:solidFill>
              <a:ln>
                <a:noFill/>
              </a:ln>
            </p:spPr>
          </p:sp>
        </p:grpSp>
      </p:grpSp>
      <p:grpSp>
        <p:nvGrpSpPr>
          <p:cNvPr id="41" name="funds-legend"/>
          <p:cNvGrpSpPr/>
          <p:nvPr/>
        </p:nvGrpSpPr>
        <p:grpSpPr>
          <a:xfrm>
            <a:off x="7615047" y="2133600"/>
            <a:ext cx="3891153" cy="2600325"/>
            <a:chOff x="7615047" y="2133600"/>
            <a:chExt cx="3891153" cy="2600325"/>
          </a:xfrm>
        </p:grpSpPr>
        <p:sp>
          <p:nvSpPr>
            <p:cNvPr id="23" name="TextBox 23"/>
            <p:cNvSpPr txBox="1"/>
            <p:nvPr/>
          </p:nvSpPr>
          <p:spPr>
            <a:xfrm>
              <a:off x="7615047" y="2133600"/>
              <a:ext cx="12773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用途构成（示例）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7620000" y="2438400"/>
              <a:ext cx="3886200" cy="9525"/>
            </a:xfrm>
            <a:custGeom>
              <a:avLst/>
              <a:gdLst/>
              <a:ahLst/>
              <a:cxnLst/>
              <a:rect l="l" t="t" r="r" b="b"/>
              <a:pathLst>
                <a:path w="3886200" h="9525">
                  <a:moveTo>
                    <a:pt x="0" y="0"/>
                  </a:moveTo>
                  <a:lnTo>
                    <a:pt x="3886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620000" y="2647950"/>
              <a:ext cx="133350" cy="133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917561" y="2603500"/>
              <a:ext cx="3858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40%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642223" y="2628900"/>
              <a:ext cx="104683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端侧真机验证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7620000" y="3009900"/>
              <a:ext cx="3886200" cy="9525"/>
            </a:xfrm>
            <a:custGeom>
              <a:avLst/>
              <a:gdLst/>
              <a:ahLst/>
              <a:cxnLst/>
              <a:rect l="l" t="t" r="r" b="b"/>
              <a:pathLst>
                <a:path w="3886200" h="9525">
                  <a:moveTo>
                    <a:pt x="0" y="0"/>
                  </a:moveTo>
                  <a:lnTo>
                    <a:pt x="38862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20000" y="3219450"/>
              <a:ext cx="133350" cy="1333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917561" y="3175000"/>
              <a:ext cx="3858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30%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642223" y="3200400"/>
              <a:ext cx="228229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生态适配（MCP / 驱动市场）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0" y="3581400"/>
              <a:ext cx="3886200" cy="9525"/>
            </a:xfrm>
            <a:custGeom>
              <a:avLst/>
              <a:gdLst/>
              <a:ahLst/>
              <a:cxnLst/>
              <a:rect l="l" t="t" r="r" b="b"/>
              <a:pathLst>
                <a:path w="3886200" h="9525">
                  <a:moveTo>
                    <a:pt x="0" y="0"/>
                  </a:moveTo>
                  <a:lnTo>
                    <a:pt x="38862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0" y="3790950"/>
              <a:ext cx="133350" cy="1333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917561" y="3746500"/>
              <a:ext cx="3858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20%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642223" y="3771900"/>
              <a:ext cx="121914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合规认证与试点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620000" y="4152900"/>
              <a:ext cx="3886200" cy="9525"/>
            </a:xfrm>
            <a:custGeom>
              <a:avLst/>
              <a:gdLst/>
              <a:ahLst/>
              <a:cxnLst/>
              <a:rect l="l" t="t" r="r" b="b"/>
              <a:pathLst>
                <a:path w="3886200" h="9525">
                  <a:moveTo>
                    <a:pt x="0" y="0"/>
                  </a:moveTo>
                  <a:lnTo>
                    <a:pt x="38862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620000" y="4362450"/>
              <a:ext cx="133350" cy="133350"/>
            </a:xfrm>
            <a:prstGeom prst="rect">
              <a:avLst/>
            </a:prstGeom>
            <a:solidFill>
              <a:srgbClr val="8A8A93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917561" y="4318000"/>
              <a:ext cx="3858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642223" y="4343400"/>
              <a:ext cx="35758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运营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7620000" y="4724400"/>
              <a:ext cx="3886200" cy="9525"/>
            </a:xfrm>
            <a:custGeom>
              <a:avLst/>
              <a:gdLst/>
              <a:ahLst/>
              <a:cxnLst/>
              <a:rect l="l" t="t" r="r" b="b"/>
              <a:pathLst>
                <a:path w="3886200" h="9525">
                  <a:moveTo>
                    <a:pt x="0" y="0"/>
                  </a:moveTo>
                  <a:lnTo>
                    <a:pt x="38862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45" name="funds-note"/>
          <p:cNvGrpSpPr/>
          <p:nvPr/>
        </p:nvGrpSpPr>
        <p:grpSpPr>
          <a:xfrm>
            <a:off x="7620000" y="5029200"/>
            <a:ext cx="3886200" cy="876300"/>
            <a:chOff x="7620000" y="5029200"/>
            <a:chExt cx="3886200" cy="876300"/>
          </a:xfrm>
        </p:grpSpPr>
        <p:sp>
          <p:nvSpPr>
            <p:cNvPr id="42" name="Rectangle 42"/>
            <p:cNvSpPr/>
            <p:nvPr/>
          </p:nvSpPr>
          <p:spPr>
            <a:xfrm>
              <a:off x="7620000" y="5029200"/>
              <a:ext cx="3886200" cy="876300"/>
            </a:xfrm>
            <a:prstGeom prst="rect">
              <a:avLst/>
            </a:prstGeom>
            <a:solidFill>
              <a:schemeClr val="lt2"/>
            </a:solidFill>
            <a:ln w="14288">
              <a:solidFill>
                <a:schemeClr val="accent3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880985" y="51943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注：金额与比例均为</a:t>
              </a:r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示例（情景数据）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80985" y="5461000"/>
              <a:ext cx="13376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按正式 BP 测算更新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46" name="Line 46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81038" y="361950"/>
            <a:ext cx="10829925" cy="276225"/>
            <a:chOff x="681038" y="361950"/>
            <a:chExt cx="10829925" cy="276225"/>
          </a:xfrm>
        </p:grpSpPr>
        <p:sp>
          <p:nvSpPr>
            <p:cNvPr id="2" name="TextBox 2"/>
            <p:cNvSpPr txBox="1"/>
            <p:nvPr/>
          </p:nvSpPr>
          <p:spPr>
            <a:xfrm>
              <a:off x="681038" y="361950"/>
              <a:ext cx="1948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LAOS · LINUX AGENTOS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0068878" y="361950"/>
              <a:ext cx="144208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spc="15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15 / 15 · 团队与风险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62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</p:grpSp>
      <p:grpSp>
        <p:nvGrpSpPr>
          <p:cNvPr id="8" name="page-title"/>
          <p:cNvGrpSpPr/>
          <p:nvPr/>
        </p:nvGrpSpPr>
        <p:grpSpPr>
          <a:xfrm>
            <a:off x="671322" y="1104900"/>
            <a:ext cx="10133478" cy="747903"/>
            <a:chOff x="671322" y="1104900"/>
            <a:chExt cx="10133478" cy="747903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1104900"/>
              <a:ext cx="83108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团队与风险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1322" y="1295400"/>
              <a:ext cx="1013347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单人 + AI 流水线已交付 12 个版本；</a:t>
              </a:r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首要融资用途就是团队</a:t>
              </a:r>
            </a:p>
          </p:txBody>
        </p:sp>
      </p:grpSp>
      <p:grpSp>
        <p:nvGrpSpPr>
          <p:cNvPr id="12" name="team-fact"/>
          <p:cNvGrpSpPr/>
          <p:nvPr/>
        </p:nvGrpSpPr>
        <p:grpSpPr>
          <a:xfrm>
            <a:off x="679323" y="2095500"/>
            <a:ext cx="10826877" cy="726567"/>
            <a:chOff x="679323" y="2095500"/>
            <a:chExt cx="10826877" cy="726567"/>
          </a:xfrm>
        </p:grpSpPr>
        <p:sp>
          <p:nvSpPr>
            <p:cNvPr id="9" name="TextBox 9"/>
            <p:cNvSpPr txBox="1"/>
            <p:nvPr/>
          </p:nvSpPr>
          <p:spPr>
            <a:xfrm>
              <a:off x="680847" y="2095500"/>
              <a:ext cx="12773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spc="225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团队（真实呈现）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685800" y="240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79323" y="2571750"/>
              <a:ext cx="892752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独立开发者——30 天 </a:t>
              </a:r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12 版本 / 765 测试 / 47 份调研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的 AI 协作流水线，</a:t>
              </a:r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本身就是产品方法论证明</a:t>
              </a:r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；招人计划见路线图</a:t>
              </a:r>
            </a:p>
          </p:txBody>
        </p:sp>
      </p:grpSp>
      <p:grpSp>
        <p:nvGrpSpPr>
          <p:cNvPr id="17" name="risk-standard"/>
          <p:cNvGrpSpPr/>
          <p:nvPr/>
        </p:nvGrpSpPr>
        <p:grpSpPr>
          <a:xfrm>
            <a:off x="679323" y="3276600"/>
            <a:ext cx="7891831" cy="478917"/>
            <a:chOff x="679323" y="3276600"/>
            <a:chExt cx="7891831" cy="478917"/>
          </a:xfrm>
        </p:grpSpPr>
        <p:sp>
          <p:nvSpPr>
            <p:cNvPr id="13" name="TextBox 13"/>
            <p:cNvSpPr txBox="1"/>
            <p:nvPr/>
          </p:nvSpPr>
          <p:spPr>
            <a:xfrm>
              <a:off x="680847" y="3276600"/>
              <a:ext cx="137454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风险 01 · 标准竞争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79323" y="3505200"/>
              <a:ext cx="178290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MCP 生态位被大厂占据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5334000" y="3600450"/>
              <a:ext cx="68580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18123" y="3448050"/>
              <a:ext cx="225303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深耕强制层与账本，标准中立</a:t>
              </a:r>
            </a:p>
          </p:txBody>
        </p:sp>
      </p:grpSp>
      <p:grpSp>
        <p:nvGrpSpPr>
          <p:cNvPr id="22" name="risk-solo"/>
          <p:cNvGrpSpPr/>
          <p:nvPr/>
        </p:nvGrpSpPr>
        <p:grpSpPr>
          <a:xfrm>
            <a:off x="679323" y="4114800"/>
            <a:ext cx="9674943" cy="478917"/>
            <a:chOff x="679323" y="4114800"/>
            <a:chExt cx="9674943" cy="478917"/>
          </a:xfrm>
        </p:grpSpPr>
        <p:sp>
          <p:nvSpPr>
            <p:cNvPr id="18" name="TextBox 18"/>
            <p:cNvSpPr txBox="1"/>
            <p:nvPr/>
          </p:nvSpPr>
          <p:spPr>
            <a:xfrm>
              <a:off x="680847" y="4114800"/>
              <a:ext cx="137454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风险 02 · 单人风险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9323" y="4343400"/>
              <a:ext cx="121914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关键人依赖集中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5334000" y="4438650"/>
              <a:ext cx="68580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18123" y="4286250"/>
              <a:ext cx="403614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首要融资用途即团队（+2 内核/端侧，+2 合规/BD）</a:t>
              </a:r>
            </a:p>
          </p:txBody>
        </p:sp>
      </p:grpSp>
      <p:grpSp>
        <p:nvGrpSpPr>
          <p:cNvPr id="27" name="risk-sales"/>
          <p:cNvGrpSpPr/>
          <p:nvPr/>
        </p:nvGrpSpPr>
        <p:grpSpPr>
          <a:xfrm>
            <a:off x="679323" y="4953000"/>
            <a:ext cx="7891831" cy="478917"/>
            <a:chOff x="679323" y="4953000"/>
            <a:chExt cx="7891831" cy="478917"/>
          </a:xfrm>
        </p:grpSpPr>
        <p:sp>
          <p:nvSpPr>
            <p:cNvPr id="23" name="TextBox 23"/>
            <p:cNvSpPr txBox="1"/>
            <p:nvPr/>
          </p:nvSpPr>
          <p:spPr>
            <a:xfrm>
              <a:off x="680847" y="4953000"/>
              <a:ext cx="152666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风险 03 · 长销售周期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79323" y="5181600"/>
              <a:ext cx="121914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企业采购节奏慢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5334000" y="5276850"/>
              <a:ext cx="68580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18123" y="5124450"/>
              <a:ext cx="225303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先开发者后企业（开源漏斗）</a:t>
              </a:r>
            </a:p>
          </p:txBody>
        </p:sp>
      </p:grpSp>
      <p:grpSp>
        <p:nvGrpSpPr>
          <p:cNvPr id="30" name="closing-takeaway"/>
          <p:cNvGrpSpPr/>
          <p:nvPr/>
        </p:nvGrpSpPr>
        <p:grpSpPr>
          <a:xfrm>
            <a:off x="685800" y="5676900"/>
            <a:ext cx="10820400" cy="609600"/>
            <a:chOff x="685800" y="5676900"/>
            <a:chExt cx="10820400" cy="609600"/>
          </a:xfrm>
        </p:grpSpPr>
        <p:sp>
          <p:nvSpPr>
            <p:cNvPr id="28" name="Rectangle 28"/>
            <p:cNvSpPr/>
            <p:nvPr/>
          </p:nvSpPr>
          <p:spPr>
            <a:xfrm>
              <a:off x="685800" y="5676900"/>
              <a:ext cx="10820400" cy="609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1456" y="5842000"/>
              <a:ext cx="728633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模型负责想，laos 负责说「不」　·　</a:t>
              </a:r>
              <a:r>
                <a:rPr lang="en-US" sz="1800" b="1" u="sng" dirty="0">
                  <a:solidFill>
                    <a:schemeClr val="accent3"/>
                  </a:solidFill>
                  <a:latin typeface="+mn-lt"/>
                  <a:ea typeface="+mn-ea"/>
                  <a:cs typeface="+mn-cs"/>
                  <a:hlinkClick r:id="rId2"/>
                </a:rPr>
                <a:t>github.com/Yfredy/LAOS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681038" y="6362700"/>
            <a:ext cx="10829925" cy="288925"/>
            <a:chOff x="681038" y="6362700"/>
            <a:chExt cx="10829925" cy="288925"/>
          </a:xfrm>
        </p:grpSpPr>
        <p:sp>
          <p:nvSpPr>
            <p:cNvPr id="31" name="Line 31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3E3E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1038" y="6489700"/>
              <a:ext cx="19406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github.com/Yfredy/LAOS · v0.12.0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507942" y="6489700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8A8A93"/>
                  </a:solidFill>
                  <a:latin typeface="+mn-lt"/>
                  <a:ea typeface="+mn-ea"/>
                  <a:cs typeface="+mn-cs"/>
                </a:rPr>
                <a:t>创新融资 · 2026-10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laos-funding-master">
  <a:themeElements>
    <a:clrScheme name="laos-funding-master">
      <a:dk1>
        <a:srgbClr val="55555E"/>
      </a:dk1>
      <a:lt1>
        <a:srgbClr val="FFFFFF"/>
      </a:lt1>
      <a:dk2>
        <a:srgbClr val="1F497D"/>
      </a:dk2>
      <a:lt2>
        <a:srgbClr val="F7F8FA"/>
      </a:lt2>
      <a:accent1>
        <a:srgbClr val="17171A"/>
      </a:accent1>
      <a:accent2>
        <a:srgbClr val="1F3BD8"/>
      </a:accent2>
      <a:accent3>
        <a:srgbClr val="C89B3C"/>
      </a:accent3>
      <a:accent4>
        <a:srgbClr val="17171A"/>
      </a:accent4>
      <a:accent5>
        <a:srgbClr val="F7F8FA"/>
      </a:accent5>
      <a:accent6>
        <a:srgbClr val="EFEFF2"/>
      </a:accent6>
      <a:hlink>
        <a:srgbClr val="1F3BD8"/>
      </a:hlink>
      <a:folHlink>
        <a:srgbClr val="C89B3C"/>
      </a:folHlink>
    </a:clrScheme>
    <a:fontScheme name="laos-funding-master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os-funding-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aos-funding-master">
  <a:themeElements>
    <a:clrScheme name="laos-funding-master">
      <a:dk1>
        <a:srgbClr val="55555E"/>
      </a:dk1>
      <a:lt1>
        <a:srgbClr val="FFFFFF"/>
      </a:lt1>
      <a:dk2>
        <a:srgbClr val="1F497D"/>
      </a:dk2>
      <a:lt2>
        <a:srgbClr val="F7F8FA"/>
      </a:lt2>
      <a:accent1>
        <a:srgbClr val="17171A"/>
      </a:accent1>
      <a:accent2>
        <a:srgbClr val="1F3BD8"/>
      </a:accent2>
      <a:accent3>
        <a:srgbClr val="C89B3C"/>
      </a:accent3>
      <a:accent4>
        <a:srgbClr val="17171A"/>
      </a:accent4>
      <a:accent5>
        <a:srgbClr val="F7F8FA"/>
      </a:accent5>
      <a:accent6>
        <a:srgbClr val="EFEFF2"/>
      </a:accent6>
      <a:hlink>
        <a:srgbClr val="1F3BD8"/>
      </a:hlink>
      <a:folHlink>
        <a:srgbClr val="C89B3C"/>
      </a:folHlink>
    </a:clrScheme>
    <a:fontScheme name="laos-funding-master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os-funding-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2026-10-05T07:11:21Z</dcterms:created>
  <dcterms:modified xsi:type="dcterms:W3CDTF">2026-10-05T07:11:21Z</dcterms:modified>
  <cp:category/>
  <cp:contentStatus/>
</cp:coreProperties>
</file>