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aos-intro-master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aos-intro-master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038" y="361950"/>
            <a:ext cx="19489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LAOS · LINUX AGENTOS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49014" y="361950"/>
            <a:ext cx="12619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spc="15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01 / 12 · COVER</a:t>
            </a:r>
          </a:p>
        </p:txBody>
      </p:sp>
      <p:sp>
        <p:nvSpPr>
          <p:cNvPr id="4" name="Line 4"/>
          <p:cNvSpPr/>
          <p:nvPr/>
        </p:nvSpPr>
        <p:spPr>
          <a:xfrm>
            <a:off x="685800" y="6286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685800" y="1143000"/>
            <a:ext cx="2286000" cy="76200"/>
          </a:xfrm>
          <a:prstGeom prst="rect">
            <a:avLst/>
          </a:prstGeom>
          <a:solidFill>
            <a:srgbClr val="1F3BD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80847" y="1485900"/>
            <a:ext cx="3239892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spc="300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LINUX AGENTOS · FIELD NOTE 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6750" y="2006600"/>
            <a:ext cx="7210425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给 AI Agent 一座操作系统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5894" y="2901950"/>
            <a:ext cx="474497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内核强制的能力边界，而不是提示词恳求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8180" y="3403600"/>
            <a:ext cx="459203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Linux kernel + Agent + MCP —— 不改内核一行代码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85800" y="4095750"/>
            <a:ext cx="4191000" cy="819150"/>
          </a:xfrm>
          <a:prstGeom prst="rect">
            <a:avLst/>
          </a:prstGeom>
          <a:solidFill>
            <a:srgbClr val="E8EDF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906018" y="4235450"/>
            <a:ext cx="158217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703 项测试全绿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08685" y="4584700"/>
            <a:ext cx="284360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主库 353 · AlwaysOnRec 279 · Repro 71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9704" y="5419725"/>
            <a:ext cx="17421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GitHub · Yfredy/LAOS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0085" y="5689600"/>
            <a:ext cx="151163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2026-10-05 · v0.9.0</a:t>
            </a:r>
          </a:p>
        </p:txBody>
      </p:sp>
      <p:sp>
        <p:nvSpPr>
          <p:cNvPr id="15" name="Ellipse 15"/>
          <p:cNvSpPr/>
          <p:nvPr/>
        </p:nvSpPr>
        <p:spPr>
          <a:xfrm>
            <a:off x="9525000" y="1428750"/>
            <a:ext cx="2857500" cy="2857500"/>
          </a:xfrm>
          <a:prstGeom prst="ellipse">
            <a:avLst/>
          </a:prstGeom>
          <a:noFill/>
          <a:ln w="19050">
            <a:solidFill>
              <a:srgbClr val="1F3BD8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9963150" y="1866900"/>
            <a:ext cx="1981200" cy="1981200"/>
          </a:xfrm>
          <a:prstGeom prst="ellipse">
            <a:avLst/>
          </a:prstGeom>
          <a:noFill/>
          <a:ln w="9525">
            <a:solidFill>
              <a:srgbClr val="E3E3E8"/>
            </a:solidFill>
          </a:ln>
        </p:spPr>
      </p:sp>
      <p:sp>
        <p:nvSpPr>
          <p:cNvPr id="17" name="Ellipse 17"/>
          <p:cNvSpPr/>
          <p:nvPr/>
        </p:nvSpPr>
        <p:spPr>
          <a:xfrm>
            <a:off x="10401300" y="2305050"/>
            <a:ext cx="1104900" cy="1104900"/>
          </a:xfrm>
          <a:prstGeom prst="ellipse">
            <a:avLst/>
          </a:prstGeom>
          <a:noFill/>
          <a:ln w="9525">
            <a:solidFill>
              <a:srgbClr val="E3E3E8"/>
            </a:solidFill>
          </a:ln>
        </p:spPr>
      </p:sp>
      <p:sp>
        <p:nvSpPr>
          <p:cNvPr id="18" name="Ellipse 18"/>
          <p:cNvSpPr/>
          <p:nvPr/>
        </p:nvSpPr>
        <p:spPr>
          <a:xfrm>
            <a:off x="10858500" y="2762250"/>
            <a:ext cx="190500" cy="190500"/>
          </a:xfrm>
          <a:prstGeom prst="ellipse">
            <a:avLst/>
          </a:prstGeom>
          <a:solidFill>
            <a:srgbClr val="1F3BD8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0759567" y="2965450"/>
            <a:ext cx="38836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laosd</a:t>
            </a:r>
          </a:p>
        </p:txBody>
      </p:sp>
      <p:sp>
        <p:nvSpPr>
          <p:cNvPr id="20" name="Ellipse 20"/>
          <p:cNvSpPr/>
          <p:nvPr/>
        </p:nvSpPr>
        <p:spPr>
          <a:xfrm>
            <a:off x="11811000" y="2800350"/>
            <a:ext cx="114300" cy="1143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10896600" y="1885950"/>
            <a:ext cx="114300" cy="1143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</p:sp>
      <p:sp>
        <p:nvSpPr>
          <p:cNvPr id="22" name="Line 22"/>
          <p:cNvSpPr/>
          <p:nvPr/>
        </p:nvSpPr>
        <p:spPr>
          <a:xfrm>
            <a:off x="685800" y="63627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81038" y="6489700"/>
            <a:ext cx="187909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github.com/Yfredy/LAOS · v0.9.0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084300" y="6489700"/>
            <a:ext cx="142666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FIELD NOTE 01 · 26.10.05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038" y="361950"/>
            <a:ext cx="19489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LAOS · LINUX AGENTOS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039922" y="361950"/>
            <a:ext cx="147104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spc="15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02 / 12 · PROBLEM</a:t>
            </a:r>
          </a:p>
        </p:txBody>
      </p:sp>
      <p:sp>
        <p:nvSpPr>
          <p:cNvPr id="4" name="Line 4"/>
          <p:cNvSpPr/>
          <p:nvPr/>
        </p:nvSpPr>
        <p:spPr>
          <a:xfrm>
            <a:off x="685800" y="6286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80847" y="1123950"/>
            <a:ext cx="1862389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spc="300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SHEET 02 · 风险台账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9036" y="1403350"/>
            <a:ext cx="4999645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Agent 拿着 root 裸奔。</a:t>
            </a:r>
          </a:p>
        </p:txBody>
      </p:sp>
      <p:sp>
        <p:nvSpPr>
          <p:cNvPr id="7" name="Rectangle 7"/>
          <p:cNvSpPr/>
          <p:nvPr/>
        </p:nvSpPr>
        <p:spPr>
          <a:xfrm>
            <a:off x="685800" y="2476500"/>
            <a:ext cx="10820400" cy="81915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06780" y="2660650"/>
            <a:ext cx="5081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R-01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11249" y="2609850"/>
            <a:ext cx="2364737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一条 rm -rf 删光家目录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3154" y="2933700"/>
            <a:ext cx="42446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“请小心”写在提示词里——恳求不是强制，模型没有义务听。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85800" y="3486150"/>
            <a:ext cx="10820400" cy="81915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06780" y="3670300"/>
            <a:ext cx="5081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R-02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11249" y="3619500"/>
            <a:ext cx="229574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恶意 MCP 工具直通隐私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13154" y="394335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剪贴板、通知、短信：装一个工具等于开一扇没有锁的门。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85800" y="4495800"/>
            <a:ext cx="10820400" cy="81915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06780" y="4679950"/>
            <a:ext cx="5081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R-03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11249" y="4629150"/>
            <a:ext cx="1717599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不可逆操作无计价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13154" y="4953000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卸载、发送、删除与读取同权；没有记账，就没有回放与追责。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7799" y="5562600"/>
            <a:ext cx="699893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缺的不是更聪明的模型，是操作系统：能力 · 调度 · 审计 · 记账 · 隔离。</a:t>
            </a:r>
          </a:p>
        </p:txBody>
      </p:sp>
      <p:sp>
        <p:nvSpPr>
          <p:cNvPr id="20" name="Line 20"/>
          <p:cNvSpPr/>
          <p:nvPr/>
        </p:nvSpPr>
        <p:spPr>
          <a:xfrm>
            <a:off x="685800" y="63627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81038" y="6489700"/>
            <a:ext cx="187909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github.com/Yfredy/LAOS · v0.9.0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084300" y="6489700"/>
            <a:ext cx="142666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FIELD NOTE 01 · 26.10.05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038" y="361950"/>
            <a:ext cx="19489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LAOS · LINUX AGENTOS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14877" y="361950"/>
            <a:ext cx="12960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spc="15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03 / 12 · THESIS</a:t>
            </a:r>
          </a:p>
        </p:txBody>
      </p:sp>
      <p:sp>
        <p:nvSpPr>
          <p:cNvPr id="4" name="Line 4"/>
          <p:cNvSpPr/>
          <p:nvPr/>
        </p:nvSpPr>
        <p:spPr>
          <a:xfrm>
            <a:off x="685800" y="6286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80847" y="1123950"/>
            <a:ext cx="1862389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spc="300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SHEET 03 · 设计命题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0560" y="1441450"/>
            <a:ext cx="5517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Linux kernel + Agent + MCP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70560" y="1974850"/>
            <a:ext cx="335729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= Linux AgentOS</a:t>
            </a:r>
          </a:p>
        </p:txBody>
      </p:sp>
      <p:sp>
        <p:nvSpPr>
          <p:cNvPr id="8" name="Line 8"/>
          <p:cNvSpPr/>
          <p:nvPr/>
        </p:nvSpPr>
        <p:spPr>
          <a:xfrm>
            <a:off x="685800" y="28575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78561" y="3003550"/>
            <a:ext cx="104817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namespace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70023" y="3028950"/>
            <a:ext cx="3166293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隔离视图 —— mount / pid / net 各自独立</a:t>
            </a:r>
          </a:p>
        </p:txBody>
      </p:sp>
      <p:sp>
        <p:nvSpPr>
          <p:cNvPr id="11" name="Line 11"/>
          <p:cNvSpPr/>
          <p:nvPr/>
        </p:nvSpPr>
        <p:spPr>
          <a:xfrm>
            <a:off x="685800" y="34480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78561" y="3594100"/>
            <a:ext cx="95785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cgroup v2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70023" y="3619500"/>
            <a:ext cx="2545964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资源上限 —— 失控的驱动只死自己</a:t>
            </a:r>
          </a:p>
        </p:txBody>
      </p:sp>
      <p:sp>
        <p:nvSpPr>
          <p:cNvPr id="14" name="Line 14"/>
          <p:cNvSpPr/>
          <p:nvPr/>
        </p:nvSpPr>
        <p:spPr>
          <a:xfrm>
            <a:off x="685800" y="40386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78561" y="4184650"/>
            <a:ext cx="123923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seccomp BPF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470023" y="4210050"/>
            <a:ext cx="3062905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系统调用白名单 —— 真拦截，非君子协定</a:t>
            </a:r>
          </a:p>
        </p:txBody>
      </p:sp>
      <p:sp>
        <p:nvSpPr>
          <p:cNvPr id="17" name="Line 17"/>
          <p:cNvSpPr/>
          <p:nvPr/>
        </p:nvSpPr>
        <p:spPr>
          <a:xfrm>
            <a:off x="685800" y="46291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561" y="4775200"/>
            <a:ext cx="85335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Landlock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470023" y="4800600"/>
            <a:ext cx="2373650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路径沙箱 —— 未授权目录不可见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85800" y="5314950"/>
            <a:ext cx="2857500" cy="495300"/>
          </a:xfrm>
          <a:prstGeom prst="rect">
            <a:avLst/>
          </a:prstGeom>
          <a:solidFill>
            <a:srgbClr val="17171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07542" y="5464175"/>
            <a:ext cx="20005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laosd = 薄内核 · 0 补丁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803904" y="5476875"/>
            <a:ext cx="45416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只做语义层：能力表 / 审计 / 记账 / 确认；设备交给 MCP 驱动</a:t>
            </a:r>
          </a:p>
        </p:txBody>
      </p:sp>
      <p:sp>
        <p:nvSpPr>
          <p:cNvPr id="23" name="Line 23"/>
          <p:cNvSpPr/>
          <p:nvPr/>
        </p:nvSpPr>
        <p:spPr>
          <a:xfrm>
            <a:off x="685800" y="63627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81038" y="6489700"/>
            <a:ext cx="187909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github.com/Yfredy/LAOS · v0.9.0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084300" y="6489700"/>
            <a:ext cx="142666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FIELD NOTE 01 · 26.10.05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038" y="361950"/>
            <a:ext cx="19489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LAOS · LINUX AGENTOS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097529" y="361950"/>
            <a:ext cx="14134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spc="15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04 / 12 · MAPPING</a:t>
            </a:r>
          </a:p>
        </p:txBody>
      </p:sp>
      <p:sp>
        <p:nvSpPr>
          <p:cNvPr id="4" name="Line 4"/>
          <p:cNvSpPr/>
          <p:nvPr/>
        </p:nvSpPr>
        <p:spPr>
          <a:xfrm>
            <a:off x="685800" y="6286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80847" y="1123950"/>
            <a:ext cx="1862389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spc="300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SHEET 04 · 词表映射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9036" y="1403350"/>
            <a:ext cx="6347169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Linux 的词表，Agent 的语义。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1038" y="2114550"/>
            <a:ext cx="45758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LINUX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043238" y="2114550"/>
            <a:ext cx="41277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LAOS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00738" y="2114550"/>
            <a:ext cx="28213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spc="225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语义</a:t>
            </a:r>
          </a:p>
        </p:txBody>
      </p:sp>
      <p:sp>
        <p:nvSpPr>
          <p:cNvPr id="10" name="Line 10"/>
          <p:cNvSpPr/>
          <p:nvPr/>
        </p:nvSpPr>
        <p:spPr>
          <a:xfrm>
            <a:off x="685800" y="24384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77799" y="2590800"/>
            <a:ext cx="441401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进程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039999" y="2590800"/>
            <a:ext cx="63712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Agent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899023" y="2628900"/>
            <a:ext cx="1582471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PCB · 能力集 · 预算</a:t>
            </a:r>
          </a:p>
        </p:txBody>
      </p:sp>
      <p:sp>
        <p:nvSpPr>
          <p:cNvPr id="14" name="Line 14"/>
          <p:cNvSpPr/>
          <p:nvPr/>
        </p:nvSpPr>
        <p:spPr>
          <a:xfrm>
            <a:off x="685800" y="3048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77799" y="3200400"/>
            <a:ext cx="86680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系统调用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039999" y="3200400"/>
            <a:ext cx="1399374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MCP tool call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99023" y="3238500"/>
            <a:ext cx="1712031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JSON-RPC，每次过闸</a:t>
            </a:r>
          </a:p>
        </p:txBody>
      </p:sp>
      <p:sp>
        <p:nvSpPr>
          <p:cNvPr id="18" name="Line 18"/>
          <p:cNvSpPr/>
          <p:nvPr/>
        </p:nvSpPr>
        <p:spPr>
          <a:xfrm>
            <a:off x="685800" y="36576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77799" y="3810000"/>
            <a:ext cx="86680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设备驱动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039999" y="3810000"/>
            <a:ext cx="1263796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MCP Server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899023" y="3848100"/>
            <a:ext cx="2821666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drv_mic / drv_ear / drv_screen …</a:t>
            </a:r>
          </a:p>
        </p:txBody>
      </p:sp>
      <p:sp>
        <p:nvSpPr>
          <p:cNvPr id="22" name="Line 22"/>
          <p:cNvSpPr/>
          <p:nvPr/>
        </p:nvSpPr>
        <p:spPr>
          <a:xfrm>
            <a:off x="685800" y="4267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77799" y="4419600"/>
            <a:ext cx="441401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内核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39999" y="4419600"/>
            <a:ext cx="1279438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laosd 薄内核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899023" y="4457700"/>
            <a:ext cx="874522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只做语义层</a:t>
            </a:r>
          </a:p>
        </p:txBody>
      </p:sp>
      <p:sp>
        <p:nvSpPr>
          <p:cNvPr id="26" name="Line 26"/>
          <p:cNvSpPr/>
          <p:nvPr/>
        </p:nvSpPr>
        <p:spPr>
          <a:xfrm>
            <a:off x="685800" y="48768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77799" y="5029200"/>
            <a:ext cx="741839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insmod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039999" y="5029200"/>
            <a:ext cx="1255509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load_driver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899023" y="5067300"/>
            <a:ext cx="1665214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外挂任意 MCP 服务器</a:t>
            </a:r>
          </a:p>
        </p:txBody>
      </p:sp>
      <p:sp>
        <p:nvSpPr>
          <p:cNvPr id="30" name="Line 30"/>
          <p:cNvSpPr/>
          <p:nvPr/>
        </p:nvSpPr>
        <p:spPr>
          <a:xfrm>
            <a:off x="685800" y="63627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81038" y="6489700"/>
            <a:ext cx="187909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github.com/Yfredy/LAOS · v0.9.0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084300" y="6489700"/>
            <a:ext cx="142666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FIELD NOTE 01 · 26.10.05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038" y="361950"/>
            <a:ext cx="19489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LAOS · LINUX AGENTOS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74618" y="361950"/>
            <a:ext cx="123634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spc="15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05 / 12 · GATES</a:t>
            </a:r>
          </a:p>
        </p:txBody>
      </p:sp>
      <p:sp>
        <p:nvSpPr>
          <p:cNvPr id="4" name="Line 4"/>
          <p:cNvSpPr/>
          <p:nvPr/>
        </p:nvSpPr>
        <p:spPr>
          <a:xfrm>
            <a:off x="685800" y="6286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80847" y="1123950"/>
            <a:ext cx="1862389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spc="300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SHEET 05 · 过闸台账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9036" y="1403350"/>
            <a:ext cx="5808726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每一次工具调用，过七道闸。</a:t>
            </a:r>
          </a:p>
        </p:txBody>
      </p:sp>
      <p:sp>
        <p:nvSpPr>
          <p:cNvPr id="7" name="Rectangle 7"/>
          <p:cNvSpPr/>
          <p:nvPr/>
        </p:nvSpPr>
        <p:spPr>
          <a:xfrm>
            <a:off x="685800" y="2571750"/>
            <a:ext cx="1162050" cy="609600"/>
          </a:xfrm>
          <a:prstGeom prst="rect">
            <a:avLst/>
          </a:prstGeom>
          <a:solidFill>
            <a:srgbClr val="E8EDF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34948" y="2803525"/>
            <a:ext cx="46375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能力表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99285" y="2803525"/>
            <a:ext cx="9435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981200" y="2571750"/>
            <a:ext cx="1162050" cy="609600"/>
          </a:xfrm>
          <a:prstGeom prst="rect">
            <a:avLst/>
          </a:prstGeom>
          <a:solidFill>
            <a:srgbClr val="1F3BD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121149" y="2803525"/>
            <a:ext cx="88215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task_scope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194685" y="2803525"/>
            <a:ext cx="9435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276600" y="2571750"/>
            <a:ext cx="1162050" cy="609600"/>
          </a:xfrm>
          <a:prstGeom prst="rect">
            <a:avLst/>
          </a:prstGeom>
          <a:solidFill>
            <a:srgbClr val="E8EDF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574862" y="2803525"/>
            <a:ext cx="5655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schema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490085" y="2803525"/>
            <a:ext cx="9435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572000" y="2571750"/>
            <a:ext cx="1162050" cy="609600"/>
          </a:xfrm>
          <a:prstGeom prst="rect">
            <a:avLst/>
          </a:prstGeom>
          <a:solidFill>
            <a:srgbClr val="E8EDF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837853" y="2803525"/>
            <a:ext cx="63034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EDQUOT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785485" y="2803525"/>
            <a:ext cx="9435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867400" y="2571750"/>
            <a:ext cx="1162050" cy="609600"/>
          </a:xfrm>
          <a:prstGeom prst="rect">
            <a:avLst/>
          </a:prstGeom>
          <a:solidFill>
            <a:srgbClr val="E8EDF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978877" y="2803525"/>
            <a:ext cx="9390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FleetLedger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80885" y="2803525"/>
            <a:ext cx="9435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162800" y="2571750"/>
            <a:ext cx="1162050" cy="609600"/>
          </a:xfrm>
          <a:prstGeom prst="rect">
            <a:avLst/>
          </a:prstGeom>
          <a:solidFill>
            <a:srgbClr val="E8EDFB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430068" y="2803525"/>
            <a:ext cx="62751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Jev 预审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76285" y="2803525"/>
            <a:ext cx="9435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sp>
        <p:nvSpPr>
          <p:cNvPr id="25" name="Rectangle 25"/>
          <p:cNvSpPr/>
          <p:nvPr/>
        </p:nvSpPr>
        <p:spPr>
          <a:xfrm>
            <a:off x="8458200" y="2571750"/>
            <a:ext cx="1162050" cy="609600"/>
          </a:xfrm>
          <a:prstGeom prst="rect">
            <a:avLst/>
          </a:prstGeom>
          <a:solidFill>
            <a:srgbClr val="E8EDF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731961" y="2803525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确认横幅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671685" y="2803525"/>
            <a:ext cx="9435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753600" y="2571750"/>
            <a:ext cx="1162050" cy="609600"/>
          </a:xfrm>
          <a:prstGeom prst="rect">
            <a:avLst/>
          </a:prstGeom>
          <a:solidFill>
            <a:srgbClr val="1F3BD8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0178136" y="2803525"/>
            <a:ext cx="31297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审计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85800" y="3771900"/>
            <a:ext cx="3429000" cy="142875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07161" y="3975100"/>
            <a:ext cx="194328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task_scope 三种收窄</a:t>
            </a:r>
          </a:p>
        </p:txBody>
      </p:sp>
      <p:sp>
        <p:nvSpPr>
          <p:cNvPr id="32" name="Rectangle 32"/>
          <p:cNvSpPr/>
          <p:nvPr/>
        </p:nvSpPr>
        <p:spPr>
          <a:xfrm>
            <a:off x="914400" y="4305300"/>
            <a:ext cx="419100" cy="28575"/>
          </a:xfrm>
          <a:prstGeom prst="rect">
            <a:avLst/>
          </a:prstGeom>
          <a:solidFill>
            <a:srgbClr val="1F3BD8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08685" y="4546600"/>
            <a:ext cx="420295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路径前缀 · pkg: 应用白名单 · time: 时间窗，权限收到最小。</a:t>
            </a:r>
          </a:p>
        </p:txBody>
      </p:sp>
      <p:sp>
        <p:nvSpPr>
          <p:cNvPr id="34" name="Rectangle 34"/>
          <p:cNvSpPr/>
          <p:nvPr/>
        </p:nvSpPr>
        <p:spPr>
          <a:xfrm>
            <a:off x="4381500" y="3771900"/>
            <a:ext cx="3429000" cy="142875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4602861" y="3975100"/>
            <a:ext cx="97028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预算与计价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610100" y="4305300"/>
            <a:ext cx="419100" cy="28575"/>
          </a:xfrm>
          <a:prstGeom prst="rect">
            <a:avLst/>
          </a:prstGeom>
          <a:solidFill>
            <a:srgbClr val="1F3BD8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604385" y="4546600"/>
            <a:ext cx="45933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EDQUOT 见底即拒；FleetLedger 给不可逆操作记账，超出弹确认。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077200" y="3771900"/>
            <a:ext cx="3429000" cy="142875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298561" y="3975100"/>
            <a:ext cx="58795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可回放</a:t>
            </a:r>
          </a:p>
        </p:txBody>
      </p:sp>
      <p:sp>
        <p:nvSpPr>
          <p:cNvPr id="40" name="Rectangle 40"/>
          <p:cNvSpPr/>
          <p:nvPr/>
        </p:nvSpPr>
        <p:spPr>
          <a:xfrm>
            <a:off x="8305800" y="4305300"/>
            <a:ext cx="419100" cy="28575"/>
          </a:xfrm>
          <a:prstGeom prst="rect">
            <a:avLst/>
          </a:prstGeom>
          <a:solidFill>
            <a:srgbClr val="1F3BD8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300085" y="4546600"/>
            <a:ext cx="302691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事后完整回答：谁、何时、用掉了什么权限。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78561" y="5632450"/>
            <a:ext cx="383768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事后可完整回放：谁在何时用掉了什么权限。</a:t>
            </a:r>
          </a:p>
        </p:txBody>
      </p:sp>
      <p:sp>
        <p:nvSpPr>
          <p:cNvPr id="43" name="Line 43"/>
          <p:cNvSpPr/>
          <p:nvPr/>
        </p:nvSpPr>
        <p:spPr>
          <a:xfrm>
            <a:off x="685800" y="63627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681038" y="6489700"/>
            <a:ext cx="187909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github.com/Yfredy/LAOS · v0.9.0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084300" y="6489700"/>
            <a:ext cx="142666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FIELD NOTE 01 · 26.10.05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038" y="361950"/>
            <a:ext cx="19489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LAOS · LINUX AGENTOS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672942" y="361950"/>
            <a:ext cx="183802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spc="15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06 / 12 · ENFORCEMENT</a:t>
            </a:r>
          </a:p>
        </p:txBody>
      </p:sp>
      <p:sp>
        <p:nvSpPr>
          <p:cNvPr id="4" name="Line 4"/>
          <p:cNvSpPr/>
          <p:nvPr/>
        </p:nvSpPr>
        <p:spPr>
          <a:xfrm>
            <a:off x="685800" y="6286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80847" y="1123950"/>
            <a:ext cx="1862389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spc="300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SHEET 06 · 强制规格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9036" y="1403350"/>
            <a:ext cx="714146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强制发生在内核，不在上下文窗口。</a:t>
            </a:r>
          </a:p>
        </p:txBody>
      </p:sp>
      <p:sp>
        <p:nvSpPr>
          <p:cNvPr id="7" name="Rectangle 7"/>
          <p:cNvSpPr/>
          <p:nvPr/>
        </p:nvSpPr>
        <p:spPr>
          <a:xfrm>
            <a:off x="685800" y="2476500"/>
            <a:ext cx="34290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8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685800" y="2476500"/>
            <a:ext cx="3429000" cy="57150"/>
          </a:xfrm>
          <a:prstGeom prst="rect">
            <a:avLst/>
          </a:prstGeom>
          <a:solidFill>
            <a:srgbClr val="1F3BD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09638" y="2800350"/>
            <a:ext cx="69441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SPEC-01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5256" y="3098800"/>
            <a:ext cx="157080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seccomp BPF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08304" y="361950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进程级系统调用白名单。拦截是真实的，不依赖模型自觉。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381500" y="2476500"/>
            <a:ext cx="34290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8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381500" y="2476500"/>
            <a:ext cx="3429000" cy="57150"/>
          </a:xfrm>
          <a:prstGeom prst="rect">
            <a:avLst/>
          </a:prstGeom>
          <a:solidFill>
            <a:srgbClr val="1F3BD8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605338" y="2800350"/>
            <a:ext cx="69441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SPEC-02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00956" y="3098800"/>
            <a:ext cx="121411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cgroup v2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04004" y="3619500"/>
            <a:ext cx="37722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驱动子进程 CPU / 内存上限；驱动失控不拖垮宿主。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077200" y="2476500"/>
            <a:ext cx="34290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8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8077200" y="2476500"/>
            <a:ext cx="3429000" cy="57150"/>
          </a:xfrm>
          <a:prstGeom prst="rect">
            <a:avLst/>
          </a:prstGeom>
          <a:solidFill>
            <a:srgbClr val="1F3BD8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301038" y="2800350"/>
            <a:ext cx="69441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SPEC-03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96656" y="3098800"/>
            <a:ext cx="139482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eBPF + CoW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299704" y="3619500"/>
            <a:ext cx="34672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行为画像与执行隔离，给每个 Agent 建立档案。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8180" y="5118100"/>
            <a:ext cx="512242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不发明新机制，只做 Linux 三十年强制原语的正确组合。</a:t>
            </a:r>
          </a:p>
        </p:txBody>
      </p:sp>
      <p:sp>
        <p:nvSpPr>
          <p:cNvPr id="23" name="Line 23"/>
          <p:cNvSpPr/>
          <p:nvPr/>
        </p:nvSpPr>
        <p:spPr>
          <a:xfrm>
            <a:off x="685800" y="63627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81038" y="6489700"/>
            <a:ext cx="187909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github.com/Yfredy/LAOS · v0.9.0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084300" y="6489700"/>
            <a:ext cx="142666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FIELD NOTE 01 · 26.10.05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038" y="361950"/>
            <a:ext cx="19489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LAOS · LINUX AGENTOS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123132" y="361950"/>
            <a:ext cx="138783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spc="15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07 / 12 · DRIVERS</a:t>
            </a:r>
          </a:p>
        </p:txBody>
      </p:sp>
      <p:sp>
        <p:nvSpPr>
          <p:cNvPr id="4" name="Line 4"/>
          <p:cNvSpPr/>
          <p:nvPr/>
        </p:nvSpPr>
        <p:spPr>
          <a:xfrm>
            <a:off x="685800" y="6286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80847" y="1123950"/>
            <a:ext cx="1862389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spc="300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SHEET 07 · 设备清单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9036" y="1403350"/>
            <a:ext cx="5892860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MCP Server 就是设备驱动。</a:t>
            </a:r>
          </a:p>
        </p:txBody>
      </p:sp>
      <p:sp>
        <p:nvSpPr>
          <p:cNvPr id="7" name="Rectangle 7"/>
          <p:cNvSpPr/>
          <p:nvPr/>
        </p:nvSpPr>
        <p:spPr>
          <a:xfrm>
            <a:off x="685800" y="2381250"/>
            <a:ext cx="3429000" cy="158115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07161" y="2622550"/>
            <a:ext cx="178080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drv_mic / drv_ear</a:t>
            </a:r>
          </a:p>
        </p:txBody>
      </p:sp>
      <p:sp>
        <p:nvSpPr>
          <p:cNvPr id="9" name="Rectangle 9"/>
          <p:cNvSpPr/>
          <p:nvPr/>
        </p:nvSpPr>
        <p:spPr>
          <a:xfrm>
            <a:off x="914400" y="2952750"/>
            <a:ext cx="419100" cy="28575"/>
          </a:xfrm>
          <a:prstGeom prst="rect">
            <a:avLst/>
          </a:prstGeom>
          <a:solidFill>
            <a:srgbClr val="1F3BD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08685" y="3194050"/>
            <a:ext cx="336246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录音只由显式 syscall 触发；本地 ASR + 韵律评估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381500" y="2381250"/>
            <a:ext cx="3429000" cy="158115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602861" y="2622550"/>
            <a:ext cx="111842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drv_screen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610100" y="2952750"/>
            <a:ext cx="419100" cy="28575"/>
          </a:xfrm>
          <a:prstGeom prst="rect">
            <a:avLst/>
          </a:prstGeom>
          <a:solidFill>
            <a:srgbClr val="1F3BD8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604385" y="3194050"/>
            <a:ext cx="251428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adb 屏幕操控 · pkg: 应用白名单收窄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077200" y="2381250"/>
            <a:ext cx="3429000" cy="158115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298561" y="2622550"/>
            <a:ext cx="193133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drv_notify / comms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305800" y="2952750"/>
            <a:ext cx="419100" cy="28575"/>
          </a:xfrm>
          <a:prstGeom prst="rect">
            <a:avLst/>
          </a:prstGeom>
          <a:solidFill>
            <a:srgbClr val="1F3BD8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300085" y="3194050"/>
            <a:ext cx="213734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通知与短信——敏感数据走可信闸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85800" y="4191000"/>
            <a:ext cx="3429000" cy="158115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07161" y="4432300"/>
            <a:ext cx="168044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drv_npu / events</a:t>
            </a:r>
          </a:p>
        </p:txBody>
      </p:sp>
      <p:sp>
        <p:nvSpPr>
          <p:cNvPr id="21" name="Rectangle 21"/>
          <p:cNvSpPr/>
          <p:nvPr/>
        </p:nvSpPr>
        <p:spPr>
          <a:xfrm>
            <a:off x="914400" y="4762500"/>
            <a:ext cx="419100" cy="28575"/>
          </a:xfrm>
          <a:prstGeom prst="rect">
            <a:avLst/>
          </a:prstGeom>
          <a:solidFill>
            <a:srgbClr val="1F3BD8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08685" y="5003800"/>
            <a:ext cx="15191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端侧感知事件环形缓冲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381500" y="4191000"/>
            <a:ext cx="3429000" cy="158115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602861" y="4432300"/>
            <a:ext cx="148020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drv_battery 等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610100" y="4762500"/>
            <a:ext cx="419100" cy="28575"/>
          </a:xfrm>
          <a:prstGeom prst="rect">
            <a:avLst/>
          </a:prstGeom>
          <a:solidFill>
            <a:srgbClr val="1F3BD8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604385" y="5003800"/>
            <a:ext cx="15191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手机五层能力的传感面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77200" y="4191000"/>
            <a:ext cx="3429000" cy="1581150"/>
          </a:xfrm>
          <a:prstGeom prst="rect">
            <a:avLst/>
          </a:prstGeom>
          <a:solidFill>
            <a:srgbClr val="E8EDF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298561" y="4432300"/>
            <a:ext cx="157100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load_driver 外挂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305800" y="4762500"/>
            <a:ext cx="419100" cy="28575"/>
          </a:xfrm>
          <a:prstGeom prst="rect">
            <a:avLst/>
          </a:prstGeom>
          <a:solidFill>
            <a:srgbClr val="1F3BD8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8300085" y="5003800"/>
            <a:ext cx="39524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一行把 mobile-mcp 等任意 MCP 服务器装成驱动·遥测必关</a:t>
            </a:r>
          </a:p>
        </p:txBody>
      </p:sp>
      <p:sp>
        <p:nvSpPr>
          <p:cNvPr id="31" name="Line 31"/>
          <p:cNvSpPr/>
          <p:nvPr/>
        </p:nvSpPr>
        <p:spPr>
          <a:xfrm>
            <a:off x="685800" y="63627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681038" y="6489700"/>
            <a:ext cx="187909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github.com/Yfredy/LAOS · v0.9.0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084300" y="6489700"/>
            <a:ext cx="142666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FIELD NOTE 01 · 26.10.05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038" y="361950"/>
            <a:ext cx="19489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LAOS · LINUX AGENTOS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123132" y="361950"/>
            <a:ext cx="138783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spc="15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08 / 12 · HEARING</a:t>
            </a:r>
          </a:p>
        </p:txBody>
      </p:sp>
      <p:sp>
        <p:nvSpPr>
          <p:cNvPr id="4" name="Line 4"/>
          <p:cNvSpPr/>
          <p:nvPr/>
        </p:nvSpPr>
        <p:spPr>
          <a:xfrm>
            <a:off x="685800" y="6286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80847" y="1123950"/>
            <a:ext cx="1862389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spc="300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SHEET 08 · 听觉台账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9036" y="1403350"/>
            <a:ext cx="3143250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常开，但克制。</a:t>
            </a:r>
          </a:p>
        </p:txBody>
      </p:sp>
      <p:sp>
        <p:nvSpPr>
          <p:cNvPr id="7" name="Line 7"/>
          <p:cNvSpPr/>
          <p:nvPr/>
        </p:nvSpPr>
        <p:spPr>
          <a:xfrm>
            <a:off x="685800" y="23431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678942" y="2520950"/>
            <a:ext cx="45729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S-01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11249" y="2495550"/>
            <a:ext cx="86680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常驻检测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20999" y="2495550"/>
            <a:ext cx="59615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C89B3C"/>
                </a:solidFill>
                <a:latin typeface="+mn-lt"/>
                <a:ea typeface="+mn-ea"/>
                <a:cs typeface="+mn-cs"/>
              </a:rPr>
              <a:t>µW 级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946904" y="2533650"/>
            <a:ext cx="32537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PCEN/VAD 低功耗常开——功耗预算决定一切。</a:t>
            </a:r>
          </a:p>
        </p:txBody>
      </p:sp>
      <p:sp>
        <p:nvSpPr>
          <p:cNvPr id="12" name="Line 12"/>
          <p:cNvSpPr/>
          <p:nvPr/>
        </p:nvSpPr>
        <p:spPr>
          <a:xfrm>
            <a:off x="685800" y="29527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78942" y="3130550"/>
            <a:ext cx="45729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S-02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11249" y="3105150"/>
            <a:ext cx="86680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触发捕获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20999" y="3105150"/>
            <a:ext cx="384504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b="1" dirty="0">
                <a:solidFill>
                  <a:srgbClr val="C89B3C"/>
                </a:solidFill>
                <a:latin typeface="+mn-lt"/>
                <a:ea typeface="+mn-ea"/>
                <a:cs typeface="+mn-cs"/>
              </a:rPr>
              <a:t>15s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46904" y="3143250"/>
            <a:ext cx="36617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环形缓冲 + 私有唤醒词 DTW（纯 JSON 非声纹）。</a:t>
            </a:r>
          </a:p>
        </p:txBody>
      </p:sp>
      <p:sp>
        <p:nvSpPr>
          <p:cNvPr id="17" name="Line 17"/>
          <p:cNvSpPr/>
          <p:nvPr/>
        </p:nvSpPr>
        <p:spPr>
          <a:xfrm>
            <a:off x="685800" y="35623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942" y="3740150"/>
            <a:ext cx="45729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S-03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11249" y="3714750"/>
            <a:ext cx="86680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即时蒸馏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20999" y="3714750"/>
            <a:ext cx="654101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C89B3C"/>
                </a:solidFill>
                <a:latin typeface="+mn-lt"/>
                <a:ea typeface="+mn-ea"/>
                <a:cs typeface="+mn-cs"/>
              </a:rPr>
              <a:t>零上云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46904" y="3752850"/>
            <a:ext cx="24173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SenseVoice 全本地 ASR + 情感。</a:t>
            </a:r>
          </a:p>
        </p:txBody>
      </p:sp>
      <p:sp>
        <p:nvSpPr>
          <p:cNvPr id="22" name="Line 22"/>
          <p:cNvSpPr/>
          <p:nvPr/>
        </p:nvSpPr>
        <p:spPr>
          <a:xfrm>
            <a:off x="685800" y="41719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78942" y="4349750"/>
            <a:ext cx="45729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S-04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11249" y="4324350"/>
            <a:ext cx="441401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即焚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420999" y="4324350"/>
            <a:ext cx="26167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b="1" dirty="0">
                <a:solidFill>
                  <a:srgbClr val="C89B3C"/>
                </a:solidFill>
                <a:latin typeface="+mn-lt"/>
                <a:ea typeface="+mn-ea"/>
                <a:cs typeface="+mn-cs"/>
              </a:rPr>
              <a:t>6h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946904" y="4362450"/>
            <a:ext cx="31363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默认六小时留存；LAOS_REC=0 全局禁录。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85800" y="4914900"/>
            <a:ext cx="6667500" cy="457200"/>
          </a:xfrm>
          <a:prstGeom prst="rect">
            <a:avLst/>
          </a:prstGeom>
          <a:solidFill>
            <a:srgbClr val="17171A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08304" y="5057775"/>
            <a:ext cx="46637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红线：录音只由显式 syscall 触发 · 每次调用审计 · ASR 全本地</a:t>
            </a:r>
          </a:p>
        </p:txBody>
      </p:sp>
      <p:sp>
        <p:nvSpPr>
          <p:cNvPr id="29" name="Line 29"/>
          <p:cNvSpPr/>
          <p:nvPr/>
        </p:nvSpPr>
        <p:spPr>
          <a:xfrm>
            <a:off x="685800" y="63627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81038" y="6489700"/>
            <a:ext cx="187909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github.com/Yfredy/LAOS · v0.9.0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084300" y="6489700"/>
            <a:ext cx="142666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FIELD NOTE 01 · 26.10.05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038" y="361950"/>
            <a:ext cx="19489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LAOS · LINUX AGENTOS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973780" y="361950"/>
            <a:ext cx="153718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spc="15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09 / 12 · JUDGMENT</a:t>
            </a:r>
          </a:p>
        </p:txBody>
      </p:sp>
      <p:sp>
        <p:nvSpPr>
          <p:cNvPr id="4" name="Line 4"/>
          <p:cNvSpPr/>
          <p:nvPr/>
        </p:nvSpPr>
        <p:spPr>
          <a:xfrm>
            <a:off x="685800" y="6286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80847" y="1123950"/>
            <a:ext cx="1862389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spc="300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SHEET 09 · 判断台账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9036" y="1403350"/>
            <a:ext cx="5808726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快问快答判断层，校准先行。</a:t>
            </a:r>
          </a:p>
        </p:txBody>
      </p:sp>
      <p:sp>
        <p:nvSpPr>
          <p:cNvPr id="7" name="Rectangle 7"/>
          <p:cNvSpPr/>
          <p:nvPr/>
        </p:nvSpPr>
        <p:spPr>
          <a:xfrm>
            <a:off x="685800" y="2476500"/>
            <a:ext cx="3429000" cy="200025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09638" y="2781300"/>
            <a:ext cx="4895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TYPES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5637" y="3079750"/>
            <a:ext cx="712165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三判型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8304" y="3600450"/>
            <a:ext cx="367583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Noul 是非 · Choice 2-255 选项 · Score 2-10 级。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381500" y="2476500"/>
            <a:ext cx="3429000" cy="200025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605338" y="2781300"/>
            <a:ext cx="4895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GATES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01337" y="3079750"/>
            <a:ext cx="712165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四闸门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04004" y="3600450"/>
            <a:ext cx="331576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高危预审 · 记忆过滤 · 压缩选择 · 技能质量。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077200" y="2476500"/>
            <a:ext cx="3429000" cy="200025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301038" y="2781300"/>
            <a:ext cx="10656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CALIBRATION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97037" y="3079750"/>
            <a:ext cx="943712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校准教训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99704" y="360045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rule 后端 accuracy 0.519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28304" y="3886200"/>
            <a:ext cx="32292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高置信桶错误率 33% → AUTOGATE 禁配 rule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8180" y="5022850"/>
            <a:ext cx="62998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判断后端可插拔（none / rule / cloud / local）——校准数据说了算。</a:t>
            </a:r>
          </a:p>
        </p:txBody>
      </p:sp>
      <p:sp>
        <p:nvSpPr>
          <p:cNvPr id="21" name="Line 21"/>
          <p:cNvSpPr/>
          <p:nvPr/>
        </p:nvSpPr>
        <p:spPr>
          <a:xfrm>
            <a:off x="685800" y="63627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81038" y="6489700"/>
            <a:ext cx="187909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github.com/Yfredy/LAOS · v0.9.0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084300" y="6489700"/>
            <a:ext cx="142666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FIELD NOTE 01 · 26.10.05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038" y="361950"/>
            <a:ext cx="19489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LAOS · LINUX AGENTOS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031387" y="361950"/>
            <a:ext cx="147957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spc="15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10 / 12 · EVIDENCE</a:t>
            </a:r>
          </a:p>
        </p:txBody>
      </p:sp>
      <p:sp>
        <p:nvSpPr>
          <p:cNvPr id="4" name="Line 4"/>
          <p:cNvSpPr/>
          <p:nvPr/>
        </p:nvSpPr>
        <p:spPr>
          <a:xfrm>
            <a:off x="685800" y="6286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80847" y="1123950"/>
            <a:ext cx="1862389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spc="300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SHEET 10 · 证据台账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9036" y="1403350"/>
            <a:ext cx="3143250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设计不拍脑袋。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6750" y="2660650"/>
            <a:ext cx="1857287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19,792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1828800"/>
            <a:ext cx="438150" cy="4381500"/>
          </a:xfrm>
          <a:prstGeom prst="rect">
            <a:avLst/>
          </a:prstGeom>
          <a:solidFill>
            <a:srgbClr val="E8EDF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680085" y="3384550"/>
            <a:ext cx="13684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双会议全量论文遍历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48050" y="2660650"/>
            <a:ext cx="1554089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9,908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543300" y="4019550"/>
            <a:ext cx="438150" cy="2190750"/>
          </a:xfrm>
          <a:prstGeom prst="rect">
            <a:avLst/>
          </a:prstGeom>
          <a:solidFill>
            <a:srgbClr val="E8EDF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461385" y="3384550"/>
            <a:ext cx="18659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多顶会主题切片 · 35 venue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229350" y="2660650"/>
            <a:ext cx="1554089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3,724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324600" y="5353050"/>
            <a:ext cx="438150" cy="857250"/>
          </a:xfrm>
          <a:prstGeom prst="rect">
            <a:avLst/>
          </a:prstGeom>
          <a:solidFill>
            <a:srgbClr val="E8EDFB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242685" y="3384550"/>
            <a:ext cx="916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开源仓库普查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010650" y="2660650"/>
            <a:ext cx="644496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76</a:t>
            </a:r>
          </a:p>
        </p:txBody>
      </p:sp>
      <p:sp>
        <p:nvSpPr>
          <p:cNvPr id="17" name="Rectangle 17"/>
          <p:cNvSpPr/>
          <p:nvPr/>
        </p:nvSpPr>
        <p:spPr>
          <a:xfrm>
            <a:off x="9105900" y="5867400"/>
            <a:ext cx="438150" cy="342900"/>
          </a:xfrm>
          <a:prstGeom prst="rect">
            <a:avLst/>
          </a:prstGeom>
          <a:solidFill>
            <a:srgbClr val="E8EDF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023985" y="3384550"/>
            <a:ext cx="916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采纳总纲映射</a:t>
            </a:r>
          </a:p>
        </p:txBody>
      </p:sp>
      <p:sp>
        <p:nvSpPr>
          <p:cNvPr id="19" name="Line 19"/>
          <p:cNvSpPr/>
          <p:nvPr/>
        </p:nvSpPr>
        <p:spPr>
          <a:xfrm>
            <a:off x="685800" y="62103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17171A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78561" y="4203700"/>
            <a:ext cx="577653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每个模块背后是可溯源的论文与开源证据链 —— corpus/ 全量公开。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0085" y="4546600"/>
            <a:ext cx="47665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Interspeech 5,507 + ICASSP 14,285；落地 33 / 推荐 23 / 不做 20。</a:t>
            </a:r>
          </a:p>
        </p:txBody>
      </p:sp>
      <p:sp>
        <p:nvSpPr>
          <p:cNvPr id="22" name="Line 22"/>
          <p:cNvSpPr/>
          <p:nvPr/>
        </p:nvSpPr>
        <p:spPr>
          <a:xfrm>
            <a:off x="685800" y="63627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81038" y="6489700"/>
            <a:ext cx="187909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github.com/Yfredy/LAOS · v0.9.0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084300" y="6489700"/>
            <a:ext cx="142666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FIELD NOTE 01 · 26.10.05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038" y="361950"/>
            <a:ext cx="19489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LAOS · LINUX AGENTOS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49014" y="361950"/>
            <a:ext cx="12619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spc="15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11 / 12 · REPRO</a:t>
            </a:r>
          </a:p>
        </p:txBody>
      </p:sp>
      <p:sp>
        <p:nvSpPr>
          <p:cNvPr id="4" name="Line 4"/>
          <p:cNvSpPr/>
          <p:nvPr/>
        </p:nvSpPr>
        <p:spPr>
          <a:xfrm>
            <a:off x="685800" y="6286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80847" y="1123950"/>
            <a:ext cx="1862389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spc="300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SHEET 11 · 复现台账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9036" y="1403350"/>
            <a:ext cx="447598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能复现的，全部复现。</a:t>
            </a:r>
          </a:p>
        </p:txBody>
      </p:sp>
      <p:sp>
        <p:nvSpPr>
          <p:cNvPr id="7" name="Line 7"/>
          <p:cNvSpPr/>
          <p:nvPr/>
        </p:nvSpPr>
        <p:spPr>
          <a:xfrm>
            <a:off x="685800" y="23812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678942" y="2559050"/>
            <a:ext cx="45729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F-01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16380" y="2546350"/>
            <a:ext cx="19991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BS.1770-4 响度计量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27904" y="2571750"/>
            <a:ext cx="35564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R128 校准点 −23.00 LUFS ±0.1 · True Peak 4×</a:t>
            </a:r>
          </a:p>
        </p:txBody>
      </p:sp>
      <p:sp>
        <p:nvSpPr>
          <p:cNvPr id="11" name="Line 11"/>
          <p:cNvSpPr/>
          <p:nvPr/>
        </p:nvSpPr>
        <p:spPr>
          <a:xfrm>
            <a:off x="685800" y="29718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78942" y="3149600"/>
            <a:ext cx="45729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F-02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16380" y="3136900"/>
            <a:ext cx="15432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FxLMS 主动降噪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27904" y="3162300"/>
            <a:ext cx="31558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发动机阶次收敛 &gt;20dB · 2×2 多通道 ~15dB</a:t>
            </a:r>
          </a:p>
        </p:txBody>
      </p:sp>
      <p:sp>
        <p:nvSpPr>
          <p:cNvPr id="15" name="Line 15"/>
          <p:cNvSpPr/>
          <p:nvPr/>
        </p:nvSpPr>
        <p:spPr>
          <a:xfrm>
            <a:off x="685800" y="35623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78942" y="3740150"/>
            <a:ext cx="45729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F-03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16380" y="3727450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头部朝向论文全管线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27904" y="3752850"/>
            <a:ext cx="373522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镜像源法 + STFT 相位 + BiGRU-MHSA · 冒烟 56.5°</a:t>
            </a:r>
          </a:p>
        </p:txBody>
      </p:sp>
      <p:sp>
        <p:nvSpPr>
          <p:cNvPr id="19" name="Line 19"/>
          <p:cNvSpPr/>
          <p:nvPr/>
        </p:nvSpPr>
        <p:spPr>
          <a:xfrm>
            <a:off x="685800" y="41529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78942" y="4330700"/>
            <a:ext cx="45729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F-04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16380" y="4318000"/>
            <a:ext cx="206663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PhaseCoder 麦位编码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27904" y="4343400"/>
            <a:ext cx="289209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与官方 JAX 源码逐行对齐（α=7 · β=4）</a:t>
            </a:r>
          </a:p>
        </p:txBody>
      </p:sp>
      <p:sp>
        <p:nvSpPr>
          <p:cNvPr id="23" name="Line 23"/>
          <p:cNvSpPr/>
          <p:nvPr/>
        </p:nvSpPr>
        <p:spPr>
          <a:xfrm>
            <a:off x="685800" y="47434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78942" y="4921250"/>
            <a:ext cx="45729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F-05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16380" y="4908550"/>
            <a:ext cx="287519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Pipecat 帧管道 + unique_lock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327904" y="4933950"/>
            <a:ext cx="38898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打断作废排队帧而系统帧穿管 · RAII/defer/try_lock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85800" y="5410200"/>
            <a:ext cx="2476500" cy="495300"/>
          </a:xfrm>
          <a:prstGeom prst="rect">
            <a:avLst/>
          </a:prstGeom>
          <a:solidFill>
            <a:srgbClr val="1F3BD8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07161" y="5556250"/>
            <a:ext cx="125128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71 项测试全绿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422904" y="5581650"/>
            <a:ext cx="36079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TDD · 零新依赖 · 论文数字不作断言 · 偏差全记档</a:t>
            </a:r>
          </a:p>
        </p:txBody>
      </p:sp>
      <p:sp>
        <p:nvSpPr>
          <p:cNvPr id="30" name="Line 30"/>
          <p:cNvSpPr/>
          <p:nvPr/>
        </p:nvSpPr>
        <p:spPr>
          <a:xfrm>
            <a:off x="685800" y="63627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81038" y="6489700"/>
            <a:ext cx="187909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github.com/Yfredy/LAOS · v0.9.0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084300" y="6489700"/>
            <a:ext cx="142666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FIELD NOTE 01 · 26.10.05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038" y="361950"/>
            <a:ext cx="19489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LAOS · LINUX AGENTOS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031387" y="361950"/>
            <a:ext cx="147957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spc="15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12 / 12 · AS-BUILT</a:t>
            </a:r>
          </a:p>
        </p:txBody>
      </p:sp>
      <p:sp>
        <p:nvSpPr>
          <p:cNvPr id="4" name="Line 4"/>
          <p:cNvSpPr/>
          <p:nvPr/>
        </p:nvSpPr>
        <p:spPr>
          <a:xfrm>
            <a:off x="685800" y="6286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80847" y="1485900"/>
            <a:ext cx="220701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spc="300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SHEET 12 · 竣工与下一步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6750" y="2184400"/>
            <a:ext cx="528828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能力边界写在内核里，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6750" y="2832100"/>
            <a:ext cx="4238244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不写在提示词里。</a:t>
            </a:r>
          </a:p>
        </p:txBody>
      </p:sp>
      <p:sp>
        <p:nvSpPr>
          <p:cNvPr id="8" name="Line 8"/>
          <p:cNvSpPr/>
          <p:nvPr/>
        </p:nvSpPr>
        <p:spPr>
          <a:xfrm>
            <a:off x="685800" y="3810000"/>
            <a:ext cx="4076700" cy="9525"/>
          </a:xfrm>
          <a:custGeom>
            <a:avLst/>
            <a:gdLst/>
            <a:ahLst/>
            <a:cxnLst/>
            <a:rect l="l" t="t" r="r" b="b"/>
            <a:pathLst>
              <a:path w="4076700" h="9525">
                <a:moveTo>
                  <a:pt x="0" y="0"/>
                </a:moveTo>
                <a:lnTo>
                  <a:pt x="4076700" y="0"/>
                </a:lnTo>
              </a:path>
            </a:pathLst>
          </a:custGeom>
          <a:noFill/>
          <a:ln w="28575">
            <a:solidFill>
              <a:srgbClr val="C89B3C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78561" y="4089400"/>
            <a:ext cx="590531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17171A"/>
                </a:solidFill>
                <a:latin typeface="+mn-lt"/>
                <a:ea typeface="+mn-ea"/>
                <a:cs typeface="+mn-cs"/>
              </a:rPr>
              <a:t>v0.1 → v0.9 语义化版本 · Keep a Changelog · GitHub Release 页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9704" y="4419600"/>
            <a:ext cx="63725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5555E"/>
                </a:solidFill>
                <a:latin typeface="+mn-lt"/>
                <a:ea typeface="+mn-ea"/>
                <a:cs typeface="+mn-cs"/>
              </a:rPr>
              <a:t>一个完整需求波次 = 一次 MINOR；合规红线前置（EU AI Act / PIPL / 拒绝伪装采集）。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0847" y="5105400"/>
            <a:ext cx="444591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spc="30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NEXT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8942" y="5397500"/>
            <a:ext cx="65134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3BD8"/>
                </a:solidFill>
                <a:latin typeface="+mn-lt"/>
                <a:ea typeface="+mn-ea"/>
                <a:cs typeface="+mn-cs"/>
              </a:rPr>
              <a:t>drv_screen 真机验收 → 外挂驱动 PoC（mobile-mcp）→ bs1770 响度合入主库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0085" y="5880100"/>
            <a:ext cx="273519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github.com/Yfredy/LAOS · 26.10.05</a:t>
            </a:r>
          </a:p>
        </p:txBody>
      </p:sp>
      <p:sp>
        <p:nvSpPr>
          <p:cNvPr id="14" name="Line 14"/>
          <p:cNvSpPr/>
          <p:nvPr/>
        </p:nvSpPr>
        <p:spPr>
          <a:xfrm>
            <a:off x="685800" y="63627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3E3E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81038" y="6489700"/>
            <a:ext cx="187909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github.com/Yfredy/LAOS · v0.9.0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84300" y="6489700"/>
            <a:ext cx="142666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FIELD NOTE 01 · 26.10.05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laos-intro-master">
  <a:themeElements>
    <a:clrScheme name="laos-intro-maste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os-intro-master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os-intro-mast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2026-10-04T17:01:18Z</dcterms:created>
  <dcterms:modified xsi:type="dcterms:W3CDTF">2026-10-04T17:01:18Z</dcterms:modified>
  <cp:category/>
  <cp:contentStatus/>
</cp:coreProperties>
</file>