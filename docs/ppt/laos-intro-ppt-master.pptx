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16x9"/>
  <p:notesSz cx="6858000" cy="9144000"/>
  <p:defaultTextStyle>
    <a:defPPr>
      <a:defRPr lang="zh-CN"/>
    </a:defPPr>
    <a:lvl1pPr marL="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 lang="zh-CN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p="http://schemas.openxmlformats.org/presentationml/2006/main" type="blank" preserve="1">
  <p:cSld name="laos-intro-master —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 name="laos-intro-master — 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zh-CN" smtClean="0"/>
              <a:t>1/27/13</a:t>
            </a:fld>
            <a:endParaRPr lang="zh-C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lang="zh-CN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zh-CN" smtClean="0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lang="zh-CN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 lang="zh-CN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 lang="zh-CN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49014" y="361950"/>
            <a:ext cx="126194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01 / 12 · COVER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Rectangle 5"/>
          <p:cNvSpPr/>
          <p:nvPr/>
        </p:nvSpPr>
        <p:spPr>
          <a:xfrm>
            <a:off x="685800" y="1143000"/>
            <a:ext cx="2286000" cy="76200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6" name="TextBox 6"/>
          <p:cNvSpPr txBox="1"/>
          <p:nvPr/>
        </p:nvSpPr>
        <p:spPr>
          <a:xfrm>
            <a:off x="680847" y="1485900"/>
            <a:ext cx="3239892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LINUX AGENTOS · FIELD NOTE 01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6750" y="2006600"/>
            <a:ext cx="7210425" cy="8763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45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Linux 内核的 Agent 治理层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675894" y="2901950"/>
            <a:ext cx="4744974" cy="38138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950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内核强制的能力边界，而不是提示词恳求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78180" y="3403600"/>
            <a:ext cx="459203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Linux kernel + Agent + MCP —— 不改内核一行代码</a:t>
            </a:r>
          </a:p>
        </p:txBody>
      </p:sp>
      <p:sp>
        <p:nvSpPr>
          <p:cNvPr id="10" name="Rectangle 10"/>
          <p:cNvSpPr/>
          <p:nvPr/>
        </p:nvSpPr>
        <p:spPr>
          <a:xfrm>
            <a:off x="685800" y="4095750"/>
            <a:ext cx="4191000" cy="81915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906018" y="4235450"/>
            <a:ext cx="1582176" cy="32270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6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703 项测试全绿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08685" y="4584700"/>
            <a:ext cx="284360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主库 353 · AlwaysOnRec 279 · Repro 71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79704" y="5419725"/>
            <a:ext cx="174213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GitHub · Yfredy/LAOS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085" y="5689600"/>
            <a:ext cx="151163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2026-10-05 · v0.9.0</a:t>
            </a:r>
          </a:p>
        </p:txBody>
      </p:sp>
      <p:sp>
        <p:nvSpPr>
          <p:cNvPr id="15" name="Ellipse 15"/>
          <p:cNvSpPr/>
          <p:nvPr/>
        </p:nvSpPr>
        <p:spPr>
          <a:xfrm>
            <a:off x="9525000" y="1428750"/>
            <a:ext cx="2857500" cy="2857500"/>
          </a:xfrm>
          <a:prstGeom prst="ellipse">
            <a:avLst/>
          </a:prstGeom>
          <a:noFill/>
          <a:ln w="19050">
            <a:solidFill>
              <a:srgbClr val="1F3BD8"/>
            </a:solidFill>
          </a:ln>
        </p:spPr>
        <p:txBody>
          <a:bodyPr/>
          <a:p/>
        </p:txBody>
      </p:sp>
      <p:sp>
        <p:nvSpPr>
          <p:cNvPr id="16" name="Ellipse 16"/>
          <p:cNvSpPr/>
          <p:nvPr/>
        </p:nvSpPr>
        <p:spPr>
          <a:xfrm>
            <a:off x="9963150" y="1866900"/>
            <a:ext cx="1981200" cy="1981200"/>
          </a:xfrm>
          <a:prstGeom prst="ellipse">
            <a:avLst/>
          </a:pr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7" name="Ellipse 17"/>
          <p:cNvSpPr/>
          <p:nvPr/>
        </p:nvSpPr>
        <p:spPr>
          <a:xfrm>
            <a:off x="10401300" y="2305050"/>
            <a:ext cx="1104900" cy="1104900"/>
          </a:xfrm>
          <a:prstGeom prst="ellipse">
            <a:avLst/>
          </a:pr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8" name="Ellipse 18"/>
          <p:cNvSpPr/>
          <p:nvPr/>
        </p:nvSpPr>
        <p:spPr>
          <a:xfrm>
            <a:off x="10858500" y="2762250"/>
            <a:ext cx="190500" cy="190500"/>
          </a:xfrm>
          <a:prstGeom prst="ellipse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10759567" y="2965450"/>
            <a:ext cx="38836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laosd</a:t>
            </a:r>
          </a:p>
        </p:txBody>
      </p:sp>
      <p:sp>
        <p:nvSpPr>
          <p:cNvPr id="20" name="Ellipse 20"/>
          <p:cNvSpPr/>
          <p:nvPr/>
        </p:nvSpPr>
        <p:spPr>
          <a:xfrm>
            <a:off x="11811000" y="2800350"/>
            <a:ext cx="114300" cy="114300"/>
          </a:xfrm>
          <a:prstGeom prst="ellipse">
            <a:avLst/>
          </a:prstGeom>
          <a:solidFill>
            <a:srgbClr val="C89B3C"/>
          </a:solidFill>
          <a:ln>
            <a:noFill/>
          </a:ln>
        </p:spPr>
        <p:txBody>
          <a:bodyPr/>
          <a:p/>
        </p:txBody>
      </p:sp>
      <p:sp>
        <p:nvSpPr>
          <p:cNvPr id="21" name="Ellipse 21"/>
          <p:cNvSpPr/>
          <p:nvPr/>
        </p:nvSpPr>
        <p:spPr>
          <a:xfrm>
            <a:off x="10896600" y="1885950"/>
            <a:ext cx="114300" cy="114300"/>
          </a:xfrm>
          <a:prstGeom prst="ellipse">
            <a:avLst/>
          </a:prstGeom>
          <a:solidFill>
            <a:srgbClr val="C89B3C"/>
          </a:solidFill>
          <a:ln>
            <a:noFill/>
          </a:ln>
        </p:spPr>
        <p:txBody>
          <a:bodyPr/>
          <a:p/>
        </p:txBody>
      </p:sp>
      <p:sp>
        <p:nvSpPr>
          <p:cNvPr id="22" name="Line 22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039922" y="361950"/>
            <a:ext cx="147104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02 / 12 · PROBLEM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02 · 风险台账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9036" y="1403350"/>
            <a:ext cx="4999645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Agent 拿着 root 裸奔。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685800" y="2476500"/>
            <a:ext cx="10820400" cy="8191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906780" y="2660650"/>
            <a:ext cx="50810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R-01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11249" y="2609850"/>
            <a:ext cx="2364737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一条 rm -rf 删光家目录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613154" y="2933700"/>
            <a:ext cx="424464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“请小心”写在提示词里——恳求不是强制，模型没有义务听。</a:t>
            </a:r>
          </a:p>
        </p:txBody>
      </p:sp>
      <p:sp>
        <p:nvSpPr>
          <p:cNvPr id="11" name="Rectangle 11"/>
          <p:cNvSpPr/>
          <p:nvPr/>
        </p:nvSpPr>
        <p:spPr>
          <a:xfrm>
            <a:off x="685800" y="3486150"/>
            <a:ext cx="10820400" cy="8191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906780" y="3670300"/>
            <a:ext cx="50810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R-02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611249" y="3619500"/>
            <a:ext cx="229574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恶意 MCP 工具直通隐私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13154" y="3943350"/>
            <a:ext cx="42123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剪贴板、通知、短信：装一个工具等于开一扇没有锁的门。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685800" y="4495800"/>
            <a:ext cx="10820400" cy="8191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906780" y="4679950"/>
            <a:ext cx="508102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0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R-03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11249" y="4629150"/>
            <a:ext cx="1717599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不可逆操作无计价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13154" y="4953000"/>
            <a:ext cx="453542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卸载、发送、删除与读取同权；没有记账，就没有回放与追责。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77799" y="5562600"/>
            <a:ext cx="699893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缺的不是更聪明的模型，是操作系统：能力 · 调度 · 审计 · 记账 · 隔离。</a:t>
            </a:r>
          </a:p>
        </p:txBody>
      </p:sp>
      <p:sp>
        <p:nvSpPr>
          <p:cNvPr id="20" name="Line 20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14877" y="361950"/>
            <a:ext cx="1296086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03 / 12 · THESIS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03 · 设计命题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0560" y="1441450"/>
            <a:ext cx="5517692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Linux kernel + Agent + MCP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70560" y="1974850"/>
            <a:ext cx="3357296" cy="58674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300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= Linux AgentOS</a:t>
            </a:r>
          </a:p>
        </p:txBody>
      </p:sp>
      <p:sp>
        <p:nvSpPr>
          <p:cNvPr id="8" name="Line 8"/>
          <p:cNvSpPr/>
          <p:nvPr/>
        </p:nvSpPr>
        <p:spPr>
          <a:xfrm>
            <a:off x="685800" y="28575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9" name="TextBox 9"/>
          <p:cNvSpPr txBox="1"/>
          <p:nvPr/>
        </p:nvSpPr>
        <p:spPr>
          <a:xfrm>
            <a:off x="678561" y="3003550"/>
            <a:ext cx="1048178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namespace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2470023" y="3028950"/>
            <a:ext cx="3166293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隔离视图 —— mount / pid / net 各自独立</a:t>
            </a:r>
          </a:p>
        </p:txBody>
      </p:sp>
      <p:sp>
        <p:nvSpPr>
          <p:cNvPr id="11" name="Line 11"/>
          <p:cNvSpPr/>
          <p:nvPr/>
        </p:nvSpPr>
        <p:spPr>
          <a:xfrm>
            <a:off x="685800" y="34480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678561" y="3594100"/>
            <a:ext cx="957855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cgroup v2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470023" y="3619500"/>
            <a:ext cx="2545964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资源上限 —— 失控的驱动只死自己</a:t>
            </a:r>
          </a:p>
        </p:txBody>
      </p:sp>
      <p:sp>
        <p:nvSpPr>
          <p:cNvPr id="14" name="Line 14"/>
          <p:cNvSpPr/>
          <p:nvPr/>
        </p:nvSpPr>
        <p:spPr>
          <a:xfrm>
            <a:off x="685800" y="40386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5" name="TextBox 15"/>
          <p:cNvSpPr txBox="1"/>
          <p:nvPr/>
        </p:nvSpPr>
        <p:spPr>
          <a:xfrm>
            <a:off x="678561" y="4184650"/>
            <a:ext cx="1239239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seccomp BPF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470023" y="4210050"/>
            <a:ext cx="3062905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系统调用白名单 —— 真拦截，非君子协定</a:t>
            </a:r>
          </a:p>
        </p:txBody>
      </p:sp>
      <p:sp>
        <p:nvSpPr>
          <p:cNvPr id="17" name="Line 17"/>
          <p:cNvSpPr/>
          <p:nvPr/>
        </p:nvSpPr>
        <p:spPr>
          <a:xfrm>
            <a:off x="685800" y="46291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678561" y="4775200"/>
            <a:ext cx="853353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Landlock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2470023" y="4800600"/>
            <a:ext cx="2373650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路径沙箱 —— 未授权目录不可见</a:t>
            </a:r>
          </a:p>
        </p:txBody>
      </p:sp>
      <p:sp>
        <p:nvSpPr>
          <p:cNvPr id="20" name="Rectangle 20"/>
          <p:cNvSpPr/>
          <p:nvPr/>
        </p:nvSpPr>
        <p:spPr>
          <a:xfrm>
            <a:off x="685800" y="5314950"/>
            <a:ext cx="2857500" cy="495300"/>
          </a:xfrm>
          <a:prstGeom prst="rect">
            <a:avLst/>
          </a:prstGeom>
          <a:solidFill>
            <a:srgbClr val="17171A"/>
          </a:solidFill>
          <a:ln>
            <a:noFill/>
          </a:ln>
        </p:spPr>
        <p:txBody>
          <a:bodyPr/>
          <a:p/>
        </p:txBody>
      </p:sp>
      <p:sp>
        <p:nvSpPr>
          <p:cNvPr id="21" name="TextBox 21"/>
          <p:cNvSpPr txBox="1"/>
          <p:nvPr/>
        </p:nvSpPr>
        <p:spPr>
          <a:xfrm>
            <a:off x="907542" y="5464175"/>
            <a:ext cx="2000556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laosd = 薄内核 · 0 补丁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3904" y="5476875"/>
            <a:ext cx="454167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只做语义层：能力表 / 审计 / 记账 / 确认；设备交给 MCP 驱动</a:t>
            </a:r>
          </a:p>
        </p:txBody>
      </p:sp>
      <p:sp>
        <p:nvSpPr>
          <p:cNvPr id="23" name="Line 23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097529" y="361950"/>
            <a:ext cx="1413434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04 / 12 · MAPPING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04 · 词表映射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9036" y="1403350"/>
            <a:ext cx="6347169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Linux 的词表，Agent 的语义。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81038" y="2114550"/>
            <a:ext cx="45758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LINUX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3043238" y="2114550"/>
            <a:ext cx="41277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5900738" y="2114550"/>
            <a:ext cx="28213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语义</a:t>
            </a:r>
          </a:p>
        </p:txBody>
      </p:sp>
      <p:sp>
        <p:nvSpPr>
          <p:cNvPr id="10" name="Line 10"/>
          <p:cNvSpPr/>
          <p:nvPr/>
        </p:nvSpPr>
        <p:spPr>
          <a:xfrm>
            <a:off x="685800" y="24384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677799" y="2590800"/>
            <a:ext cx="441401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进程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039999" y="2590800"/>
            <a:ext cx="637125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899023" y="2628900"/>
            <a:ext cx="1582471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PCB · 能力集 · 预算</a:t>
            </a:r>
          </a:p>
        </p:txBody>
      </p:sp>
      <p:sp>
        <p:nvSpPr>
          <p:cNvPr id="14" name="Line 14"/>
          <p:cNvSpPr/>
          <p:nvPr/>
        </p:nvSpPr>
        <p:spPr>
          <a:xfrm>
            <a:off x="685800" y="30480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5" name="TextBox 15"/>
          <p:cNvSpPr txBox="1"/>
          <p:nvPr/>
        </p:nvSpPr>
        <p:spPr>
          <a:xfrm>
            <a:off x="677799" y="3200400"/>
            <a:ext cx="86680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系统调用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3039999" y="3200400"/>
            <a:ext cx="1399374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MCP tool call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5899023" y="3238500"/>
            <a:ext cx="1712031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JSON-RPC，每次过闸</a:t>
            </a:r>
          </a:p>
        </p:txBody>
      </p:sp>
      <p:sp>
        <p:nvSpPr>
          <p:cNvPr id="18" name="Line 18"/>
          <p:cNvSpPr/>
          <p:nvPr/>
        </p:nvSpPr>
        <p:spPr>
          <a:xfrm>
            <a:off x="685800" y="36576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677799" y="3810000"/>
            <a:ext cx="86680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设备驱动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039999" y="3810000"/>
            <a:ext cx="1263796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MCP Server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5899023" y="3848100"/>
            <a:ext cx="2821666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28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drv_mic / drv_ear / drv_screen …</a:t>
            </a:r>
          </a:p>
        </p:txBody>
      </p:sp>
      <p:sp>
        <p:nvSpPr>
          <p:cNvPr id="22" name="Line 22"/>
          <p:cNvSpPr/>
          <p:nvPr/>
        </p:nvSpPr>
        <p:spPr>
          <a:xfrm>
            <a:off x="685800" y="42672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677799" y="4419600"/>
            <a:ext cx="441401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内核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3039999" y="4419600"/>
            <a:ext cx="1279438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laosd 薄内核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5899023" y="4457700"/>
            <a:ext cx="874522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只做语义层</a:t>
            </a:r>
          </a:p>
        </p:txBody>
      </p:sp>
      <p:sp>
        <p:nvSpPr>
          <p:cNvPr id="26" name="Line 26"/>
          <p:cNvSpPr/>
          <p:nvPr/>
        </p:nvSpPr>
        <p:spPr>
          <a:xfrm>
            <a:off x="685800" y="48768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7" name="TextBox 27"/>
          <p:cNvSpPr txBox="1"/>
          <p:nvPr/>
        </p:nvSpPr>
        <p:spPr>
          <a:xfrm>
            <a:off x="677799" y="5029200"/>
            <a:ext cx="741839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insmod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039999" y="5029200"/>
            <a:ext cx="1255509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load_driver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5899023" y="5067300"/>
            <a:ext cx="1665214" cy="25031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8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外挂任意 MCP 服务器</a:t>
            </a:r>
          </a:p>
        </p:txBody>
      </p:sp>
      <p:sp>
        <p:nvSpPr>
          <p:cNvPr id="30" name="Line 30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74618" y="361950"/>
            <a:ext cx="123634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05 / 12 · GATES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05 · 过闸台账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9036" y="140335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每一次工具调用，过七道闸。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685800" y="2571750"/>
            <a:ext cx="1162050" cy="60960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1034948" y="2803525"/>
            <a:ext cx="46375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能力表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899285" y="2803525"/>
            <a:ext cx="9435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→</a:t>
            </a:r>
          </a:p>
        </p:txBody>
      </p:sp>
      <p:sp>
        <p:nvSpPr>
          <p:cNvPr id="10" name="Rectangle 10"/>
          <p:cNvSpPr/>
          <p:nvPr/>
        </p:nvSpPr>
        <p:spPr>
          <a:xfrm>
            <a:off x="1981200" y="2571750"/>
            <a:ext cx="1162050" cy="609600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11" name="TextBox 11"/>
          <p:cNvSpPr txBox="1"/>
          <p:nvPr/>
        </p:nvSpPr>
        <p:spPr>
          <a:xfrm>
            <a:off x="2121149" y="2803525"/>
            <a:ext cx="88215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task_scope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3194685" y="2803525"/>
            <a:ext cx="9435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→</a:t>
            </a:r>
          </a:p>
        </p:txBody>
      </p:sp>
      <p:sp>
        <p:nvSpPr>
          <p:cNvPr id="13" name="Rectangle 13"/>
          <p:cNvSpPr/>
          <p:nvPr/>
        </p:nvSpPr>
        <p:spPr>
          <a:xfrm>
            <a:off x="3276600" y="2571750"/>
            <a:ext cx="1162050" cy="60960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3574862" y="2803525"/>
            <a:ext cx="56552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schema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490085" y="2803525"/>
            <a:ext cx="9435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→</a:t>
            </a:r>
          </a:p>
        </p:txBody>
      </p:sp>
      <p:sp>
        <p:nvSpPr>
          <p:cNvPr id="16" name="Rectangle 16"/>
          <p:cNvSpPr/>
          <p:nvPr/>
        </p:nvSpPr>
        <p:spPr>
          <a:xfrm>
            <a:off x="4572000" y="2571750"/>
            <a:ext cx="1162050" cy="60960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17" name="TextBox 17"/>
          <p:cNvSpPr txBox="1"/>
          <p:nvPr/>
        </p:nvSpPr>
        <p:spPr>
          <a:xfrm>
            <a:off x="4837853" y="2803525"/>
            <a:ext cx="63034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EDQUOT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785485" y="2803525"/>
            <a:ext cx="9435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→</a:t>
            </a:r>
          </a:p>
        </p:txBody>
      </p:sp>
      <p:sp>
        <p:nvSpPr>
          <p:cNvPr id="19" name="Rectangle 19"/>
          <p:cNvSpPr/>
          <p:nvPr/>
        </p:nvSpPr>
        <p:spPr>
          <a:xfrm>
            <a:off x="5867400" y="2571750"/>
            <a:ext cx="1162050" cy="60960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5978877" y="2803525"/>
            <a:ext cx="93909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en-US" sz="11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FleetLedger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080885" y="2803525"/>
            <a:ext cx="9435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→</a:t>
            </a:r>
          </a:p>
        </p:txBody>
      </p:sp>
      <p:sp>
        <p:nvSpPr>
          <p:cNvPr id="22" name="Rectangle 22"/>
          <p:cNvSpPr/>
          <p:nvPr/>
        </p:nvSpPr>
        <p:spPr>
          <a:xfrm>
            <a:off x="7162800" y="2571750"/>
            <a:ext cx="1162050" cy="60960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7430068" y="2803525"/>
            <a:ext cx="62751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Jev 预审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8376285" y="2803525"/>
            <a:ext cx="9435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→</a:t>
            </a:r>
          </a:p>
        </p:txBody>
      </p:sp>
      <p:sp>
        <p:nvSpPr>
          <p:cNvPr id="25" name="Rectangle 25"/>
          <p:cNvSpPr/>
          <p:nvPr/>
        </p:nvSpPr>
        <p:spPr>
          <a:xfrm>
            <a:off x="8458200" y="2571750"/>
            <a:ext cx="1162050" cy="60960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26" name="TextBox 26"/>
          <p:cNvSpPr txBox="1"/>
          <p:nvPr/>
        </p:nvSpPr>
        <p:spPr>
          <a:xfrm>
            <a:off x="8731961" y="2803525"/>
            <a:ext cx="61452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确认横幅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671685" y="2803525"/>
            <a:ext cx="9435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→</a:t>
            </a:r>
          </a:p>
        </p:txBody>
      </p:sp>
      <p:sp>
        <p:nvSpPr>
          <p:cNvPr id="28" name="Rectangle 28"/>
          <p:cNvSpPr/>
          <p:nvPr/>
        </p:nvSpPr>
        <p:spPr>
          <a:xfrm>
            <a:off x="9753600" y="2571750"/>
            <a:ext cx="1162050" cy="609600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29" name="TextBox 29"/>
          <p:cNvSpPr txBox="1"/>
          <p:nvPr/>
        </p:nvSpPr>
        <p:spPr>
          <a:xfrm>
            <a:off x="10178136" y="2803525"/>
            <a:ext cx="31297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ctr"/>
            <a:r>
              <a:rPr lang="zh-CN" sz="112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审计</a:t>
            </a:r>
          </a:p>
        </p:txBody>
      </p:sp>
      <p:sp>
        <p:nvSpPr>
          <p:cNvPr id="30" name="Rectangle 30"/>
          <p:cNvSpPr/>
          <p:nvPr/>
        </p:nvSpPr>
        <p:spPr>
          <a:xfrm>
            <a:off x="685800" y="3771900"/>
            <a:ext cx="3429000" cy="14287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907161" y="3975100"/>
            <a:ext cx="194328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task_scope 三种收窄</a:t>
            </a:r>
          </a:p>
        </p:txBody>
      </p:sp>
      <p:sp>
        <p:nvSpPr>
          <p:cNvPr id="32" name="Rectangle 32"/>
          <p:cNvSpPr/>
          <p:nvPr/>
        </p:nvSpPr>
        <p:spPr>
          <a:xfrm>
            <a:off x="914400" y="4305300"/>
            <a:ext cx="419100" cy="28575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33" name="TextBox 33"/>
          <p:cNvSpPr txBox="1"/>
          <p:nvPr/>
        </p:nvSpPr>
        <p:spPr>
          <a:xfrm>
            <a:off x="908685" y="4546600"/>
            <a:ext cx="420295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路径前缀 · pkg: 应用白名单 · time: 时间窗，权限收到最小。</a:t>
            </a:r>
          </a:p>
        </p:txBody>
      </p:sp>
      <p:sp>
        <p:nvSpPr>
          <p:cNvPr id="34" name="Rectangle 34"/>
          <p:cNvSpPr/>
          <p:nvPr/>
        </p:nvSpPr>
        <p:spPr>
          <a:xfrm>
            <a:off x="4381500" y="3771900"/>
            <a:ext cx="3429000" cy="14287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35" name="TextBox 35"/>
          <p:cNvSpPr txBox="1"/>
          <p:nvPr/>
        </p:nvSpPr>
        <p:spPr>
          <a:xfrm>
            <a:off x="4602861" y="3975100"/>
            <a:ext cx="97028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预算与计价</a:t>
            </a:r>
          </a:p>
        </p:txBody>
      </p:sp>
      <p:sp>
        <p:nvSpPr>
          <p:cNvPr id="36" name="Rectangle 36"/>
          <p:cNvSpPr/>
          <p:nvPr/>
        </p:nvSpPr>
        <p:spPr>
          <a:xfrm>
            <a:off x="4610100" y="4305300"/>
            <a:ext cx="419100" cy="28575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37" name="TextBox 37"/>
          <p:cNvSpPr txBox="1"/>
          <p:nvPr/>
        </p:nvSpPr>
        <p:spPr>
          <a:xfrm>
            <a:off x="4604385" y="4546600"/>
            <a:ext cx="459334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EDQUOT 见底即拒；FleetLedger 给不可逆操作记账，超出弹确认。</a:t>
            </a:r>
          </a:p>
        </p:txBody>
      </p:sp>
      <p:sp>
        <p:nvSpPr>
          <p:cNvPr id="38" name="Rectangle 38"/>
          <p:cNvSpPr/>
          <p:nvPr/>
        </p:nvSpPr>
        <p:spPr>
          <a:xfrm>
            <a:off x="8077200" y="3771900"/>
            <a:ext cx="3429000" cy="14287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39" name="TextBox 39"/>
          <p:cNvSpPr txBox="1"/>
          <p:nvPr/>
        </p:nvSpPr>
        <p:spPr>
          <a:xfrm>
            <a:off x="8298561" y="3975100"/>
            <a:ext cx="587959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可回放</a:t>
            </a:r>
          </a:p>
        </p:txBody>
      </p:sp>
      <p:sp>
        <p:nvSpPr>
          <p:cNvPr id="40" name="Rectangle 40"/>
          <p:cNvSpPr/>
          <p:nvPr/>
        </p:nvSpPr>
        <p:spPr>
          <a:xfrm>
            <a:off x="8305800" y="4305300"/>
            <a:ext cx="419100" cy="28575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41" name="TextBox 41"/>
          <p:cNvSpPr txBox="1"/>
          <p:nvPr/>
        </p:nvSpPr>
        <p:spPr>
          <a:xfrm>
            <a:off x="8300085" y="4546600"/>
            <a:ext cx="3026918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事后完整回答：谁、何时、用掉了什么权限。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678561" y="5632450"/>
            <a:ext cx="383768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事后可完整回放：谁在何时用掉了什么权限。</a:t>
            </a:r>
          </a:p>
        </p:txBody>
      </p:sp>
      <p:sp>
        <p:nvSpPr>
          <p:cNvPr id="43" name="Line 43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44" name="TextBox 44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672942" y="361950"/>
            <a:ext cx="1838020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06 / 12 · ENFORCEMENT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06 · 强制规格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9036" y="1403350"/>
            <a:ext cx="7141464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强制发生在内核，不在上下文窗口。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685800" y="2476500"/>
            <a:ext cx="34290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8" name="Rectangle 8"/>
          <p:cNvSpPr/>
          <p:nvPr/>
        </p:nvSpPr>
        <p:spPr>
          <a:xfrm>
            <a:off x="685800" y="2476500"/>
            <a:ext cx="3429000" cy="57150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9" name="TextBox 9"/>
          <p:cNvSpPr txBox="1"/>
          <p:nvPr/>
        </p:nvSpPr>
        <p:spPr>
          <a:xfrm>
            <a:off x="909638" y="2800350"/>
            <a:ext cx="69441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SPEC-01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05256" y="3098800"/>
            <a:ext cx="1570802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seccomp BPF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08304" y="3619500"/>
            <a:ext cx="4212336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进程级系统调用白名单。拦截是真实的，不依赖模型自觉。</a:t>
            </a:r>
          </a:p>
        </p:txBody>
      </p:sp>
      <p:sp>
        <p:nvSpPr>
          <p:cNvPr id="12" name="Rectangle 12"/>
          <p:cNvSpPr/>
          <p:nvPr/>
        </p:nvSpPr>
        <p:spPr>
          <a:xfrm>
            <a:off x="4381500" y="2476500"/>
            <a:ext cx="34290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3" name="Rectangle 13"/>
          <p:cNvSpPr/>
          <p:nvPr/>
        </p:nvSpPr>
        <p:spPr>
          <a:xfrm>
            <a:off x="4381500" y="2476500"/>
            <a:ext cx="3429000" cy="57150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4605338" y="2800350"/>
            <a:ext cx="69441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SPEC-02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4600956" y="3098800"/>
            <a:ext cx="1214117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cgroup v2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604004" y="3619500"/>
            <a:ext cx="377220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驱动子进程 CPU / 内存上限；驱动失控不拖垮宿主。</a:t>
            </a:r>
          </a:p>
        </p:txBody>
      </p:sp>
      <p:sp>
        <p:nvSpPr>
          <p:cNvPr id="17" name="Rectangle 17"/>
          <p:cNvSpPr/>
          <p:nvPr/>
        </p:nvSpPr>
        <p:spPr>
          <a:xfrm>
            <a:off x="8077200" y="2476500"/>
            <a:ext cx="3429000" cy="2095500"/>
          </a:xfrm>
          <a:prstGeom prst="rect">
            <a:avLst/>
          </a:prstGeom>
          <a:solidFill>
            <a:srgbClr val="FFFFFF"/>
          </a:solidFill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8" name="Rectangle 18"/>
          <p:cNvSpPr/>
          <p:nvPr/>
        </p:nvSpPr>
        <p:spPr>
          <a:xfrm>
            <a:off x="8077200" y="2476500"/>
            <a:ext cx="3429000" cy="57150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19" name="TextBox 19"/>
          <p:cNvSpPr txBox="1"/>
          <p:nvPr/>
        </p:nvSpPr>
        <p:spPr>
          <a:xfrm>
            <a:off x="8301038" y="2800350"/>
            <a:ext cx="69441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SPEC-03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8296656" y="3098800"/>
            <a:ext cx="1394826" cy="3520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8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eBPF + CoW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8299704" y="3619500"/>
            <a:ext cx="346728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行为画像与执行隔离，给每个 Agent 建立档案。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78180" y="5118100"/>
            <a:ext cx="5122423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不发明新机制，只做 Linux 三十年强制原语的正确组合。</a:t>
            </a:r>
          </a:p>
        </p:txBody>
      </p:sp>
      <p:sp>
        <p:nvSpPr>
          <p:cNvPr id="23" name="Line 23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123132" y="361950"/>
            <a:ext cx="138783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07 / 12 · DRIVERS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07 · 设备清单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9036" y="1403350"/>
            <a:ext cx="5892860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MCP Server 就是设备驱动。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685800" y="2381250"/>
            <a:ext cx="3429000" cy="15811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907161" y="2622550"/>
            <a:ext cx="178080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drv_mic / drv_ear</a:t>
            </a:r>
          </a:p>
        </p:txBody>
      </p:sp>
      <p:sp>
        <p:nvSpPr>
          <p:cNvPr id="9" name="Rectangle 9"/>
          <p:cNvSpPr/>
          <p:nvPr/>
        </p:nvSpPr>
        <p:spPr>
          <a:xfrm>
            <a:off x="914400" y="2952750"/>
            <a:ext cx="419100" cy="28575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10" name="TextBox 10"/>
          <p:cNvSpPr txBox="1"/>
          <p:nvPr/>
        </p:nvSpPr>
        <p:spPr>
          <a:xfrm>
            <a:off x="908685" y="3194050"/>
            <a:ext cx="3362462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录音只由显式 syscall 触发；本地 ASR + 韵律评估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381500" y="2381250"/>
            <a:ext cx="3429000" cy="15811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4602861" y="2622550"/>
            <a:ext cx="1118429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drv_screen</a:t>
            </a:r>
          </a:p>
        </p:txBody>
      </p:sp>
      <p:sp>
        <p:nvSpPr>
          <p:cNvPr id="13" name="Rectangle 13"/>
          <p:cNvSpPr/>
          <p:nvPr/>
        </p:nvSpPr>
        <p:spPr>
          <a:xfrm>
            <a:off x="4610100" y="2952750"/>
            <a:ext cx="419100" cy="28575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14" name="TextBox 14"/>
          <p:cNvSpPr txBox="1"/>
          <p:nvPr/>
        </p:nvSpPr>
        <p:spPr>
          <a:xfrm>
            <a:off x="4604385" y="3194050"/>
            <a:ext cx="251428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adb 屏幕操控 · pkg: 应用白名单收窄</a:t>
            </a:r>
          </a:p>
        </p:txBody>
      </p:sp>
      <p:sp>
        <p:nvSpPr>
          <p:cNvPr id="15" name="Rectangle 15"/>
          <p:cNvSpPr/>
          <p:nvPr/>
        </p:nvSpPr>
        <p:spPr>
          <a:xfrm>
            <a:off x="8077200" y="2381250"/>
            <a:ext cx="3429000" cy="15811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298561" y="2622550"/>
            <a:ext cx="1931339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drv_notify / comms</a:t>
            </a:r>
          </a:p>
        </p:txBody>
      </p:sp>
      <p:sp>
        <p:nvSpPr>
          <p:cNvPr id="17" name="Rectangle 17"/>
          <p:cNvSpPr/>
          <p:nvPr/>
        </p:nvSpPr>
        <p:spPr>
          <a:xfrm>
            <a:off x="8305800" y="2952750"/>
            <a:ext cx="419100" cy="28575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8300085" y="3194050"/>
            <a:ext cx="2137349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通知与短信——敏感数据走可信闸</a:t>
            </a:r>
          </a:p>
        </p:txBody>
      </p:sp>
      <p:sp>
        <p:nvSpPr>
          <p:cNvPr id="19" name="Rectangle 19"/>
          <p:cNvSpPr/>
          <p:nvPr/>
        </p:nvSpPr>
        <p:spPr>
          <a:xfrm>
            <a:off x="685800" y="4191000"/>
            <a:ext cx="3429000" cy="15811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907161" y="4432300"/>
            <a:ext cx="1680441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drv_npu / events</a:t>
            </a:r>
          </a:p>
        </p:txBody>
      </p:sp>
      <p:sp>
        <p:nvSpPr>
          <p:cNvPr id="21" name="Rectangle 21"/>
          <p:cNvSpPr/>
          <p:nvPr/>
        </p:nvSpPr>
        <p:spPr>
          <a:xfrm>
            <a:off x="914400" y="4762500"/>
            <a:ext cx="419100" cy="28575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908685" y="5003800"/>
            <a:ext cx="15191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端侧感知事件环形缓冲</a:t>
            </a:r>
          </a:p>
        </p:txBody>
      </p:sp>
      <p:sp>
        <p:nvSpPr>
          <p:cNvPr id="23" name="Rectangle 23"/>
          <p:cNvSpPr/>
          <p:nvPr/>
        </p:nvSpPr>
        <p:spPr>
          <a:xfrm>
            <a:off x="4381500" y="4191000"/>
            <a:ext cx="3429000" cy="15811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4602861" y="4432300"/>
            <a:ext cx="148020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drv_battery 等</a:t>
            </a:r>
          </a:p>
        </p:txBody>
      </p:sp>
      <p:sp>
        <p:nvSpPr>
          <p:cNvPr id="25" name="Rectangle 25"/>
          <p:cNvSpPr/>
          <p:nvPr/>
        </p:nvSpPr>
        <p:spPr>
          <a:xfrm>
            <a:off x="4610100" y="4762500"/>
            <a:ext cx="419100" cy="28575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26" name="TextBox 26"/>
          <p:cNvSpPr txBox="1"/>
          <p:nvPr/>
        </p:nvSpPr>
        <p:spPr>
          <a:xfrm>
            <a:off x="4604385" y="5003800"/>
            <a:ext cx="15191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手机五层能力的传感面</a:t>
            </a:r>
          </a:p>
        </p:txBody>
      </p:sp>
      <p:sp>
        <p:nvSpPr>
          <p:cNvPr id="27" name="Rectangle 27"/>
          <p:cNvSpPr/>
          <p:nvPr/>
        </p:nvSpPr>
        <p:spPr>
          <a:xfrm>
            <a:off x="8077200" y="4191000"/>
            <a:ext cx="3429000" cy="158115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8298561" y="4432300"/>
            <a:ext cx="1571002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load_driver 外挂</a:t>
            </a:r>
          </a:p>
        </p:txBody>
      </p:sp>
      <p:sp>
        <p:nvSpPr>
          <p:cNvPr id="29" name="Rectangle 29"/>
          <p:cNvSpPr/>
          <p:nvPr/>
        </p:nvSpPr>
        <p:spPr>
          <a:xfrm>
            <a:off x="8305800" y="4762500"/>
            <a:ext cx="419100" cy="28575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8300085" y="5003800"/>
            <a:ext cx="3952474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一行把 mobile-mcp 等任意 MCP 服务器装成驱动·遥测必关</a:t>
            </a:r>
          </a:p>
        </p:txBody>
      </p:sp>
      <p:sp>
        <p:nvSpPr>
          <p:cNvPr id="31" name="Line 31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32" name="TextBox 32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123132" y="361950"/>
            <a:ext cx="1387831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08 / 12 · HEARING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08 · 听觉台账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9036" y="1403350"/>
            <a:ext cx="3143250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常开，但克制。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23431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678942" y="2520950"/>
            <a:ext cx="45729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S-01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611249" y="2495550"/>
            <a:ext cx="86680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常驻检测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420999" y="2495550"/>
            <a:ext cx="59615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C89B3C"/>
                </a:solidFill>
                <a:latin typeface="+mn-lt"/>
                <a:ea typeface="+mn-ea"/>
                <a:cs typeface="+mn-cs"/>
              </a:rPr>
              <a:t>µW 级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4946904" y="2533650"/>
            <a:ext cx="325374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PCEN/VAD 低功耗常开——功耗预算决定一切。</a:t>
            </a:r>
          </a:p>
        </p:txBody>
      </p:sp>
      <p:sp>
        <p:nvSpPr>
          <p:cNvPr id="12" name="Line 12"/>
          <p:cNvSpPr/>
          <p:nvPr/>
        </p:nvSpPr>
        <p:spPr>
          <a:xfrm>
            <a:off x="685800" y="29527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3" name="TextBox 13"/>
          <p:cNvSpPr txBox="1"/>
          <p:nvPr/>
        </p:nvSpPr>
        <p:spPr>
          <a:xfrm>
            <a:off x="678942" y="3130550"/>
            <a:ext cx="45729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S-02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611249" y="3105150"/>
            <a:ext cx="86680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触发捕获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3420999" y="3105150"/>
            <a:ext cx="384504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C89B3C"/>
                </a:solidFill>
                <a:latin typeface="+mn-lt"/>
                <a:ea typeface="+mn-ea"/>
                <a:cs typeface="+mn-cs"/>
              </a:rPr>
              <a:t>15s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4946904" y="3143250"/>
            <a:ext cx="366171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环形缓冲 + 私有唤醒词 DTW（纯 JSON 非声纹）。</a:t>
            </a:r>
          </a:p>
        </p:txBody>
      </p:sp>
      <p:sp>
        <p:nvSpPr>
          <p:cNvPr id="17" name="Line 17"/>
          <p:cNvSpPr/>
          <p:nvPr/>
        </p:nvSpPr>
        <p:spPr>
          <a:xfrm>
            <a:off x="685800" y="35623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678942" y="3740150"/>
            <a:ext cx="45729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S-03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11249" y="3714750"/>
            <a:ext cx="86680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即时蒸馏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3420999" y="3714750"/>
            <a:ext cx="654101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C89B3C"/>
                </a:solidFill>
                <a:latin typeface="+mn-lt"/>
                <a:ea typeface="+mn-ea"/>
                <a:cs typeface="+mn-cs"/>
              </a:rPr>
              <a:t>零上云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4946904" y="3752850"/>
            <a:ext cx="241730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SenseVoice 全本地 ASR + 情感。</a:t>
            </a:r>
          </a:p>
        </p:txBody>
      </p:sp>
      <p:sp>
        <p:nvSpPr>
          <p:cNvPr id="22" name="Line 22"/>
          <p:cNvSpPr/>
          <p:nvPr/>
        </p:nvSpPr>
        <p:spPr>
          <a:xfrm>
            <a:off x="685800" y="41719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678942" y="4349750"/>
            <a:ext cx="45729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S-04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611249" y="4324350"/>
            <a:ext cx="441401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8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即焚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420999" y="4324350"/>
            <a:ext cx="261670" cy="30899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580" b="1" dirty="0">
                <a:solidFill>
                  <a:srgbClr val="C89B3C"/>
                </a:solidFill>
                <a:latin typeface="+mn-lt"/>
                <a:ea typeface="+mn-ea"/>
                <a:cs typeface="+mn-cs"/>
              </a:rPr>
              <a:t>6h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4946904" y="4362450"/>
            <a:ext cx="313639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默认六小时留存；LAOS_REC=0 全局禁录。</a:t>
            </a:r>
          </a:p>
        </p:txBody>
      </p:sp>
      <p:sp>
        <p:nvSpPr>
          <p:cNvPr id="27" name="Rectangle 27"/>
          <p:cNvSpPr/>
          <p:nvPr/>
        </p:nvSpPr>
        <p:spPr>
          <a:xfrm>
            <a:off x="685800" y="4914900"/>
            <a:ext cx="6667500" cy="457200"/>
          </a:xfrm>
          <a:prstGeom prst="rect">
            <a:avLst/>
          </a:prstGeom>
          <a:solidFill>
            <a:srgbClr val="17171A"/>
          </a:solidFill>
          <a:ln>
            <a:noFill/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908304" y="5057775"/>
            <a:ext cx="466373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红线：录音只由显式 syscall 触发 · 每次调用审计 · ASR 全本地</a:t>
            </a:r>
          </a:p>
        </p:txBody>
      </p:sp>
      <p:sp>
        <p:nvSpPr>
          <p:cNvPr id="29" name="Line 29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30" name="TextBox 30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9973780" y="361950"/>
            <a:ext cx="1537183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09 / 12 · JUDGMENT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09 · 判断台账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9036" y="1403350"/>
            <a:ext cx="5808726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快问快答判断层，校准先行。</a:t>
            </a:r>
          </a:p>
        </p:txBody>
      </p:sp>
      <p:sp>
        <p:nvSpPr>
          <p:cNvPr id="7" name="Rectangle 7"/>
          <p:cNvSpPr/>
          <p:nvPr/>
        </p:nvSpPr>
        <p:spPr>
          <a:xfrm>
            <a:off x="685800" y="2476500"/>
            <a:ext cx="3429000" cy="20002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909638" y="2781300"/>
            <a:ext cx="4895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TYPES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905637" y="3079750"/>
            <a:ext cx="712165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三判型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08304" y="3600450"/>
            <a:ext cx="367583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Noul 是非 · Choice 2-255 选项 · Score 2-10 级。</a:t>
            </a:r>
          </a:p>
        </p:txBody>
      </p:sp>
      <p:sp>
        <p:nvSpPr>
          <p:cNvPr id="11" name="Rectangle 11"/>
          <p:cNvSpPr/>
          <p:nvPr/>
        </p:nvSpPr>
        <p:spPr>
          <a:xfrm>
            <a:off x="4381500" y="2476500"/>
            <a:ext cx="3429000" cy="20002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4605338" y="2781300"/>
            <a:ext cx="48958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GATES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601337" y="3079750"/>
            <a:ext cx="712165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四闸门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4604004" y="3600450"/>
            <a:ext cx="3315767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高危预审 · 记忆过滤 · 压缩选择 · 技能质量。</a:t>
            </a:r>
          </a:p>
        </p:txBody>
      </p:sp>
      <p:sp>
        <p:nvSpPr>
          <p:cNvPr id="15" name="Rectangle 15"/>
          <p:cNvSpPr/>
          <p:nvPr/>
        </p:nvSpPr>
        <p:spPr>
          <a:xfrm>
            <a:off x="8077200" y="2476500"/>
            <a:ext cx="3429000" cy="2000250"/>
          </a:xfrm>
          <a:prstGeom prst="rect">
            <a:avLst/>
          </a:prstGeom>
          <a:solidFill>
            <a:srgbClr val="F7F8FA"/>
          </a:solidFill>
          <a:ln>
            <a:noFill/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8301038" y="2781300"/>
            <a:ext cx="106565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CALIBRATION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297037" y="3079750"/>
            <a:ext cx="943712" cy="33737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7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校准教训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299704" y="3600450"/>
            <a:ext cx="195072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rule 后端 accuracy 0.519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8528304" y="3886200"/>
            <a:ext cx="3229204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高置信桶错误率 33% → AUTOGATE 禁配 rule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78180" y="5022850"/>
            <a:ext cx="6299806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判断后端可插拔（none / rule / cloud / local）——校准数据说了算。</a:t>
            </a:r>
          </a:p>
        </p:txBody>
      </p:sp>
      <p:sp>
        <p:nvSpPr>
          <p:cNvPr id="21" name="Line 21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2" name="TextBox 22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031387" y="361950"/>
            <a:ext cx="147957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10 / 12 · EVIDENCE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10 · 证据台账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9036" y="1403350"/>
            <a:ext cx="3143250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设计不拍脑袋。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6750" y="2660650"/>
            <a:ext cx="1857287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19,792</a:t>
            </a:r>
          </a:p>
        </p:txBody>
      </p:sp>
      <p:sp>
        <p:nvSpPr>
          <p:cNvPr id="8" name="Rectangle 8"/>
          <p:cNvSpPr/>
          <p:nvPr/>
        </p:nvSpPr>
        <p:spPr>
          <a:xfrm>
            <a:off x="762000" y="1828800"/>
            <a:ext cx="438150" cy="438150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9" name="TextBox 9"/>
          <p:cNvSpPr txBox="1"/>
          <p:nvPr/>
        </p:nvSpPr>
        <p:spPr>
          <a:xfrm>
            <a:off x="680085" y="3384550"/>
            <a:ext cx="1368400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双会议全量论文遍历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3448050" y="2660650"/>
            <a:ext cx="1554089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9,908</a:t>
            </a:r>
          </a:p>
        </p:txBody>
      </p:sp>
      <p:sp>
        <p:nvSpPr>
          <p:cNvPr id="11" name="Rectangle 11"/>
          <p:cNvSpPr/>
          <p:nvPr/>
        </p:nvSpPr>
        <p:spPr>
          <a:xfrm>
            <a:off x="3543300" y="4019550"/>
            <a:ext cx="438150" cy="219075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3461385" y="3384550"/>
            <a:ext cx="1865955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多顶会主题切片 · 35 venue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229350" y="2660650"/>
            <a:ext cx="1554089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3,724</a:t>
            </a:r>
          </a:p>
        </p:txBody>
      </p:sp>
      <p:sp>
        <p:nvSpPr>
          <p:cNvPr id="14" name="Rectangle 14"/>
          <p:cNvSpPr/>
          <p:nvPr/>
        </p:nvSpPr>
        <p:spPr>
          <a:xfrm>
            <a:off x="6324600" y="5353050"/>
            <a:ext cx="438150" cy="85725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15" name="TextBox 15"/>
          <p:cNvSpPr txBox="1"/>
          <p:nvPr/>
        </p:nvSpPr>
        <p:spPr>
          <a:xfrm>
            <a:off x="6242685" y="3384550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开源仓库普查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010650" y="2660650"/>
            <a:ext cx="644496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76</a:t>
            </a:r>
          </a:p>
        </p:txBody>
      </p:sp>
      <p:sp>
        <p:nvSpPr>
          <p:cNvPr id="17" name="Rectangle 17"/>
          <p:cNvSpPr/>
          <p:nvPr/>
        </p:nvSpPr>
        <p:spPr>
          <a:xfrm>
            <a:off x="9105900" y="5867400"/>
            <a:ext cx="438150" cy="342900"/>
          </a:xfrm>
          <a:prstGeom prst="rect">
            <a:avLst/>
          </a:prstGeom>
          <a:solidFill>
            <a:srgbClr val="E8EDFB"/>
          </a:solidFill>
          <a:ln>
            <a:noFill/>
          </a:ln>
        </p:spPr>
        <p:txBody>
          <a:bodyPr/>
          <a:p/>
        </p:txBody>
      </p:sp>
      <p:sp>
        <p:nvSpPr>
          <p:cNvPr id="18" name="TextBox 18"/>
          <p:cNvSpPr txBox="1"/>
          <p:nvPr/>
        </p:nvSpPr>
        <p:spPr>
          <a:xfrm>
            <a:off x="9023985" y="3384550"/>
            <a:ext cx="916076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采纳总纲映射</a:t>
            </a:r>
          </a:p>
        </p:txBody>
      </p:sp>
      <p:sp>
        <p:nvSpPr>
          <p:cNvPr id="19" name="Line 19"/>
          <p:cNvSpPr/>
          <p:nvPr/>
        </p:nvSpPr>
        <p:spPr>
          <a:xfrm>
            <a:off x="685800" y="62103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17171A"/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678561" y="4203700"/>
            <a:ext cx="5776530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每个模块背后是可溯源的论文与开源证据链 —— corpus/ 全量公开。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085" y="4546600"/>
            <a:ext cx="4766563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12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Interspeech 5,507 + ICASSP 14,285；落地 33 / 推荐 23 / 不做 20。</a:t>
            </a:r>
          </a:p>
        </p:txBody>
      </p:sp>
      <p:sp>
        <p:nvSpPr>
          <p:cNvPr id="22" name="Line 22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3" name="TextBox 23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249014" y="361950"/>
            <a:ext cx="1261948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11 / 12 · REPRO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123950"/>
            <a:ext cx="1862389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11 · 复现台账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9036" y="1403350"/>
            <a:ext cx="4475988" cy="64541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3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能复现的，全部复现。</a:t>
            </a:r>
          </a:p>
        </p:txBody>
      </p:sp>
      <p:sp>
        <p:nvSpPr>
          <p:cNvPr id="7" name="Line 7"/>
          <p:cNvSpPr/>
          <p:nvPr/>
        </p:nvSpPr>
        <p:spPr>
          <a:xfrm>
            <a:off x="685800" y="23812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8" name="TextBox 8"/>
          <p:cNvSpPr txBox="1"/>
          <p:nvPr/>
        </p:nvSpPr>
        <p:spPr>
          <a:xfrm>
            <a:off x="678942" y="2559050"/>
            <a:ext cx="45729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F-01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516380" y="2546350"/>
            <a:ext cx="199910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BS.1770-4 响度计量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5327904" y="2571750"/>
            <a:ext cx="3556483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R128 校准点 −23.00 LUFS ±0.1 · True Peak 4×</a:t>
            </a:r>
          </a:p>
        </p:txBody>
      </p:sp>
      <p:sp>
        <p:nvSpPr>
          <p:cNvPr id="11" name="Line 11"/>
          <p:cNvSpPr/>
          <p:nvPr/>
        </p:nvSpPr>
        <p:spPr>
          <a:xfrm>
            <a:off x="685800" y="29718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2" name="TextBox 12"/>
          <p:cNvSpPr txBox="1"/>
          <p:nvPr/>
        </p:nvSpPr>
        <p:spPr>
          <a:xfrm>
            <a:off x="678942" y="3149600"/>
            <a:ext cx="45729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F-02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516380" y="3136900"/>
            <a:ext cx="154325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FxLMS 主动降噪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327904" y="3162300"/>
            <a:ext cx="3155899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发动机阶次收敛 &gt;20dB · 2×2 多通道 ~15dB</a:t>
            </a:r>
          </a:p>
        </p:txBody>
      </p:sp>
      <p:sp>
        <p:nvSpPr>
          <p:cNvPr id="15" name="Line 15"/>
          <p:cNvSpPr/>
          <p:nvPr/>
        </p:nvSpPr>
        <p:spPr>
          <a:xfrm>
            <a:off x="685800" y="35623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6" name="TextBox 16"/>
          <p:cNvSpPr txBox="1"/>
          <p:nvPr/>
        </p:nvSpPr>
        <p:spPr>
          <a:xfrm>
            <a:off x="678942" y="3740150"/>
            <a:ext cx="45729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F-03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516380" y="3727450"/>
            <a:ext cx="1832610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头部朝向论文全管线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5327904" y="3752850"/>
            <a:ext cx="3735222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镜像源法 + STFT 相位 + BiGRU-MHSA · 冒烟 56.5°</a:t>
            </a:r>
          </a:p>
        </p:txBody>
      </p:sp>
      <p:sp>
        <p:nvSpPr>
          <p:cNvPr id="19" name="Line 19"/>
          <p:cNvSpPr/>
          <p:nvPr/>
        </p:nvSpPr>
        <p:spPr>
          <a:xfrm>
            <a:off x="685800" y="41529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0" name="TextBox 20"/>
          <p:cNvSpPr txBox="1"/>
          <p:nvPr/>
        </p:nvSpPr>
        <p:spPr>
          <a:xfrm>
            <a:off x="678942" y="4330700"/>
            <a:ext cx="45729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F-04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516380" y="4318000"/>
            <a:ext cx="2066635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PhaseCoder 麦位编码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327904" y="4343400"/>
            <a:ext cx="2892095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与官方 JAX 源码逐行对齐（α=7 · β=4）</a:t>
            </a:r>
          </a:p>
        </p:txBody>
      </p:sp>
      <p:sp>
        <p:nvSpPr>
          <p:cNvPr id="23" name="Line 23"/>
          <p:cNvSpPr/>
          <p:nvPr/>
        </p:nvSpPr>
        <p:spPr>
          <a:xfrm>
            <a:off x="685800" y="47434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24" name="TextBox 24"/>
          <p:cNvSpPr txBox="1"/>
          <p:nvPr/>
        </p:nvSpPr>
        <p:spPr>
          <a:xfrm>
            <a:off x="678942" y="4921250"/>
            <a:ext cx="457291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F-05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516380" y="4908550"/>
            <a:ext cx="2875197" cy="29337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5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Pipecat 帧管道 + unique_lock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327904" y="4933950"/>
            <a:ext cx="3889820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打断作废排队帧而系统帧穿管 · RAII/defer/try_lock</a:t>
            </a:r>
          </a:p>
        </p:txBody>
      </p:sp>
      <p:sp>
        <p:nvSpPr>
          <p:cNvPr id="27" name="Rectangle 27"/>
          <p:cNvSpPr/>
          <p:nvPr/>
        </p:nvSpPr>
        <p:spPr>
          <a:xfrm>
            <a:off x="685800" y="5410200"/>
            <a:ext cx="2476500" cy="495300"/>
          </a:xfrm>
          <a:prstGeom prst="rect">
            <a:avLst/>
          </a:prstGeom>
          <a:solidFill>
            <a:srgbClr val="1F3BD8"/>
          </a:solidFill>
          <a:ln>
            <a:noFill/>
          </a:ln>
        </p:spPr>
        <p:txBody>
          <a:bodyPr/>
          <a:p/>
        </p:txBody>
      </p:sp>
      <p:sp>
        <p:nvSpPr>
          <p:cNvPr id="28" name="TextBox 28"/>
          <p:cNvSpPr txBox="1"/>
          <p:nvPr/>
        </p:nvSpPr>
        <p:spPr>
          <a:xfrm>
            <a:off x="907161" y="5556250"/>
            <a:ext cx="1251286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71 项测试全绿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422904" y="5581650"/>
            <a:ext cx="360791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TDD · 零新依赖 · 论文数字不作断言 · 偏差全记档</a:t>
            </a:r>
          </a:p>
        </p:txBody>
      </p:sp>
      <p:sp>
        <p:nvSpPr>
          <p:cNvPr id="30" name="Line 30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31" name="TextBox 31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1038" y="361950"/>
            <a:ext cx="1948967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00" spc="225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LAOS · LINUX AGENTOS</a:t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0031387" y="361950"/>
            <a:ext cx="1479575" cy="17621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900" spc="15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12 / 12 · AS-BUILT</a:t>
            </a:r>
          </a:p>
        </p:txBody>
      </p:sp>
      <p:sp>
        <p:nvSpPr>
          <p:cNvPr id="4" name="Line 4"/>
          <p:cNvSpPr/>
          <p:nvPr/>
        </p:nvSpPr>
        <p:spPr>
          <a:xfrm>
            <a:off x="685800" y="62865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5" name="TextBox 5"/>
          <p:cNvSpPr txBox="1"/>
          <p:nvPr/>
        </p:nvSpPr>
        <p:spPr>
          <a:xfrm>
            <a:off x="680847" y="1485900"/>
            <a:ext cx="2207016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980" spc="300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SHEET 12 · 竣工与下一步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66750" y="2184400"/>
            <a:ext cx="5288280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能力边界写在内核里，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666750" y="2832100"/>
            <a:ext cx="4238244" cy="762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390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不写在提示词里。</a:t>
            </a:r>
          </a:p>
        </p:txBody>
      </p:sp>
      <p:sp>
        <p:nvSpPr>
          <p:cNvPr id="8" name="Line 8"/>
          <p:cNvSpPr/>
          <p:nvPr/>
        </p:nvSpPr>
        <p:spPr>
          <a:xfrm>
            <a:off x="685800" y="3810000"/>
            <a:ext cx="4076700" cy="9525"/>
          </a:xfrm>
          <a:custGeom>
            <a:avLst/>
            <a:gdLst/>
            <a:ahLst/>
            <a:cxnLst/>
            <a:rect l="l" t="t" r="r" b="b"/>
            <a:pathLst>
              <a:path w="4076700" h="9525">
                <a:moveTo>
                  <a:pt x="0" y="0"/>
                </a:moveTo>
                <a:lnTo>
                  <a:pt x="4076700" y="0"/>
                </a:lnTo>
              </a:path>
            </a:pathLst>
          </a:custGeom>
          <a:noFill/>
          <a:ln w="28575">
            <a:solidFill>
              <a:srgbClr val="C89B3C"/>
            </a:solidFill>
          </a:ln>
        </p:spPr>
        <p:txBody>
          <a:bodyPr/>
          <a:p/>
        </p:txBody>
      </p:sp>
      <p:sp>
        <p:nvSpPr>
          <p:cNvPr id="9" name="TextBox 9"/>
          <p:cNvSpPr txBox="1"/>
          <p:nvPr/>
        </p:nvSpPr>
        <p:spPr>
          <a:xfrm>
            <a:off x="678561" y="4089400"/>
            <a:ext cx="5905317" cy="278702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420" b="1" dirty="0">
                <a:solidFill>
                  <a:srgbClr val="17171A"/>
                </a:solidFill>
                <a:latin typeface="+mn-lt"/>
                <a:ea typeface="+mn-ea"/>
                <a:cs typeface="+mn-cs"/>
              </a:rPr>
              <a:t>v0.1 → v0.9 语义化版本 · Keep a Changelog · GitHub Release 页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79704" y="4419600"/>
            <a:ext cx="6372578" cy="23469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200" dirty="0">
                <a:solidFill>
                  <a:srgbClr val="55555E"/>
                </a:solidFill>
                <a:latin typeface="+mn-lt"/>
                <a:ea typeface="+mn-ea"/>
                <a:cs typeface="+mn-cs"/>
              </a:rPr>
              <a:t>一个完整需求波次 = 一次 MINOR；合规红线前置（EU AI Act / PIPL / 拒绝伪装采集）。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80847" y="5105400"/>
            <a:ext cx="444591" cy="19164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980" spc="30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NEXT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78942" y="5397500"/>
            <a:ext cx="6513497" cy="2640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zh-CN" sz="1350" b="1" dirty="0">
                <a:solidFill>
                  <a:srgbClr val="1F3BD8"/>
                </a:solidFill>
                <a:latin typeface="+mn-lt"/>
                <a:ea typeface="+mn-ea"/>
                <a:cs typeface="+mn-cs"/>
              </a:rPr>
              <a:t>drv_screen 真机验收 → 外挂驱动 PoC（mobile-mcp）→ bs1770 响度合入主库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80085" y="5880100"/>
            <a:ext cx="2735191" cy="22002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11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26.10.05</a:t>
            </a:r>
          </a:p>
        </p:txBody>
      </p:sp>
      <p:sp>
        <p:nvSpPr>
          <p:cNvPr id="14" name="Line 14"/>
          <p:cNvSpPr/>
          <p:nvPr/>
        </p:nvSpPr>
        <p:spPr>
          <a:xfrm>
            <a:off x="685800" y="6362700"/>
            <a:ext cx="10820400" cy="9525"/>
          </a:xfrm>
          <a:custGeom>
            <a:avLst/>
            <a:gdLst/>
            <a:ahLst/>
            <a:cxnLst/>
            <a:rect l="l" t="t" r="r" b="b"/>
            <a:pathLst>
              <a:path w="10820400" h="9525">
                <a:moveTo>
                  <a:pt x="0" y="0"/>
                </a:moveTo>
                <a:lnTo>
                  <a:pt x="10820400" y="0"/>
                </a:lnTo>
              </a:path>
            </a:pathLst>
          </a:custGeom>
          <a:noFill/>
          <a:ln w="9525">
            <a:solidFill>
              <a:srgbClr val="E3E3E8"/>
            </a:solidFill>
          </a:ln>
        </p:spPr>
        <p:txBody>
          <a:bodyPr/>
          <a:p/>
        </p:txBody>
      </p:sp>
      <p:sp>
        <p:nvSpPr>
          <p:cNvPr id="15" name="TextBox 15"/>
          <p:cNvSpPr txBox="1"/>
          <p:nvPr/>
        </p:nvSpPr>
        <p:spPr>
          <a:xfrm>
            <a:off x="681038" y="6489700"/>
            <a:ext cx="1879098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l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github.com/Yfredy/LAOS · v0.9.0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084300" y="6489700"/>
            <a:ext cx="1426662" cy="16192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 anchorCtr="0">
            <a:spAutoFit/>
          </a:bodyPr>
          <a:lstStyle/>
          <a:p>
            <a:pPr algn="r"/>
            <a:r>
              <a:rPr lang="en-US" sz="820" dirty="0">
                <a:solidFill>
                  <a:srgbClr val="8A8A93"/>
                </a:solidFill>
                <a:latin typeface="+mn-lt"/>
                <a:ea typeface="+mn-ea"/>
                <a:cs typeface="+mn-cs"/>
              </a:rPr>
              <a:t>FIELD NOTE 01 · 26.10.05</a:t>
            </a:r>
          </a:p>
        </p:txBody>
      </p:sp>
    </p:spTree>
  </p:cSld>
  <p:clrMapOvr>
    <a:masterClrMapping/>
  </p:clrMapOvr>
  <p:transition xmlns:p14="http://schemas.microsoft.com/office/powerpoint/2010/main" p14:dur="400">
    <p:fade/>
  </p:transition>
</p:sld>
</file>

<file path=ppt/theme/theme1.xml><?xml version="1.0" encoding="utf-8"?>
<a:theme xmlns:a="http://schemas.openxmlformats.org/drawingml/2006/main" name="laos-intro-master">
  <a:themeElements>
    <a:clrScheme name="laos-intro-master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os-intro-master">
      <a:maj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icrosoft YaHei"/>
        <a:ea typeface="Microsoft YaHei"/>
        <a:cs typeface="Microsoft YaHei"/>
        <a:font script="Jpan" typeface="Microsoft YaHei"/>
        <a:font script="Hang" typeface="Microsoft YaHei"/>
        <a:font script="Hans" typeface="Microsoft YaHei"/>
        <a:font script="Hant" typeface="Microsoft YaHei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os-intro-master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On-screen Show (16:9)</PresentationFormat>
  <Paragraphs>0</Paragraphs>
  <Slides>12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dc:language>zh-CN</dc:language>
  <cp:lastModifiedBy/>
  <cp:revision>1</cp:revision>
  <dcterms:created xsi:type="dcterms:W3CDTF">2026-10-04T17:01:18Z</dcterms:created>
  <dcterms:modified xsi:type="dcterms:W3CDTF">2026-10-04T17:01:18Z</dcterms:modified>
  <cp:category/>
  <cp:contentStatus/>
</cp:coreProperties>
</file>