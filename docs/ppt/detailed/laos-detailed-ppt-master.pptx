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各位好，这一场是 laos 项目的详细技术深潜。laos 把自己定义为 Linux AgentOS——Linux 内核的 Agent 扩展（用户态 · 零内核改动），一句话就是屏幕上这个等式：Linux kernel 加 Agent 加 MCP。今天是 v0.12.0，2026 年 10 月 5 日的仓库真实状态：765 项测试全绿，15 个 MCP 驱动，30 天里发了 12 个版本。右侧这圈轨道上的八个点，就是后面第六页要展开的八环闸门链，先留个印象。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先给一张深潜地图。整场分五组：A 组讲命题和 AgentOS 的坐标；B 组下潜到内核机制，其中八环闸门链是全片核心；C 组看驱动生态，从 15 个驱动到端侧听觉栈和全双工；D 组讲质量与文化，测试、版本史、复现和语料库；E 组收在红线和路线图。十九页，十八个内容域，一域不缺。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命题的第一半：不改一行内核代码，把 Linux 变成 Agent 的操作系统。办法是复用四件内核遗产——namespace 管隔离，cgroup 管配额，seccomp-BPF 管系统调用过滤，landlock 管文件沙箱。第二半是词表映射：MCP Server 对应设备驱动，tool call 对应系统调用，laosd 对应薄内核，能力表对应权限位。所以关键判断是：Agent 时代的内核不是重写调度器，而是给工具调用装上 syscall 语义。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市面上叫 AgentOS 的东西至少有八种不同的含义，这是调研文档 agentos-landscape 的结论。如果按强制力拉一条光谱，从 L0 的约定层到 L3 的 libOS 层，laos 精确落在 L2——用户态强制层。多数 AgentOS 本质是框架或壳，安全靠提示词和模型自觉；laos 是治理内核，能力、预算、审计、判断这四件事在派发之前完成，这是两类东西的分界。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laos 的总体架构是四层栈：最上面是 Agent，也就是 brain 和 agent；第二层是 laos 内核，kernel.py 负责调度，加上 syscall 闸门链；第三层是 15 个 drv_* 驱动子进程，重依赖全部隔离在这里；最底下是 Linux、MCP 和外设。一个核心承诺：laos 主目录零第三方依赖，纯标准库，重依赖只活在驱动子进程。整个仓库是三棵树——laos 主库、AlwaysOnRec 隔离区、Repro 复现区。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这一页是全片核心：syscall 闸门链，八环，每一笔 tool call 都要走完。第一环能力表，比如 screen.*，没授权的工具根本不进链。第二环 task_scope，路径前缀、pkg 应用白名单、time 时间窗三种收窄。第三环 schema 校验，参数非法即拒，EINVAL 语义。第四环 EDQUOT 预算，配额耗尽即拒。第五环 FleetLedger 不可逆计价，先扣账后派发，风险分扣减。第六环 Jev 预审，是个可选的判断层，问一句值不值得做。第七环确认横幅，高危操作交人审。第八环派发加审计，每笔 tool call 留痕。举个例子：screen.tap 越过 pkg 白名单，第二环就拒了，根本不会碰到 adb。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内核里还有两个配套机制。一个是 branch.py 分支树加 cow.py 写时复制：Agent 可以在分支上试错，再合并回主线，类似 git 语义的上下文管理，写时复制保证各分支改动互不污染。另一个是 memory.py 的 MemoryStore 加 diary、journal 日记层。这里有一条记忆闸门：只记实际发生的交互——想象中的交互不落库，写成事实的才入记忆。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判断层 Jev 是四闸门决策模型：高危预审、记忆过滤、压缩选择、技能质量。判断有三种型：Noul 是非判断，Choice 是二到二百五十五个选项的多选一，Score 是二到十级的分级。它映射到 laos 里 11 处硬阈值。这里有个诚实数字要讲：端侧实测中位数 157.5 毫秒，而 README 宣称 15.6 毫秒，被实测否证，慢了十倍，如实记录。judge 还可以透传挂到 TurnBuffer.commit 和 memory.remember 上，判断后端可插拔：none、rule、cloud、local。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驱动全景：15 个 drv_*，按三族收纳。听觉族三个，drv_mic 录音只由显式 syscall 触发，drv_ear 做转写加 LUFS，drv_rec 做触发式录音。手机族六个，drv_screen 覆盖 tap、text、dump、key、longpress、doubletap、devices 七类操控，drv_apps 管 list、launch、close，再加通知、电池、短信、传感器事件。系统族六个，文件、进程、系统信息、NPU 真机 QNN、语音增强、端侧 LLM。治理事实两条：kernel.load_driver 外挂需过闸，apps 和 screen 全都受 pkg 作用域闸门约束——驱动即设备，但每个外挂都要过闸。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端侧听觉栈是六级信号链，从 10 毫秒的 VAD 帧一路走到 56.5 度的 DOA。vad.py 是能量加滞回，无声即弃、零存储。loudness.py 实现 BS.1770-4 全套：K 计权用 48k Annex 精确系数，门控积分、LRA、True Peak 用 sinc 重构、PLR，校准锚点是负 23.00 LUFS 正负 0.1。binaural.py 用 Goertzel 在 250、500、1k、2k、4k 五个频点逐点算 ILD 和 IPD。micgeom.py 做麦克风几何 MPE，和官方 JAX 源码逐行对齐，跨实现 diff 是 0.0。foa.py 是一阶 Ambisonics 编解码，SN3D、N3D 加 ACN。最后 ShoNet 的 DOA 复现在 Repro 区，STFT 相位特征进 CNN 加 BiGRU 加 MHSA，冒烟 holdout 56.5 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全双工轮转靠三件套。先看时序：用户说话、Agent 应答，中间会有打断，也会有插队帧。duplex.py 从事件时间线里度量四个能力：响应延迟、打断响应、重叠率、抢话计数，这是 Duplex-MPE 的四能力分解。turnpolicy.py 是 speak、hold、stop 三态，靠 min-speech 200 毫秒、tail-silence 500 毫秒、min-hold 250 毫秒三道闸防止过早响应。turnbuf.py 打断即作废，未送达的帧丢弃，只记已送达的，interject 插队帧让慢系统结果无缝织入——记忆不写想象。来源是 2026 年 9 月周报波的 Duplex-MPE、SALMONN-duo 和 Context Spanning。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AlwaysOnRec 双沙箱，一句话：常开的是注意力，不是存储。隔离区有 279 项测试，环形缓冲加端侧蒸馏，原音频 7 天即焚，这条路线和 Apple Watch S12 的范式同构对照。四段漏斗：VAD 常开，段落成段，本地转写，事件入记忆，逐段缩小数据量。最底下是四条隐私红线，一条都不能破：录音只由显式 syscall 触发，LAOS_REC=0 一键全局禁录，每次调用都写 event 为 mic 的审计，ASR 全本地不出机器。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质量先看数字：765 项测试全绿，主库 415，AlwaysOnRec 隔离区 279，Repro 复现区 71。数字背后是两条纪律：TDD 先红后绿，每任务一个 commit；版本遵循 SemVer 加 conventional commits，30 天 12 个 MINOR，从 v0.1.0 到 v0.12.0。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30 天的版本史拉成一条线。v0.1.0 建基线，149 个文件。v0.2.0 上强制层，seccomp、CoW、eBPF、FleetLedger。v0.3.0 加 AgentProf、MCP Tasks、信箱、laosweb 和 NPU 驱动。v0.4.0 听觉、记忆、日记。v0.5.0 五层手机能力和双沙箱。v0.6.0 建语料库，一万九千七百九十二篇论文加三千七百二十四个 OSS。v0.7.0 Jev 四闸门。v0.8 到 v0.10 是复现采纳三连，六项复现落成 loudness、turnbuf、locks，还有五套 PPT。v0.11.0 手机操控四件套、drv_apps、micgeom。今天的 v0.12.0 收在双工时序、轮转策略、双耳线索和 FOA。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复现文化在 Repro-ZCode 隔离区，71 项测试。四项代表性复现：BS.1770 响度，R128 校准点负 23.00 LUFS 正负 0.1；FxLMS 主动降噪，发动机阶次收敛超 20 分贝；ShoNet 头部朝向，冒烟 holdout 56.5 度；PhaseCoder 麦位编码，和官方 JAX 源码逐行对齐。诚实清单也挂在明面上：跑不动的等比缩距并写明偏差，四万零二百九十五个样本缩到百样本冒烟。采纳走漏斗：复现、裁决、主库落地、文档执行注记；裁决三态，执行、基础件、不做。论文数字不作断言，偏差全部记档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调研语料库是证据底座。47 份调研文档，每条 capstone 采纳总账都记来源、可取之处、落点、状态。一万九千七百九十二篇双会议论文，ICASSP 2022 到 2026 一万四千二百八十五篇，Interspeech 2021 到 2025 五千五百零七篇，双会议全量覆盖。三千七百二十四个 OSS 星标仓库，去噪后 core 132、ref 两千八百六十四、unrelated 728。每个模块背后是可溯源的证据链。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红线页。jarvis 的七个文件，一行代码都不碰：伪装配置、聊天截获、屏幕捕获、常驻保活，这四类能力明确拒绝。法条层面跟踪两条：EU AI Act 禁止职场和教育场景的情绪识别；PIPL 把声纹定为敏感个人信息，要单独同意。原则一句话：能力可以有，红线内的能力永远不做。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路线图三程。近期 v0.13 之后：FDGym 式模拟用户回归、Bin2Ambi 驱动、FOA 评测钩子接 RMS-AQA。中期到 v1.0：多 Agent 并发调度，驱动市场让第三方 MCP 治理接入。远期是端侧完整语音 Agent 参考机——laosd 薄内核、听觉栈、全双工闭环。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收个尾。这场深潜想留下的就一句：Agent 需要的不是更强的模型，是一个会说「不」的内核。仓库在 github.com/Yfredy/LAOS，v0.12.0，765 项测试。谢谢大家。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os-detailed-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os-detailed-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22294" y="361950"/>
              <a:ext cx="16886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01 / 19 · COVER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10" name="cover-title"/>
          <p:cNvGrpSpPr/>
          <p:nvPr/>
        </p:nvGrpSpPr>
        <p:grpSpPr>
          <a:xfrm>
            <a:off x="669036" y="1314450"/>
            <a:ext cx="5298502" cy="1717294"/>
            <a:chOff x="669036" y="1314450"/>
            <a:chExt cx="5298502" cy="1717294"/>
          </a:xfrm>
        </p:grpSpPr>
        <p:sp>
          <p:nvSpPr>
            <p:cNvPr id="6" name="Rectangle 6"/>
            <p:cNvSpPr/>
            <p:nvPr/>
          </p:nvSpPr>
          <p:spPr>
            <a:xfrm>
              <a:off x="685800" y="1314450"/>
              <a:ext cx="2286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680847" y="1619250"/>
              <a:ext cx="27695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LINUX AGENTOS · DEEP DIVE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036" y="1955800"/>
              <a:ext cx="500064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laos —— Linux AgentOS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2679700"/>
              <a:ext cx="5290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Linux 内核的 Agent 扩展（用户态 · 零内核改动）· 详细技术深潜</a:t>
              </a:r>
            </a:p>
          </p:txBody>
        </p:sp>
      </p:grpSp>
      <p:grpSp>
        <p:nvGrpSpPr>
          <p:cNvPr id="13" name="cover-equation"/>
          <p:cNvGrpSpPr/>
          <p:nvPr/>
        </p:nvGrpSpPr>
        <p:grpSpPr>
          <a:xfrm>
            <a:off x="685800" y="3429000"/>
            <a:ext cx="5715000" cy="723900"/>
            <a:chOff x="685800" y="3429000"/>
            <a:chExt cx="5715000" cy="723900"/>
          </a:xfrm>
        </p:grpSpPr>
        <p:sp>
          <p:nvSpPr>
            <p:cNvPr id="11" name="Rectangle 11"/>
            <p:cNvSpPr/>
            <p:nvPr/>
          </p:nvSpPr>
          <p:spPr>
            <a:xfrm>
              <a:off x="685800" y="3429000"/>
              <a:ext cx="5715000" cy="723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4499" y="3686175"/>
              <a:ext cx="472635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Linux AgentOS = Linux kernel + Agent + MCP</a:t>
              </a:r>
            </a:p>
          </p:txBody>
        </p:sp>
      </p:grpSp>
      <p:grpSp>
        <p:nvGrpSpPr>
          <p:cNvPr id="22" name="cover-stats"/>
          <p:cNvGrpSpPr/>
          <p:nvPr/>
        </p:nvGrpSpPr>
        <p:grpSpPr>
          <a:xfrm>
            <a:off x="676656" y="4705350"/>
            <a:ext cx="5321590" cy="594678"/>
            <a:chOff x="676656" y="4705350"/>
            <a:chExt cx="5321590" cy="594678"/>
          </a:xfrm>
        </p:grpSpPr>
        <p:sp>
          <p:nvSpPr>
            <p:cNvPr id="14" name="TextBox 14"/>
            <p:cNvSpPr txBox="1"/>
            <p:nvPr/>
          </p:nvSpPr>
          <p:spPr>
            <a:xfrm>
              <a:off x="676656" y="471805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765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085" y="50800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测试全绿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400300" y="47053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2772156" y="47180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75585" y="5080000"/>
              <a:ext cx="854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 MCP 驱动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495800" y="47053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867656" y="47180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71085" y="5080000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个版本（30 天）</a:t>
              </a:r>
            </a:p>
          </p:txBody>
        </p:sp>
      </p:grpSp>
      <p:grpSp>
        <p:nvGrpSpPr>
          <p:cNvPr id="24" name="cover-meta"/>
          <p:cNvGrpSpPr/>
          <p:nvPr/>
        </p:nvGrpSpPr>
        <p:grpSpPr>
          <a:xfrm>
            <a:off x="680085" y="5803900"/>
            <a:ext cx="1594561" cy="220028"/>
            <a:chOff x="680085" y="5803900"/>
            <a:chExt cx="1594561" cy="220028"/>
          </a:xfrm>
        </p:grpSpPr>
        <p:sp>
          <p:nvSpPr>
            <p:cNvPr id="23" name="TextBox 23"/>
            <p:cNvSpPr txBox="1"/>
            <p:nvPr/>
          </p:nvSpPr>
          <p:spPr>
            <a:xfrm>
              <a:off x="680085" y="5803900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v0.12.0 · 2026-10-05</a:t>
              </a:r>
            </a:p>
          </p:txBody>
        </p:sp>
      </p:grpSp>
      <p:grpSp>
        <p:nvGrpSpPr>
          <p:cNvPr id="39" name="cover-orbit"/>
          <p:cNvGrpSpPr/>
          <p:nvPr/>
        </p:nvGrpSpPr>
        <p:grpSpPr>
          <a:xfrm>
            <a:off x="8239125" y="2238375"/>
            <a:ext cx="2952750" cy="3518853"/>
            <a:chOff x="8239125" y="2238375"/>
            <a:chExt cx="2952750" cy="3518853"/>
          </a:xfrm>
        </p:grpSpPr>
        <p:sp>
          <p:nvSpPr>
            <p:cNvPr id="25" name="Ellipse 25"/>
            <p:cNvSpPr/>
            <p:nvPr/>
          </p:nvSpPr>
          <p:spPr>
            <a:xfrm>
              <a:off x="8286750" y="2286000"/>
              <a:ext cx="2857500" cy="28575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26" name="Ellipse 26"/>
            <p:cNvSpPr/>
            <p:nvPr/>
          </p:nvSpPr>
          <p:spPr>
            <a:xfrm>
              <a:off x="8724900" y="2724150"/>
              <a:ext cx="1981200" cy="1981200"/>
            </a:xfrm>
            <a:prstGeom prst="ellipse">
              <a:avLst/>
            </a:pr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Ellipse 27"/>
            <p:cNvSpPr/>
            <p:nvPr/>
          </p:nvSpPr>
          <p:spPr>
            <a:xfrm>
              <a:off x="9163050" y="3162300"/>
              <a:ext cx="1104900" cy="1104900"/>
            </a:xfrm>
            <a:prstGeom prst="ellipse">
              <a:avLst/>
            </a:pr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8" name="Ellipse 28"/>
            <p:cNvSpPr/>
            <p:nvPr/>
          </p:nvSpPr>
          <p:spPr>
            <a:xfrm>
              <a:off x="9620250" y="36195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521317" y="3956050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laosd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1096625" y="3667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Ellipse 31"/>
            <p:cNvSpPr/>
            <p:nvPr/>
          </p:nvSpPr>
          <p:spPr>
            <a:xfrm>
              <a:off x="10677525" y="26574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Ellipse 32"/>
            <p:cNvSpPr/>
            <p:nvPr/>
          </p:nvSpPr>
          <p:spPr>
            <a:xfrm>
              <a:off x="9667875" y="2238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Ellipse 33"/>
            <p:cNvSpPr/>
            <p:nvPr/>
          </p:nvSpPr>
          <p:spPr>
            <a:xfrm>
              <a:off x="8658225" y="26574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Ellipse 34"/>
            <p:cNvSpPr/>
            <p:nvPr/>
          </p:nvSpPr>
          <p:spPr>
            <a:xfrm>
              <a:off x="8239125" y="3667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Ellipse 35"/>
            <p:cNvSpPr/>
            <p:nvPr/>
          </p:nvSpPr>
          <p:spPr>
            <a:xfrm>
              <a:off x="8658225" y="46767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Ellipse 36"/>
            <p:cNvSpPr/>
            <p:nvPr/>
          </p:nvSpPr>
          <p:spPr>
            <a:xfrm>
              <a:off x="9667875" y="50958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Ellipse 37"/>
            <p:cNvSpPr/>
            <p:nvPr/>
          </p:nvSpPr>
          <p:spPr>
            <a:xfrm>
              <a:off x="10677525" y="46767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8496051" y="5537200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laosd 薄内核 · 外环八点 = 八环闸门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0" name="Line 4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005784" y="361950"/>
              <a:ext cx="15051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02 / 19 · MAP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9" name="map-title"/>
          <p:cNvGrpSpPr/>
          <p:nvPr/>
        </p:nvGrpSpPr>
        <p:grpSpPr>
          <a:xfrm>
            <a:off x="669036" y="914400"/>
            <a:ext cx="5012415" cy="1001014"/>
            <a:chOff x="669036" y="914400"/>
            <a:chExt cx="5012415" cy="1001014"/>
          </a:xfrm>
        </p:grpSpPr>
        <p:sp>
          <p:nvSpPr>
            <p:cNvPr id="6" name="Rectangle 6"/>
            <p:cNvSpPr/>
            <p:nvPr/>
          </p:nvSpPr>
          <p:spPr>
            <a:xfrm>
              <a:off x="685800" y="9144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680847" y="1181100"/>
              <a:ext cx="24172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DEEP DIVE MAP · 深潜路线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036" y="1270000"/>
              <a:ext cx="50124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深潜地图：五组 · 十八域</a:t>
              </a:r>
            </a:p>
          </p:txBody>
        </p:sp>
      </p:grpSp>
      <p:grpSp>
        <p:nvGrpSpPr>
          <p:cNvPr id="16" name="map-row-a"/>
          <p:cNvGrpSpPr/>
          <p:nvPr/>
        </p:nvGrpSpPr>
        <p:grpSpPr>
          <a:xfrm>
            <a:off x="685800" y="1962150"/>
            <a:ext cx="10820400" cy="723900"/>
            <a:chOff x="685800" y="1962150"/>
            <a:chExt cx="108204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85800" y="1962150"/>
              <a:ext cx="10820400" cy="723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914400" y="2095500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0106" y="2209800"/>
              <a:ext cx="1457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2199" y="2095500"/>
              <a:ext cx="19744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开场组 · 命题与坐标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4104" y="2400300"/>
              <a:ext cx="2214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设计命题 · AgentOS 八义坐标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8678" y="2286000"/>
              <a:ext cx="74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P03 – P04</a:t>
              </a:r>
            </a:p>
          </p:txBody>
        </p:sp>
      </p:grpSp>
      <p:grpSp>
        <p:nvGrpSpPr>
          <p:cNvPr id="23" name="map-row-b"/>
          <p:cNvGrpSpPr/>
          <p:nvPr/>
        </p:nvGrpSpPr>
        <p:grpSpPr>
          <a:xfrm>
            <a:off x="685800" y="2838450"/>
            <a:ext cx="10820400" cy="723900"/>
            <a:chOff x="685800" y="2838450"/>
            <a:chExt cx="10820400" cy="723900"/>
          </a:xfrm>
        </p:grpSpPr>
        <p:sp>
          <p:nvSpPr>
            <p:cNvPr id="17" name="Rectangle 17"/>
            <p:cNvSpPr/>
            <p:nvPr/>
          </p:nvSpPr>
          <p:spPr>
            <a:xfrm>
              <a:off x="685800" y="2838450"/>
              <a:ext cx="10820400" cy="723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914400" y="2971800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1070106" y="3086100"/>
              <a:ext cx="1457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92199" y="2971800"/>
              <a:ext cx="17617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内核组 · 机制深潜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94104" y="3276600"/>
              <a:ext cx="4609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分层架构 · </a:t>
              </a:r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八环闸门链（全片核心）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分支与内存 · Jev 判断层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8678" y="3162300"/>
              <a:ext cx="74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P05 – P08</a:t>
              </a:r>
            </a:p>
          </p:txBody>
        </p:sp>
      </p:grpSp>
      <p:grpSp>
        <p:nvGrpSpPr>
          <p:cNvPr id="30" name="map-row-c"/>
          <p:cNvGrpSpPr/>
          <p:nvPr/>
        </p:nvGrpSpPr>
        <p:grpSpPr>
          <a:xfrm>
            <a:off x="685800" y="3714750"/>
            <a:ext cx="10820400" cy="723900"/>
            <a:chOff x="685800" y="3714750"/>
            <a:chExt cx="10820400" cy="723900"/>
          </a:xfrm>
        </p:grpSpPr>
        <p:sp>
          <p:nvSpPr>
            <p:cNvPr id="24" name="Rectangle 24"/>
            <p:cNvSpPr/>
            <p:nvPr/>
          </p:nvSpPr>
          <p:spPr>
            <a:xfrm>
              <a:off x="685800" y="3714750"/>
              <a:ext cx="10820400" cy="723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Rectangle 25"/>
            <p:cNvSpPr/>
            <p:nvPr/>
          </p:nvSpPr>
          <p:spPr>
            <a:xfrm>
              <a:off x="914400" y="3848100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1070106" y="3962400"/>
              <a:ext cx="1457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92199" y="3848100"/>
              <a:ext cx="218713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驱动生态组 · 设备世界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94104" y="4152900"/>
              <a:ext cx="5144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驱动全景 15 驱动 · 端侧听觉栈 · 全双工三件套 · AlwaysOnRec 双沙箱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08678" y="4038600"/>
              <a:ext cx="74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P09 – P12</a:t>
              </a:r>
            </a:p>
          </p:txBody>
        </p:sp>
      </p:grpSp>
      <p:grpSp>
        <p:nvGrpSpPr>
          <p:cNvPr id="37" name="map-row-d"/>
          <p:cNvGrpSpPr/>
          <p:nvPr/>
        </p:nvGrpSpPr>
        <p:grpSpPr>
          <a:xfrm>
            <a:off x="685800" y="4591050"/>
            <a:ext cx="10820400" cy="723900"/>
            <a:chOff x="685800" y="4591050"/>
            <a:chExt cx="10820400" cy="723900"/>
          </a:xfrm>
        </p:grpSpPr>
        <p:sp>
          <p:nvSpPr>
            <p:cNvPr id="31" name="Rectangle 31"/>
            <p:cNvSpPr/>
            <p:nvPr/>
          </p:nvSpPr>
          <p:spPr>
            <a:xfrm>
              <a:off x="685800" y="4591050"/>
              <a:ext cx="10820400" cy="723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Rectangle 32"/>
            <p:cNvSpPr/>
            <p:nvPr/>
          </p:nvSpPr>
          <p:spPr>
            <a:xfrm>
              <a:off x="914400" y="4724400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1070106" y="4838700"/>
              <a:ext cx="1457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92199" y="4724400"/>
              <a:ext cx="239983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质量文化组 · 证据与纪律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94104" y="5029200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765 测试 · 版本史 · 复现文化 · 调研语料库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08678" y="4914900"/>
              <a:ext cx="74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P13 – P16</a:t>
              </a:r>
            </a:p>
          </p:txBody>
        </p:sp>
      </p:grpSp>
      <p:grpSp>
        <p:nvGrpSpPr>
          <p:cNvPr id="44" name="map-row-e"/>
          <p:cNvGrpSpPr/>
          <p:nvPr/>
        </p:nvGrpSpPr>
        <p:grpSpPr>
          <a:xfrm>
            <a:off x="685800" y="5467350"/>
            <a:ext cx="10820400" cy="723900"/>
            <a:chOff x="685800" y="5467350"/>
            <a:chExt cx="10820400" cy="723900"/>
          </a:xfrm>
        </p:grpSpPr>
        <p:sp>
          <p:nvSpPr>
            <p:cNvPr id="38" name="Rectangle 38"/>
            <p:cNvSpPr/>
            <p:nvPr/>
          </p:nvSpPr>
          <p:spPr>
            <a:xfrm>
              <a:off x="685800" y="5467350"/>
              <a:ext cx="10820400" cy="723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Rectangle 39"/>
            <p:cNvSpPr/>
            <p:nvPr/>
          </p:nvSpPr>
          <p:spPr>
            <a:xfrm>
              <a:off x="914400" y="5600700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1070106" y="5715000"/>
              <a:ext cx="1457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92199" y="5600700"/>
              <a:ext cx="19744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收尾组 · 红线与路线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94104" y="59055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安全与合规红线 · 路线图 · 收尾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08678" y="5791200"/>
              <a:ext cx="74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P17 – P19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5" name="Line 4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88157" y="361950"/>
              <a:ext cx="17228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03 / 19 · THESIS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thesis-title"/>
          <p:cNvGrpSpPr/>
          <p:nvPr/>
        </p:nvGrpSpPr>
        <p:grpSpPr>
          <a:xfrm>
            <a:off x="669036" y="990600"/>
            <a:ext cx="6224683" cy="1375664"/>
            <a:chOff x="669036" y="990600"/>
            <a:chExt cx="6224683" cy="1375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1812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A1 · 设计命题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06500"/>
              <a:ext cx="6224683" cy="1159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不改一行内核代码，</a:t>
              </a:r>
              <a:b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 Linux 变成 Agent 的操作系统</a:t>
              </a:r>
            </a:p>
          </p:txBody>
        </p:sp>
      </p:grpSp>
      <p:grpSp>
        <p:nvGrpSpPr>
          <p:cNvPr id="22" name="thesis-legacy"/>
          <p:cNvGrpSpPr/>
          <p:nvPr/>
        </p:nvGrpSpPr>
        <p:grpSpPr>
          <a:xfrm>
            <a:off x="681038" y="2628900"/>
            <a:ext cx="10558462" cy="800100"/>
            <a:chOff x="681038" y="2628900"/>
            <a:chExt cx="10558462" cy="800100"/>
          </a:xfrm>
        </p:grpSpPr>
        <p:sp>
          <p:nvSpPr>
            <p:cNvPr id="9" name="TextBox 9"/>
            <p:cNvSpPr txBox="1"/>
            <p:nvPr/>
          </p:nvSpPr>
          <p:spPr>
            <a:xfrm>
              <a:off x="681038" y="2628900"/>
              <a:ext cx="1190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复用四件内核遗产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2857500"/>
              <a:ext cx="249555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70204" y="295275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namespace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3181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隔离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71850" y="2857500"/>
              <a:ext cx="249555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556254" y="29527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cgroup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254" y="3181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57900" y="2857500"/>
              <a:ext cx="249555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6242304" y="2952750"/>
              <a:ext cx="109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seccomp-BPF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2304" y="31813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系统调用过滤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43950" y="2857500"/>
              <a:ext cx="249555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8928354" y="2952750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landlock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28354" y="3181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文件沙箱</a:t>
              </a:r>
            </a:p>
          </p:txBody>
        </p:sp>
      </p:grpSp>
      <p:grpSp>
        <p:nvGrpSpPr>
          <p:cNvPr id="40" name="thesis-mapping"/>
          <p:cNvGrpSpPr/>
          <p:nvPr/>
        </p:nvGrpSpPr>
        <p:grpSpPr>
          <a:xfrm>
            <a:off x="678180" y="3810000"/>
            <a:ext cx="10828020" cy="1563370"/>
            <a:chOff x="678180" y="3810000"/>
            <a:chExt cx="10828020" cy="1563370"/>
          </a:xfrm>
        </p:grpSpPr>
        <p:sp>
          <p:nvSpPr>
            <p:cNvPr id="23" name="TextBox 23"/>
            <p:cNvSpPr txBox="1"/>
            <p:nvPr/>
          </p:nvSpPr>
          <p:spPr>
            <a:xfrm>
              <a:off x="681038" y="3810000"/>
              <a:ext cx="25716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词表映射 · LINUX 词 ↔ LAOS 语义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4057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78180" y="4108450"/>
              <a:ext cx="1199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Server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4380" y="4108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5880" y="4108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设备驱动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4381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78180" y="4432300"/>
              <a:ext cx="852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 call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4380" y="44323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35880" y="4432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85800" y="4705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678180" y="4756150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laosd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4380" y="47561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35880" y="47561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薄内核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85800" y="5029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678180" y="50800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4380" y="50800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35880" y="50800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权限位</a:t>
              </a:r>
            </a:p>
          </p:txBody>
        </p:sp>
      </p:grpSp>
      <p:grpSp>
        <p:nvGrpSpPr>
          <p:cNvPr id="44" name="thesis-judgment"/>
          <p:cNvGrpSpPr/>
          <p:nvPr/>
        </p:nvGrpSpPr>
        <p:grpSpPr>
          <a:xfrm>
            <a:off x="685800" y="5391150"/>
            <a:ext cx="10820400" cy="762000"/>
            <a:chOff x="685800" y="5391150"/>
            <a:chExt cx="10820400" cy="762000"/>
          </a:xfrm>
        </p:grpSpPr>
        <p:sp>
          <p:nvSpPr>
            <p:cNvPr id="41" name="Rectangle 41"/>
            <p:cNvSpPr/>
            <p:nvPr/>
          </p:nvSpPr>
          <p:spPr>
            <a:xfrm>
              <a:off x="685800" y="5391150"/>
              <a:ext cx="108204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947738" y="5581650"/>
              <a:ext cx="20473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KEY JUDGMENT · 关键判断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4499" y="5810250"/>
              <a:ext cx="711724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时代的「内核」不是重写调度器，而是给工具调用装上 syscall 语义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5" name="Line 4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480918" y="361950"/>
              <a:ext cx="20300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04 / 19 · LANDSCAPE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coord-title"/>
          <p:cNvGrpSpPr/>
          <p:nvPr/>
        </p:nvGrpSpPr>
        <p:grpSpPr>
          <a:xfrm>
            <a:off x="669036" y="990600"/>
            <a:ext cx="5966727" cy="867664"/>
            <a:chOff x="669036" y="990600"/>
            <a:chExt cx="5966727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1289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A2 · AGENTOS 八义坐标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59667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「AgentOS」至少有八种含义</a:t>
              </a:r>
            </a:p>
          </p:txBody>
        </p:sp>
      </p:grpSp>
      <p:grpSp>
        <p:nvGrpSpPr>
          <p:cNvPr id="11" name="coord-count"/>
          <p:cNvGrpSpPr/>
          <p:nvPr/>
        </p:nvGrpSpPr>
        <p:grpSpPr>
          <a:xfrm>
            <a:off x="678180" y="2203450"/>
            <a:ext cx="8029993" cy="504825"/>
            <a:chOff x="678180" y="2203450"/>
            <a:chExt cx="8029993" cy="504825"/>
          </a:xfrm>
        </p:grpSpPr>
        <p:sp>
          <p:nvSpPr>
            <p:cNvPr id="9" name="TextBox 9"/>
            <p:cNvSpPr txBox="1"/>
            <p:nvPr/>
          </p:nvSpPr>
          <p:spPr>
            <a:xfrm>
              <a:off x="678180" y="2203450"/>
              <a:ext cx="80299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调研结论：市面上「AgentOS」至少指 </a:t>
              </a:r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 种</a:t>
              </a: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不同的东西——laos 用强制力光谱给自己定坐标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1038" y="2546350"/>
              <a:ext cx="28851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来源：docs/research/agentos-landscape-2026-08.md</a:t>
              </a:r>
            </a:p>
          </p:txBody>
        </p:sp>
      </p:grpSp>
      <p:grpSp>
        <p:nvGrpSpPr>
          <p:cNvPr id="26" name="coord-spectrum"/>
          <p:cNvGrpSpPr/>
          <p:nvPr/>
        </p:nvGrpSpPr>
        <p:grpSpPr>
          <a:xfrm>
            <a:off x="681038" y="3009900"/>
            <a:ext cx="10558462" cy="1642428"/>
            <a:chOff x="681038" y="3009900"/>
            <a:chExt cx="10558462" cy="1642428"/>
          </a:xfrm>
        </p:grpSpPr>
        <p:sp>
          <p:nvSpPr>
            <p:cNvPr id="12" name="TextBox 12"/>
            <p:cNvSpPr txBox="1"/>
            <p:nvPr/>
          </p:nvSpPr>
          <p:spPr>
            <a:xfrm>
              <a:off x="681038" y="3009900"/>
              <a:ext cx="179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强制力光谱 · 约定 → 强制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66800" y="4248150"/>
              <a:ext cx="1017270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4" name="Line 14"/>
            <p:cNvSpPr/>
            <p:nvPr/>
          </p:nvSpPr>
          <p:spPr>
            <a:xfrm>
              <a:off x="17145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5" name="Line 15"/>
            <p:cNvSpPr/>
            <p:nvPr/>
          </p:nvSpPr>
          <p:spPr>
            <a:xfrm>
              <a:off x="45720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6" name="Line 16"/>
            <p:cNvSpPr/>
            <p:nvPr/>
          </p:nvSpPr>
          <p:spPr>
            <a:xfrm>
              <a:off x="74295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17" name="Line 17"/>
            <p:cNvSpPr/>
            <p:nvPr/>
          </p:nvSpPr>
          <p:spPr>
            <a:xfrm>
              <a:off x="102870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303401" y="4432300"/>
              <a:ext cx="822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L0 · 约定层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8665" y="4432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31784" y="44323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18294" y="4432300"/>
              <a:ext cx="937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L3 · libOS 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43775" y="41624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6096000" y="3448050"/>
              <a:ext cx="2667000" cy="533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Line 24"/>
            <p:cNvSpPr/>
            <p:nvPr/>
          </p:nvSpPr>
          <p:spPr>
            <a:xfrm>
              <a:off x="7429500" y="39814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071036" y="3629025"/>
              <a:ext cx="71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落点</a:t>
              </a:r>
            </a:p>
          </p:txBody>
        </p:sp>
      </p:grpSp>
      <p:grpSp>
        <p:nvGrpSpPr>
          <p:cNvPr id="33" name="coord-contrast"/>
          <p:cNvGrpSpPr/>
          <p:nvPr/>
        </p:nvGrpSpPr>
        <p:grpSpPr>
          <a:xfrm>
            <a:off x="685800" y="4933950"/>
            <a:ext cx="10820400" cy="1143000"/>
            <a:chOff x="685800" y="4933950"/>
            <a:chExt cx="10820400" cy="1143000"/>
          </a:xfrm>
        </p:grpSpPr>
        <p:sp>
          <p:nvSpPr>
            <p:cNvPr id="27" name="Rectangle 27"/>
            <p:cNvSpPr/>
            <p:nvPr/>
          </p:nvSpPr>
          <p:spPr>
            <a:xfrm>
              <a:off x="685800" y="4933950"/>
              <a:ext cx="5238750" cy="1143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47738" y="5143500"/>
              <a:ext cx="13223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多数「AGENTOS」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384800"/>
              <a:ext cx="1841754" cy="536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框架 / 壳——约定层为主，</a:t>
              </a:r>
              <a:b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安全靠提示词与模型自觉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67450" y="4933950"/>
              <a:ext cx="5238750" cy="1143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529388" y="5143500"/>
              <a:ext cx="12600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· 治理内核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7673" y="5384800"/>
              <a:ext cx="2064868" cy="536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· 预算 · 审计 · 判断，</a:t>
              </a:r>
              <a:b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四件事在派发之前完成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4" name="Line 3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939642" y="361950"/>
              <a:ext cx="1571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05 / 19 · ARCH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arch-title"/>
          <p:cNvGrpSpPr/>
          <p:nvPr/>
        </p:nvGrpSpPr>
        <p:grpSpPr>
          <a:xfrm>
            <a:off x="669036" y="990600"/>
            <a:ext cx="9440709" cy="867664"/>
            <a:chOff x="669036" y="990600"/>
            <a:chExt cx="9440709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5258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B1 · 总体架构分层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944070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四层栈：Agent · laos 内核 · 15 个驱动子进程</a:t>
              </a:r>
            </a:p>
          </p:txBody>
        </p:sp>
      </p:grpSp>
      <p:grpSp>
        <p:nvGrpSpPr>
          <p:cNvPr id="22" name="arch-stack"/>
          <p:cNvGrpSpPr/>
          <p:nvPr/>
        </p:nvGrpSpPr>
        <p:grpSpPr>
          <a:xfrm>
            <a:off x="685800" y="2019300"/>
            <a:ext cx="10820400" cy="2781300"/>
            <a:chOff x="685800" y="2019300"/>
            <a:chExt cx="10820400" cy="2781300"/>
          </a:xfrm>
        </p:grpSpPr>
        <p:sp>
          <p:nvSpPr>
            <p:cNvPr id="9" name="Rectangle 9"/>
            <p:cNvSpPr/>
            <p:nvPr/>
          </p:nvSpPr>
          <p:spPr>
            <a:xfrm>
              <a:off x="685800" y="2019300"/>
              <a:ext cx="10820400" cy="60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44499" y="2200275"/>
              <a:ext cx="63712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99522" y="223837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brain / agent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2743200"/>
              <a:ext cx="10820400" cy="60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Rectangle 13"/>
            <p:cNvSpPr/>
            <p:nvPr/>
          </p:nvSpPr>
          <p:spPr>
            <a:xfrm>
              <a:off x="685800" y="2743200"/>
              <a:ext cx="5715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44499" y="2924175"/>
              <a:ext cx="94390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内核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75980" y="2962275"/>
              <a:ext cx="3969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kernel.py 调度 + syscall 闸门链（八环 · 见下一页）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3467100"/>
              <a:ext cx="10820400" cy="60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944499" y="364807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驱动子进程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51702" y="3686175"/>
              <a:ext cx="4793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 个 drv_*（drv_screen · drv_mic · drv_npu …）· 重依赖隔离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4191000"/>
              <a:ext cx="10820400" cy="609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4499" y="4371975"/>
              <a:ext cx="196860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Linux / MCP / 外设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59885" y="4410075"/>
              <a:ext cx="1985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Linux 强制层 · MCP · 外设</a:t>
              </a:r>
            </a:p>
          </p:txBody>
        </p:sp>
      </p:grpSp>
      <p:grpSp>
        <p:nvGrpSpPr>
          <p:cNvPr id="30" name="arch-trees"/>
          <p:cNvGrpSpPr/>
          <p:nvPr/>
        </p:nvGrpSpPr>
        <p:grpSpPr>
          <a:xfrm>
            <a:off x="681038" y="5143500"/>
            <a:ext cx="10825162" cy="552450"/>
            <a:chOff x="681038" y="5143500"/>
            <a:chExt cx="10825162" cy="552450"/>
          </a:xfrm>
        </p:grpSpPr>
        <p:sp>
          <p:nvSpPr>
            <p:cNvPr id="23" name="TextBox 23"/>
            <p:cNvSpPr txBox="1"/>
            <p:nvPr/>
          </p:nvSpPr>
          <p:spPr>
            <a:xfrm>
              <a:off x="681038" y="5143500"/>
              <a:ext cx="21748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三棵树 · 一套仓库三个隔离世界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5800" y="5353050"/>
              <a:ext cx="3429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70204" y="542925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laos 主库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（内核语义层）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81500" y="5353050"/>
              <a:ext cx="3429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4565904" y="5429250"/>
              <a:ext cx="1563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AlwaysOnRec 隔离区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77200" y="5353050"/>
              <a:ext cx="3429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261604" y="5429250"/>
              <a:ext cx="995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Repro 复现区</a:t>
              </a:r>
            </a:p>
          </p:txBody>
        </p:sp>
      </p:grpSp>
      <p:grpSp>
        <p:nvGrpSpPr>
          <p:cNvPr id="33" name="arch-promise"/>
          <p:cNvGrpSpPr/>
          <p:nvPr/>
        </p:nvGrpSpPr>
        <p:grpSpPr>
          <a:xfrm>
            <a:off x="685800" y="5905500"/>
            <a:ext cx="7134416" cy="315595"/>
            <a:chOff x="685800" y="5905500"/>
            <a:chExt cx="7134416" cy="315595"/>
          </a:xfrm>
        </p:grpSpPr>
        <p:sp>
          <p:nvSpPr>
            <p:cNvPr id="31" name="Rectangle 31"/>
            <p:cNvSpPr/>
            <p:nvPr/>
          </p:nvSpPr>
          <p:spPr>
            <a:xfrm>
              <a:off x="685800" y="59055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68680" y="5927725"/>
              <a:ext cx="6951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核心承诺：laos/ 目录零第三方依赖（纯 stdlib）——重依赖只活在驱动子进程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4" name="Line 3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47898" y="361950"/>
              <a:ext cx="16630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06 / 19 · GATES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gates-title"/>
          <p:cNvGrpSpPr/>
          <p:nvPr/>
        </p:nvGrpSpPr>
        <p:grpSpPr>
          <a:xfrm>
            <a:off x="669036" y="990600"/>
            <a:ext cx="7067053" cy="867664"/>
            <a:chOff x="669036" y="990600"/>
            <a:chExt cx="7067053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886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B2 · SYSCALL 闸门链 · 全片核心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70670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syscall 闸门链：八环全过，才派发</a:t>
              </a:r>
            </a:p>
          </p:txBody>
        </p:sp>
      </p:grpSp>
      <p:grpSp>
        <p:nvGrpSpPr>
          <p:cNvPr id="12" name="gates-ring-1"/>
          <p:cNvGrpSpPr/>
          <p:nvPr/>
        </p:nvGrpSpPr>
        <p:grpSpPr>
          <a:xfrm>
            <a:off x="685800" y="1962150"/>
            <a:ext cx="5105400" cy="571500"/>
            <a:chOff x="685800" y="1962150"/>
            <a:chExt cx="5105400" cy="571500"/>
          </a:xfrm>
        </p:grpSpPr>
        <p:sp>
          <p:nvSpPr>
            <p:cNvPr id="9" name="Rectangle 9"/>
            <p:cNvSpPr/>
            <p:nvPr/>
          </p:nvSpPr>
          <p:spPr>
            <a:xfrm>
              <a:off x="685800" y="1962150"/>
              <a:ext cx="510540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870204" y="2057400"/>
              <a:ext cx="1337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能力表（caps）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347" y="2324100"/>
              <a:ext cx="21669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 screen.*——未授权的 tool 不进链</a:t>
              </a:r>
            </a:p>
          </p:txBody>
        </p:sp>
      </p:grpSp>
      <p:grpSp>
        <p:nvGrpSpPr>
          <p:cNvPr id="16" name="gates-ring-2"/>
          <p:cNvGrpSpPr/>
          <p:nvPr/>
        </p:nvGrpSpPr>
        <p:grpSpPr>
          <a:xfrm>
            <a:off x="685800" y="2819400"/>
            <a:ext cx="5105400" cy="571500"/>
            <a:chOff x="685800" y="2819400"/>
            <a:chExt cx="5105400" cy="571500"/>
          </a:xfrm>
        </p:grpSpPr>
        <p:sp>
          <p:nvSpPr>
            <p:cNvPr id="13" name="Rectangle 13"/>
            <p:cNvSpPr/>
            <p:nvPr/>
          </p:nvSpPr>
          <p:spPr>
            <a:xfrm>
              <a:off x="685800" y="2819400"/>
              <a:ext cx="5105400" cy="5715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870204" y="2914650"/>
              <a:ext cx="1089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task_scope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347" y="3181350"/>
              <a:ext cx="26220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路径前缀 / pkg: 应用白名单 / time: 时间窗</a:t>
              </a:r>
            </a:p>
          </p:txBody>
        </p:sp>
      </p:grpSp>
      <p:grpSp>
        <p:nvGrpSpPr>
          <p:cNvPr id="20" name="gates-ring-3"/>
          <p:cNvGrpSpPr/>
          <p:nvPr/>
        </p:nvGrpSpPr>
        <p:grpSpPr>
          <a:xfrm>
            <a:off x="685800" y="3676650"/>
            <a:ext cx="5105400" cy="571500"/>
            <a:chOff x="685800" y="3676650"/>
            <a:chExt cx="5105400" cy="571500"/>
          </a:xfrm>
        </p:grpSpPr>
        <p:sp>
          <p:nvSpPr>
            <p:cNvPr id="17" name="Rectangle 17"/>
            <p:cNvSpPr/>
            <p:nvPr/>
          </p:nvSpPr>
          <p:spPr>
            <a:xfrm>
              <a:off x="685800" y="3676650"/>
              <a:ext cx="510540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70204" y="3771900"/>
              <a:ext cx="1124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schema 校验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347" y="4038600"/>
              <a:ext cx="16642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参数非法即拒，EINVAL 语义</a:t>
              </a:r>
            </a:p>
          </p:txBody>
        </p:sp>
      </p:grpSp>
      <p:grpSp>
        <p:nvGrpSpPr>
          <p:cNvPr id="24" name="gates-ring-4"/>
          <p:cNvGrpSpPr/>
          <p:nvPr/>
        </p:nvGrpSpPr>
        <p:grpSpPr>
          <a:xfrm>
            <a:off x="685800" y="4533900"/>
            <a:ext cx="5105400" cy="571500"/>
            <a:chOff x="685800" y="4533900"/>
            <a:chExt cx="5105400" cy="571500"/>
          </a:xfrm>
        </p:grpSpPr>
        <p:sp>
          <p:nvSpPr>
            <p:cNvPr id="21" name="Rectangle 21"/>
            <p:cNvSpPr/>
            <p:nvPr/>
          </p:nvSpPr>
          <p:spPr>
            <a:xfrm>
              <a:off x="685800" y="4533900"/>
              <a:ext cx="510540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870204" y="4629150"/>
              <a:ext cx="1204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EDQUOT 预算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347" y="48958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配额耗尽即拒</a:t>
              </a:r>
            </a:p>
          </p:txBody>
        </p:sp>
      </p:grpSp>
      <p:grpSp>
        <p:nvGrpSpPr>
          <p:cNvPr id="28" name="gates-ring-5"/>
          <p:cNvGrpSpPr/>
          <p:nvPr/>
        </p:nvGrpSpPr>
        <p:grpSpPr>
          <a:xfrm>
            <a:off x="6400800" y="1962150"/>
            <a:ext cx="5105400" cy="571500"/>
            <a:chOff x="6400800" y="1962150"/>
            <a:chExt cx="5105400" cy="571500"/>
          </a:xfrm>
        </p:grpSpPr>
        <p:sp>
          <p:nvSpPr>
            <p:cNvPr id="25" name="Rectangle 25"/>
            <p:cNvSpPr/>
            <p:nvPr/>
          </p:nvSpPr>
          <p:spPr>
            <a:xfrm>
              <a:off x="6400800" y="1962150"/>
              <a:ext cx="5105400" cy="57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585204" y="2057400"/>
              <a:ext cx="2010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FleetLedger 不可逆计价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86347" y="23241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先扣账后派发，风险分扣减</a:t>
              </a:r>
            </a:p>
          </p:txBody>
        </p:sp>
      </p:grpSp>
      <p:grpSp>
        <p:nvGrpSpPr>
          <p:cNvPr id="32" name="gates-ring-6"/>
          <p:cNvGrpSpPr/>
          <p:nvPr/>
        </p:nvGrpSpPr>
        <p:grpSpPr>
          <a:xfrm>
            <a:off x="6400800" y="2819400"/>
            <a:ext cx="5105400" cy="571500"/>
            <a:chOff x="6400800" y="2819400"/>
            <a:chExt cx="5105400" cy="571500"/>
          </a:xfrm>
        </p:grpSpPr>
        <p:sp>
          <p:nvSpPr>
            <p:cNvPr id="29" name="Rectangle 29"/>
            <p:cNvSpPr/>
            <p:nvPr/>
          </p:nvSpPr>
          <p:spPr>
            <a:xfrm>
              <a:off x="6400800" y="2819400"/>
              <a:ext cx="510540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585204" y="2914650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Jev 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6347" y="3181350"/>
              <a:ext cx="16392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opt-in 判断层：值不值得做</a:t>
              </a:r>
            </a:p>
          </p:txBody>
        </p:sp>
      </p:grpSp>
      <p:grpSp>
        <p:nvGrpSpPr>
          <p:cNvPr id="36" name="gates-ring-7"/>
          <p:cNvGrpSpPr/>
          <p:nvPr/>
        </p:nvGrpSpPr>
        <p:grpSpPr>
          <a:xfrm>
            <a:off x="6400800" y="3676650"/>
            <a:ext cx="5105400" cy="571500"/>
            <a:chOff x="6400800" y="3676650"/>
            <a:chExt cx="5105400" cy="571500"/>
          </a:xfrm>
        </p:grpSpPr>
        <p:sp>
          <p:nvSpPr>
            <p:cNvPr id="33" name="Rectangle 33"/>
            <p:cNvSpPr/>
            <p:nvPr/>
          </p:nvSpPr>
          <p:spPr>
            <a:xfrm>
              <a:off x="6400800" y="3676650"/>
              <a:ext cx="510540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585204" y="377190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⑦ 确认横幅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6347" y="4038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高危操作人审</a:t>
              </a:r>
            </a:p>
          </p:txBody>
        </p:sp>
      </p:grpSp>
      <p:grpSp>
        <p:nvGrpSpPr>
          <p:cNvPr id="40" name="gates-ring-8"/>
          <p:cNvGrpSpPr/>
          <p:nvPr/>
        </p:nvGrpSpPr>
        <p:grpSpPr>
          <a:xfrm>
            <a:off x="6400800" y="4533900"/>
            <a:ext cx="5105400" cy="571500"/>
            <a:chOff x="6400800" y="4533900"/>
            <a:chExt cx="5105400" cy="571500"/>
          </a:xfrm>
        </p:grpSpPr>
        <p:sp>
          <p:nvSpPr>
            <p:cNvPr id="37" name="Rectangle 37"/>
            <p:cNvSpPr/>
            <p:nvPr/>
          </p:nvSpPr>
          <p:spPr>
            <a:xfrm>
              <a:off x="6400800" y="4533900"/>
              <a:ext cx="51054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585204" y="462915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⑧ 派发 + 审计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86347" y="4895850"/>
              <a:ext cx="11378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每笔 tool call 留痕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3143250" y="2562225"/>
            <a:ext cx="190500" cy="2095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2" name="Freeform 42"/>
          <p:cNvSpPr/>
          <p:nvPr/>
        </p:nvSpPr>
        <p:spPr>
          <a:xfrm>
            <a:off x="3143250" y="3419475"/>
            <a:ext cx="190500" cy="2095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3" name="Freeform 43"/>
          <p:cNvSpPr/>
          <p:nvPr/>
        </p:nvSpPr>
        <p:spPr>
          <a:xfrm>
            <a:off x="3143250" y="4276725"/>
            <a:ext cx="190500" cy="2095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4" name="Freeform 44"/>
          <p:cNvSpPr/>
          <p:nvPr/>
        </p:nvSpPr>
        <p:spPr>
          <a:xfrm>
            <a:off x="8858250" y="2562225"/>
            <a:ext cx="190500" cy="2095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5" name="Freeform 45"/>
          <p:cNvSpPr/>
          <p:nvPr/>
        </p:nvSpPr>
        <p:spPr>
          <a:xfrm>
            <a:off x="8858250" y="3419475"/>
            <a:ext cx="190500" cy="2095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8858250" y="4276725"/>
            <a:ext cx="190500" cy="2095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50" name="gates-link-4-5"/>
          <p:cNvGrpSpPr/>
          <p:nvPr/>
        </p:nvGrpSpPr>
        <p:grpSpPr>
          <a:xfrm>
            <a:off x="5791200" y="2247900"/>
            <a:ext cx="533400" cy="2581275"/>
            <a:chOff x="5791200" y="2247900"/>
            <a:chExt cx="533400" cy="2581275"/>
          </a:xfrm>
        </p:grpSpPr>
        <p:sp>
          <p:nvSpPr>
            <p:cNvPr id="47" name="Line 47"/>
            <p:cNvSpPr/>
            <p:nvPr/>
          </p:nvSpPr>
          <p:spPr>
            <a:xfrm>
              <a:off x="5791200" y="48196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48" name="Line 48"/>
            <p:cNvSpPr/>
            <p:nvPr/>
          </p:nvSpPr>
          <p:spPr>
            <a:xfrm>
              <a:off x="6019800" y="224790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2571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49" name="Line 49"/>
            <p:cNvSpPr/>
            <p:nvPr/>
          </p:nvSpPr>
          <p:spPr>
            <a:xfrm>
              <a:off x="6019800" y="2247900"/>
              <a:ext cx="30480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54" name="gates-example"/>
          <p:cNvGrpSpPr/>
          <p:nvPr/>
        </p:nvGrpSpPr>
        <p:grpSpPr>
          <a:xfrm>
            <a:off x="685800" y="5391150"/>
            <a:ext cx="6229741" cy="691896"/>
            <a:chOff x="685800" y="5391150"/>
            <a:chExt cx="6229741" cy="691896"/>
          </a:xfrm>
        </p:grpSpPr>
        <p:sp>
          <p:nvSpPr>
            <p:cNvPr id="51" name="Rectangle 51"/>
            <p:cNvSpPr/>
            <p:nvPr/>
          </p:nvSpPr>
          <p:spPr>
            <a:xfrm>
              <a:off x="685800" y="5391150"/>
              <a:ext cx="38100" cy="666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TextBox 52"/>
            <p:cNvSpPr txBox="1"/>
            <p:nvPr/>
          </p:nvSpPr>
          <p:spPr>
            <a:xfrm>
              <a:off x="944880" y="5518150"/>
              <a:ext cx="5970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例：screen.tap 越过 pkg: 应用白名单 → </a:t>
              </a:r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 ② 环即拒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，不触 adb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6404" y="5848350"/>
              <a:ext cx="4499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⑤ 先扣账后派发 · ⑥ Jev 预审为 opt-in · ⑧ 每笔 tool call 留痕</a:t>
              </a:r>
            </a:p>
          </p:txBody>
        </p:sp>
      </p:grpSp>
      <p:grpSp>
        <p:nvGrpSpPr>
          <p:cNvPr id="58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55" name="Line 5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56153" y="361950"/>
              <a:ext cx="1754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07 / 19 · BRANCH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branch-title"/>
          <p:cNvGrpSpPr/>
          <p:nvPr/>
        </p:nvGrpSpPr>
        <p:grpSpPr>
          <a:xfrm>
            <a:off x="669036" y="990600"/>
            <a:ext cx="9407119" cy="867664"/>
            <a:chOff x="669036" y="990600"/>
            <a:chExt cx="9407119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69814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B3 · 分支与内存模型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94071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分支与内存：像 git 一样试错，像日记一样记住</a:t>
              </a:r>
            </a:p>
          </p:txBody>
        </p:sp>
      </p:grpSp>
      <p:grpSp>
        <p:nvGrpSpPr>
          <p:cNvPr id="23" name="branch-tree"/>
          <p:cNvGrpSpPr/>
          <p:nvPr/>
        </p:nvGrpSpPr>
        <p:grpSpPr>
          <a:xfrm>
            <a:off x="679323" y="2209800"/>
            <a:ext cx="4311777" cy="2766378"/>
            <a:chOff x="679323" y="2209800"/>
            <a:chExt cx="4311777" cy="2766378"/>
          </a:xfrm>
        </p:grpSpPr>
        <p:sp>
          <p:nvSpPr>
            <p:cNvPr id="9" name="TextBox 9"/>
            <p:cNvSpPr txBox="1"/>
            <p:nvPr/>
          </p:nvSpPr>
          <p:spPr>
            <a:xfrm>
              <a:off x="679323" y="2209800"/>
              <a:ext cx="35815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branch.py 分支树 · cow.py 写时复制上下文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143250"/>
              <a:ext cx="12573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129524" y="3276600"/>
              <a:ext cx="750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 main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2647950"/>
              <a:ext cx="1562100" cy="457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3804696" y="2781300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试错分支 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3695700"/>
              <a:ext cx="1562100" cy="457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3804696" y="3829050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试错分支 B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133600" y="287655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0" y="381000"/>
                  </a:moveTo>
                  <a:lnTo>
                    <a:pt x="1295400" y="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7" name="Line 17"/>
            <p:cNvSpPr/>
            <p:nvPr/>
          </p:nvSpPr>
          <p:spPr>
            <a:xfrm>
              <a:off x="2133600" y="3486150"/>
              <a:ext cx="1295400" cy="438150"/>
            </a:xfrm>
            <a:custGeom>
              <a:avLst/>
              <a:gdLst/>
              <a:ahLst/>
              <a:cxnLst/>
              <a:rect l="l" t="t" r="r" b="b"/>
              <a:pathLst>
                <a:path w="1295400" h="438150">
                  <a:moveTo>
                    <a:pt x="0" y="0"/>
                  </a:moveTo>
                  <a:lnTo>
                    <a:pt x="1295400" y="4381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8" name="Line 18"/>
            <p:cNvSpPr/>
            <p:nvPr/>
          </p:nvSpPr>
          <p:spPr>
            <a:xfrm>
              <a:off x="2171700" y="3105150"/>
              <a:ext cx="1257300" cy="495300"/>
            </a:xfrm>
            <a:custGeom>
              <a:avLst/>
              <a:gdLst/>
              <a:ahLst/>
              <a:cxnLst/>
              <a:rect l="l" t="t" r="r" b="b"/>
              <a:pathLst>
                <a:path w="1257300" h="495300">
                  <a:moveTo>
                    <a:pt x="1257300" y="0"/>
                  </a:moveTo>
                  <a:lnTo>
                    <a:pt x="0" y="4953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2814447" y="2628900"/>
              <a:ext cx="6035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fork 探索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81047" y="37338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合并回主线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9704" y="4476750"/>
              <a:ext cx="2610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可在分支上试错，合并回主线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085" y="4756150"/>
              <a:ext cx="415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类似 git 语义的 Agent 上下文管理——写时复制隔离各分支改动</a:t>
              </a:r>
            </a:p>
          </p:txBody>
        </p:sp>
      </p:grpSp>
      <p:grpSp>
        <p:nvGrpSpPr>
          <p:cNvPr id="32" name="branch-memory"/>
          <p:cNvGrpSpPr/>
          <p:nvPr/>
        </p:nvGrpSpPr>
        <p:grpSpPr>
          <a:xfrm>
            <a:off x="6280023" y="2209800"/>
            <a:ext cx="5226177" cy="2781300"/>
            <a:chOff x="6280023" y="2209800"/>
            <a:chExt cx="5226177" cy="2781300"/>
          </a:xfrm>
        </p:grpSpPr>
        <p:sp>
          <p:nvSpPr>
            <p:cNvPr id="24" name="TextBox 24"/>
            <p:cNvSpPr txBox="1"/>
            <p:nvPr/>
          </p:nvSpPr>
          <p:spPr>
            <a:xfrm>
              <a:off x="6280023" y="2209800"/>
              <a:ext cx="42615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memory.py MemoryStore · diary / journal 日记层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0" y="2724150"/>
              <a:ext cx="521970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507480" y="29273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记忆闸门：只记实际发生的交互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9385" y="32702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日记层与记忆库都过同一道闸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86500" y="3848100"/>
              <a:ext cx="5219700" cy="1143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509004" y="4038600"/>
              <a:ext cx="2311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MemoryStore —— 记忆库存储层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004" y="4362450"/>
              <a:ext cx="2855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diary 每日日记 · journal 录音转写日记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385" y="469900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想象中的交互不落库，写成的事实才入记忆</a:t>
              </a: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3" name="Line 3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031387" y="361950"/>
              <a:ext cx="14795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08 / 19 · JEV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9" name="jev-title"/>
          <p:cNvGrpSpPr/>
          <p:nvPr/>
        </p:nvGrpSpPr>
        <p:grpSpPr>
          <a:xfrm>
            <a:off x="669036" y="990600"/>
            <a:ext cx="5846990" cy="1015746"/>
            <a:chOff x="669036" y="990600"/>
            <a:chExt cx="5846990" cy="1015746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4221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B4 · 判断层 JEV · 快问快答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58469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Jev 判断层：四闸门决策模型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9704" y="1771650"/>
              <a:ext cx="3800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四闸门：高危预审 · 记忆过滤 · 压缩选择 · 技能质量</a:t>
              </a:r>
            </a:p>
          </p:txBody>
        </p:sp>
      </p:grpSp>
      <p:grpSp>
        <p:nvGrpSpPr>
          <p:cNvPr id="19" name="jev-types"/>
          <p:cNvGrpSpPr/>
          <p:nvPr/>
        </p:nvGrpSpPr>
        <p:grpSpPr>
          <a:xfrm>
            <a:off x="685800" y="2133600"/>
            <a:ext cx="10820400" cy="838200"/>
            <a:chOff x="685800" y="2133600"/>
            <a:chExt cx="10820400" cy="838200"/>
          </a:xfrm>
        </p:grpSpPr>
        <p:sp>
          <p:nvSpPr>
            <p:cNvPr id="10" name="Rectangle 10"/>
            <p:cNvSpPr/>
            <p:nvPr/>
          </p:nvSpPr>
          <p:spPr>
            <a:xfrm>
              <a:off x="685800" y="2133600"/>
              <a:ext cx="3429000" cy="83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08304" y="2305050"/>
              <a:ext cx="347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Noul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685" y="2603500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是非判断（可行 / 不可行）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133600"/>
              <a:ext cx="3429000" cy="83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4604004" y="230505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Choice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2603500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多选一（2–255 个选项）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77200" y="2133600"/>
              <a:ext cx="3429000" cy="83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8299704" y="2305050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Score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00085" y="2603500"/>
              <a:ext cx="1443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分级判断（2–10 级）</a:t>
              </a:r>
            </a:p>
          </p:txBody>
        </p:sp>
      </p:grpSp>
      <p:grpSp>
        <p:nvGrpSpPr>
          <p:cNvPr id="28" name="jev-metrics"/>
          <p:cNvGrpSpPr/>
          <p:nvPr/>
        </p:nvGrpSpPr>
        <p:grpSpPr>
          <a:xfrm>
            <a:off x="685800" y="3200400"/>
            <a:ext cx="10820400" cy="1295400"/>
            <a:chOff x="685800" y="3200400"/>
            <a:chExt cx="10820400" cy="1295400"/>
          </a:xfrm>
        </p:grpSpPr>
        <p:sp>
          <p:nvSpPr>
            <p:cNvPr id="20" name="Rectangle 20"/>
            <p:cNvSpPr/>
            <p:nvPr/>
          </p:nvSpPr>
          <p:spPr>
            <a:xfrm>
              <a:off x="685800" y="3200400"/>
              <a:ext cx="2857500" cy="1295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05256" y="3441700"/>
              <a:ext cx="616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3829050"/>
              <a:ext cx="1665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laos 硬阈值映射到 Jev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685" y="4089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判断发生在派发之前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48100" y="3200400"/>
              <a:ext cx="7658100" cy="12954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4071938" y="3448050"/>
              <a:ext cx="21753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HONEST NUMBER · 诚实数字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67556" y="3708400"/>
              <a:ext cx="2997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端侧实测 median 157.5ms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70604" y="4076700"/>
              <a:ext cx="3915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README 宣称 15.6ms 被实测否证——慢 10×，如实记录</a:t>
              </a:r>
            </a:p>
          </p:txBody>
        </p:sp>
      </p:grpSp>
      <p:grpSp>
        <p:nvGrpSpPr>
          <p:cNvPr id="32" name="jev-passthrough"/>
          <p:cNvGrpSpPr/>
          <p:nvPr/>
        </p:nvGrpSpPr>
        <p:grpSpPr>
          <a:xfrm>
            <a:off x="685800" y="4914900"/>
            <a:ext cx="6891680" cy="651828"/>
            <a:chOff x="685800" y="4914900"/>
            <a:chExt cx="6891680" cy="651828"/>
          </a:xfrm>
        </p:grpSpPr>
        <p:sp>
          <p:nvSpPr>
            <p:cNvPr id="29" name="Rectangle 29"/>
            <p:cNvSpPr/>
            <p:nvPr/>
          </p:nvSpPr>
          <p:spPr>
            <a:xfrm>
              <a:off x="685800" y="4914900"/>
              <a:ext cx="38100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06780" y="5003800"/>
              <a:ext cx="6670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judge 透传：TurnBuffer.commit / memory.remember 都可挂 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685" y="5346700"/>
              <a:ext cx="307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判断后端可插拔：none / rule / cloud / local</a:t>
              </a: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3" name="Line 3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696412" y="361950"/>
              <a:ext cx="1814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09 / 19 · DRIVERS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drivers-title"/>
          <p:cNvGrpSpPr/>
          <p:nvPr/>
        </p:nvGrpSpPr>
        <p:grpSpPr>
          <a:xfrm>
            <a:off x="669036" y="990600"/>
            <a:ext cx="6995973" cy="867664"/>
            <a:chOff x="669036" y="990600"/>
            <a:chExt cx="6995973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3848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C1 · 驱动全景 · 15 DRV_*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699597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驱动全景：15 个 drv_*，三族设备</a:t>
              </a:r>
            </a:p>
          </p:txBody>
        </p:sp>
      </p:grpSp>
      <p:grpSp>
        <p:nvGrpSpPr>
          <p:cNvPr id="21" name="drivers-audio"/>
          <p:cNvGrpSpPr/>
          <p:nvPr/>
        </p:nvGrpSpPr>
        <p:grpSpPr>
          <a:xfrm>
            <a:off x="685800" y="2019300"/>
            <a:ext cx="3429000" cy="3467100"/>
            <a:chOff x="685800" y="2019300"/>
            <a:chExt cx="3429000" cy="3467100"/>
          </a:xfrm>
        </p:grpSpPr>
        <p:sp>
          <p:nvSpPr>
            <p:cNvPr id="9" name="Rectangle 9"/>
            <p:cNvSpPr/>
            <p:nvPr/>
          </p:nvSpPr>
          <p:spPr>
            <a:xfrm>
              <a:off x="685800" y="2019300"/>
              <a:ext cx="3429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869823" y="2114550"/>
              <a:ext cx="66516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听觉 ·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204" y="2571750"/>
              <a:ext cx="656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drv_mic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347" y="2819400"/>
              <a:ext cx="14545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录音，显式 syscall 触发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204" y="30670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drv_ear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347" y="33147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转写 + LUFS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35623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drv_rec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347" y="38100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触发式录音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4152900"/>
              <a:ext cx="3429000" cy="133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71538" y="4343400"/>
              <a:ext cx="585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治理事实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204" y="4610100"/>
              <a:ext cx="2609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kernel.load_driver() 外挂需过闸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204" y="4864100"/>
              <a:ext cx="1781175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apps.* / screen.* 均受</a:t>
              </a:r>
              <a:b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pkg 作用域闸门</a:t>
              </a:r>
            </a:p>
          </p:txBody>
        </p:sp>
      </p:grpSp>
      <p:grpSp>
        <p:nvGrpSpPr>
          <p:cNvPr id="36" name="drivers-phone"/>
          <p:cNvGrpSpPr/>
          <p:nvPr/>
        </p:nvGrpSpPr>
        <p:grpSpPr>
          <a:xfrm>
            <a:off x="4381500" y="2019300"/>
            <a:ext cx="3429000" cy="3468243"/>
            <a:chOff x="4381500" y="2019300"/>
            <a:chExt cx="3429000" cy="3468243"/>
          </a:xfrm>
        </p:grpSpPr>
        <p:sp>
          <p:nvSpPr>
            <p:cNvPr id="22" name="Rectangle 22"/>
            <p:cNvSpPr/>
            <p:nvPr/>
          </p:nvSpPr>
          <p:spPr>
            <a:xfrm>
              <a:off x="4381500" y="2019300"/>
              <a:ext cx="3429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4565523" y="2114550"/>
              <a:ext cx="66516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手机 · 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5904" y="257175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drv_screen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7047" y="2819400"/>
              <a:ext cx="32025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tap/text/dump/key/longpress/doubletap/devices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5904" y="3067050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drv_apps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7047" y="3314700"/>
              <a:ext cx="11115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list/launch/close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5904" y="3562350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drv_notify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7047" y="38100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5904" y="4057650"/>
              <a:ext cx="1038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drv_battery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7047" y="43053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5904" y="4552950"/>
              <a:ext cx="919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drv_comms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7047" y="4800600"/>
              <a:ext cx="545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短信 TTS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5904" y="504825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drv_events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7047" y="52959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传感器事件</a:t>
              </a:r>
            </a:p>
          </p:txBody>
        </p:sp>
      </p:grpSp>
      <p:grpSp>
        <p:nvGrpSpPr>
          <p:cNvPr id="51" name="drivers-system"/>
          <p:cNvGrpSpPr/>
          <p:nvPr/>
        </p:nvGrpSpPr>
        <p:grpSpPr>
          <a:xfrm>
            <a:off x="8077200" y="2019300"/>
            <a:ext cx="3429000" cy="3468243"/>
            <a:chOff x="8077200" y="2019300"/>
            <a:chExt cx="3429000" cy="3468243"/>
          </a:xfrm>
        </p:grpSpPr>
        <p:sp>
          <p:nvSpPr>
            <p:cNvPr id="37" name="Rectangle 37"/>
            <p:cNvSpPr/>
            <p:nvPr/>
          </p:nvSpPr>
          <p:spPr>
            <a:xfrm>
              <a:off x="8077200" y="2019300"/>
              <a:ext cx="3429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8261223" y="2114550"/>
              <a:ext cx="66516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 · 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1604" y="25717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drv_fs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62747" y="28194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1604" y="3067050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drv_proc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2747" y="33147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61604" y="35623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drv_sys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2747" y="38100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系统信息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1604" y="40576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drv_npu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62747" y="4305300"/>
              <a:ext cx="5734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QNN 真机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1604" y="455295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drv_audio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2747" y="48006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语音增强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61604" y="504825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drv_genie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747" y="5295900"/>
              <a:ext cx="5734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 LLM</a:t>
              </a:r>
            </a:p>
          </p:txBody>
        </p:sp>
      </p:grpSp>
      <p:grpSp>
        <p:nvGrpSpPr>
          <p:cNvPr id="54" name="drivers-note"/>
          <p:cNvGrpSpPr/>
          <p:nvPr/>
        </p:nvGrpSpPr>
        <p:grpSpPr>
          <a:xfrm>
            <a:off x="685800" y="5734050"/>
            <a:ext cx="4911909" cy="363220"/>
            <a:chOff x="685800" y="5734050"/>
            <a:chExt cx="4911909" cy="363220"/>
          </a:xfrm>
        </p:grpSpPr>
        <p:sp>
          <p:nvSpPr>
            <p:cNvPr id="52" name="Rectangle 52"/>
            <p:cNvSpPr/>
            <p:nvPr/>
          </p:nvSpPr>
          <p:spPr>
            <a:xfrm>
              <a:off x="685800" y="5734050"/>
              <a:ext cx="381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906780" y="5803900"/>
              <a:ext cx="4690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驱动即设备——但每一个外挂都要过闸、受作用域约束</a:t>
              </a:r>
            </a:p>
          </p:txBody>
        </p:sp>
      </p:grpSp>
      <p:grpSp>
        <p:nvGrpSpPr>
          <p:cNvPr id="58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55" name="Line 5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696412" y="361950"/>
              <a:ext cx="1814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10 / 19 · HEARING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hearing-title"/>
          <p:cNvGrpSpPr/>
          <p:nvPr/>
        </p:nvGrpSpPr>
        <p:grpSpPr>
          <a:xfrm>
            <a:off x="669036" y="990600"/>
            <a:ext cx="8982009" cy="867664"/>
            <a:chOff x="669036" y="990600"/>
            <a:chExt cx="8982009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4833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C2 · 端侧听觉栈 · 六级信号链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898200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端侧听觉栈：从 10ms VAD 帧到 56.5° DOA</a:t>
              </a:r>
            </a:p>
          </p:txBody>
        </p:sp>
      </p:grpSp>
      <p:grpSp>
        <p:nvGrpSpPr>
          <p:cNvPr id="13" name="hearing-row-1"/>
          <p:cNvGrpSpPr/>
          <p:nvPr/>
        </p:nvGrpSpPr>
        <p:grpSpPr>
          <a:xfrm>
            <a:off x="685800" y="2019300"/>
            <a:ext cx="10826496" cy="628650"/>
            <a:chOff x="685800" y="2019300"/>
            <a:chExt cx="10826496" cy="628650"/>
          </a:xfrm>
        </p:grpSpPr>
        <p:sp>
          <p:nvSpPr>
            <p:cNvPr id="9" name="Rectangle 9"/>
            <p:cNvSpPr/>
            <p:nvPr/>
          </p:nvSpPr>
          <p:spPr>
            <a:xfrm>
              <a:off x="685800" y="2019300"/>
              <a:ext cx="1809750" cy="628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870204" y="224790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vad.py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8054" y="2247900"/>
              <a:ext cx="1984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能量 + 滞回 VAD，无声即弃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0886" y="2247900"/>
              <a:ext cx="1311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10ms 帧 · 零存储</a:t>
              </a:r>
            </a:p>
          </p:txBody>
        </p:sp>
      </p:grpSp>
      <p:grpSp>
        <p:nvGrpSpPr>
          <p:cNvPr id="18" name="hearing-row-2"/>
          <p:cNvGrpSpPr/>
          <p:nvPr/>
        </p:nvGrpSpPr>
        <p:grpSpPr>
          <a:xfrm>
            <a:off x="685800" y="2686050"/>
            <a:ext cx="10826496" cy="628650"/>
            <a:chOff x="685800" y="2686050"/>
            <a:chExt cx="10826496" cy="628650"/>
          </a:xfrm>
        </p:grpSpPr>
        <p:sp>
          <p:nvSpPr>
            <p:cNvPr id="14" name="Rectangle 14"/>
            <p:cNvSpPr/>
            <p:nvPr/>
          </p:nvSpPr>
          <p:spPr>
            <a:xfrm>
              <a:off x="685800" y="2686050"/>
              <a:ext cx="1809750" cy="628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870204" y="2914650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loudness.py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18054" y="2914650"/>
              <a:ext cx="7298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BS.1770-4 全套：K 计权（48k Annex 精确系数）/ 门控积分 / LRA / True Peak（sinc 重构）/ PLR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12558" y="2914650"/>
              <a:ext cx="1499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−23.00 LUFS ±0.1</a:t>
              </a:r>
            </a:p>
          </p:txBody>
        </p:sp>
      </p:grpSp>
      <p:grpSp>
        <p:nvGrpSpPr>
          <p:cNvPr id="23" name="hearing-row-3"/>
          <p:cNvGrpSpPr/>
          <p:nvPr/>
        </p:nvGrpSpPr>
        <p:grpSpPr>
          <a:xfrm>
            <a:off x="685800" y="3352800"/>
            <a:ext cx="10826496" cy="628650"/>
            <a:chOff x="685800" y="3352800"/>
            <a:chExt cx="10826496" cy="628650"/>
          </a:xfrm>
        </p:grpSpPr>
        <p:sp>
          <p:nvSpPr>
            <p:cNvPr id="19" name="Rectangle 19"/>
            <p:cNvSpPr/>
            <p:nvPr/>
          </p:nvSpPr>
          <p:spPr>
            <a:xfrm>
              <a:off x="685800" y="3352800"/>
              <a:ext cx="1809750" cy="628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870204" y="3581400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binaural.py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18054" y="3581400"/>
              <a:ext cx="1946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Goertzel 逐频点 ILD / IPD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50381" y="3581400"/>
              <a:ext cx="17619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250/500/1k/2k/4k Hz</a:t>
              </a:r>
            </a:p>
          </p:txBody>
        </p:sp>
      </p:grpSp>
      <p:grpSp>
        <p:nvGrpSpPr>
          <p:cNvPr id="28" name="hearing-row-4"/>
          <p:cNvGrpSpPr/>
          <p:nvPr/>
        </p:nvGrpSpPr>
        <p:grpSpPr>
          <a:xfrm>
            <a:off x="685800" y="4019550"/>
            <a:ext cx="10826496" cy="628650"/>
            <a:chOff x="685800" y="4019550"/>
            <a:chExt cx="10826496" cy="628650"/>
          </a:xfrm>
        </p:grpSpPr>
        <p:sp>
          <p:nvSpPr>
            <p:cNvPr id="24" name="Rectangle 24"/>
            <p:cNvSpPr/>
            <p:nvPr/>
          </p:nvSpPr>
          <p:spPr>
            <a:xfrm>
              <a:off x="685800" y="4019550"/>
              <a:ext cx="1809750" cy="628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70204" y="4248150"/>
              <a:ext cx="970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micgeom.py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18054" y="4248150"/>
              <a:ext cx="3186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麦克风几何 MPE，与官方 JAX 源码逐行对齐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3063" y="4248150"/>
              <a:ext cx="1209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跨实现 diff 0.0</a:t>
              </a:r>
            </a:p>
          </p:txBody>
        </p:sp>
      </p:grpSp>
      <p:grpSp>
        <p:nvGrpSpPr>
          <p:cNvPr id="33" name="hearing-row-5"/>
          <p:cNvGrpSpPr/>
          <p:nvPr/>
        </p:nvGrpSpPr>
        <p:grpSpPr>
          <a:xfrm>
            <a:off x="685800" y="4686300"/>
            <a:ext cx="10826496" cy="628650"/>
            <a:chOff x="685800" y="4686300"/>
            <a:chExt cx="10826496" cy="628650"/>
          </a:xfrm>
        </p:grpSpPr>
        <p:sp>
          <p:nvSpPr>
            <p:cNvPr id="29" name="Rectangle 29"/>
            <p:cNvSpPr/>
            <p:nvPr/>
          </p:nvSpPr>
          <p:spPr>
            <a:xfrm>
              <a:off x="685800" y="4686300"/>
              <a:ext cx="1809750" cy="628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70204" y="491490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foa.py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18054" y="4914900"/>
              <a:ext cx="3416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一阶 Ambisonics 编解码（SN3D / N3D + ACN）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30144" y="4914900"/>
              <a:ext cx="882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FOA 编解码</a:t>
              </a:r>
            </a:p>
          </p:txBody>
        </p:sp>
      </p:grpSp>
      <p:grpSp>
        <p:nvGrpSpPr>
          <p:cNvPr id="38" name="hearing-row-6"/>
          <p:cNvGrpSpPr/>
          <p:nvPr/>
        </p:nvGrpSpPr>
        <p:grpSpPr>
          <a:xfrm>
            <a:off x="685800" y="5353050"/>
            <a:ext cx="10826496" cy="628650"/>
            <a:chOff x="685800" y="5353050"/>
            <a:chExt cx="10826496" cy="628650"/>
          </a:xfrm>
        </p:grpSpPr>
        <p:sp>
          <p:nvSpPr>
            <p:cNvPr id="34" name="Rectangle 34"/>
            <p:cNvSpPr/>
            <p:nvPr/>
          </p:nvSpPr>
          <p:spPr>
            <a:xfrm>
              <a:off x="685800" y="5353050"/>
              <a:ext cx="1809750" cy="6286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870204" y="5581650"/>
              <a:ext cx="965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ShoNet DOA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18054" y="5581650"/>
              <a:ext cx="3886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STFT 相位特征 → CNN+BiGRU+MHSA（Repro 区复现）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8149" y="5581650"/>
              <a:ext cx="1514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冒烟 holdout 56.5°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9" name="Line 3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56153" y="361950"/>
              <a:ext cx="1754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11 / 19 · DUPLEX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duplex-title"/>
          <p:cNvGrpSpPr/>
          <p:nvPr/>
        </p:nvGrpSpPr>
        <p:grpSpPr>
          <a:xfrm>
            <a:off x="669036" y="990600"/>
            <a:ext cx="9766958" cy="867664"/>
            <a:chOff x="669036" y="990600"/>
            <a:chExt cx="9766958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966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C3 · 全双工轮转 · 时序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97669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全双工三件套：duplex / turnpolicy / turnbuf</a:t>
              </a:r>
            </a:p>
          </p:txBody>
        </p:sp>
      </p:grpSp>
      <p:grpSp>
        <p:nvGrpSpPr>
          <p:cNvPr id="20" name="duplex-timeline"/>
          <p:cNvGrpSpPr/>
          <p:nvPr/>
        </p:nvGrpSpPr>
        <p:grpSpPr>
          <a:xfrm>
            <a:off x="679704" y="2133600"/>
            <a:ext cx="10750296" cy="1296543"/>
            <a:chOff x="679704" y="2133600"/>
            <a:chExt cx="10750296" cy="1296543"/>
          </a:xfrm>
        </p:grpSpPr>
        <p:sp>
          <p:nvSpPr>
            <p:cNvPr id="9" name="TextBox 9"/>
            <p:cNvSpPr txBox="1"/>
            <p:nvPr/>
          </p:nvSpPr>
          <p:spPr>
            <a:xfrm>
              <a:off x="681038" y="2133600"/>
              <a:ext cx="17204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事件时间线 · 打断与插队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4765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24000" y="2495550"/>
              <a:ext cx="4000500" cy="1714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679704" y="2933700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2952750"/>
              <a:ext cx="285750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Rectangle 14"/>
            <p:cNvSpPr/>
            <p:nvPr/>
          </p:nvSpPr>
          <p:spPr>
            <a:xfrm>
              <a:off x="9525000" y="2952750"/>
              <a:ext cx="1143000" cy="171450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  <a:prstDash val="dash"/>
            </a:ln>
          </p:spPr>
          <p:txBody>
            <a:bodyPr/>
            <a:p/>
          </p:txBody>
        </p:sp>
        <p:sp>
          <p:nvSpPr>
            <p:cNvPr id="15" name="Line 15"/>
            <p:cNvSpPr/>
            <p:nvPr/>
          </p:nvSpPr>
          <p:spPr>
            <a:xfrm>
              <a:off x="5829300" y="24003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92419" y="22098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打断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0" y="24003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4288">
              <a:solidFill>
                <a:srgbClr val="8A8A93"/>
              </a:solidFill>
              <a:prstDash val="sysDot"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9520047" y="3238500"/>
              <a:ext cx="10323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interject 插队帧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" y="3238500"/>
              <a:ext cx="10744200" cy="1"/>
            </a:xfrm>
            <a:prstGeom prst="line">
              <a:avLst/>
            </a:prstGeom>
            <a:noFill/>
            <a:ln w="9525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duplex-trio-1"/>
          <p:cNvGrpSpPr/>
          <p:nvPr/>
        </p:nvGrpSpPr>
        <p:grpSpPr>
          <a:xfrm>
            <a:off x="685800" y="3657600"/>
            <a:ext cx="3429000" cy="2095500"/>
            <a:chOff x="685800" y="3657600"/>
            <a:chExt cx="34290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685800" y="3657600"/>
              <a:ext cx="3429000" cy="2095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908304" y="386715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duplex.py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17195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事件时间线 → 四能力分解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4464050"/>
              <a:ext cx="190322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响应延迟</a:t>
              </a:r>
              <a:b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打断响应 · 重叠率 · 抢话计数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447" y="5295900"/>
              <a:ext cx="11833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Duplex-MPE 四能力</a:t>
              </a:r>
            </a:p>
          </p:txBody>
        </p:sp>
      </p:grpSp>
      <p:grpSp>
        <p:nvGrpSpPr>
          <p:cNvPr id="32" name="duplex-trio-2"/>
          <p:cNvGrpSpPr/>
          <p:nvPr/>
        </p:nvGrpSpPr>
        <p:grpSpPr>
          <a:xfrm>
            <a:off x="4381500" y="3657600"/>
            <a:ext cx="3429000" cy="2095500"/>
            <a:chOff x="4381500" y="3657600"/>
            <a:chExt cx="3429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4381500" y="3657600"/>
              <a:ext cx="3429000" cy="2095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4604004" y="3867150"/>
              <a:ext cx="1140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turnpolicy.py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004" y="417195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speak / hold / stop 三态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464050"/>
              <a:ext cx="2479294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min-speech 200ms</a:t>
              </a:r>
              <a:b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tail-silence 500ms · min-hold 250ms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5147" y="52959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三闸防过早响应</a:t>
              </a:r>
            </a:p>
          </p:txBody>
        </p:sp>
      </p:grpSp>
      <p:grpSp>
        <p:nvGrpSpPr>
          <p:cNvPr id="38" name="duplex-trio-3"/>
          <p:cNvGrpSpPr/>
          <p:nvPr/>
        </p:nvGrpSpPr>
        <p:grpSpPr>
          <a:xfrm>
            <a:off x="8077200" y="3657600"/>
            <a:ext cx="3429000" cy="2095500"/>
            <a:chOff x="8077200" y="3657600"/>
            <a:chExt cx="3429000" cy="2095500"/>
          </a:xfrm>
        </p:grpSpPr>
        <p:sp>
          <p:nvSpPr>
            <p:cNvPr id="33" name="Rectangle 33"/>
            <p:cNvSpPr/>
            <p:nvPr/>
          </p:nvSpPr>
          <p:spPr>
            <a:xfrm>
              <a:off x="8077200" y="3657600"/>
              <a:ext cx="3429000" cy="2095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299704" y="386715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turnbuf.py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9704" y="41719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打断即作废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00085" y="4464050"/>
              <a:ext cx="168275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未送达丢弃 · 只记已送达</a:t>
              </a:r>
              <a:b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interject 插队帧无缝织入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0847" y="5295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记忆不写想象</a:t>
              </a:r>
            </a:p>
          </p:txBody>
        </p:sp>
      </p:grpSp>
      <p:grpSp>
        <p:nvGrpSpPr>
          <p:cNvPr id="40" name="duplex-source"/>
          <p:cNvGrpSpPr/>
          <p:nvPr/>
        </p:nvGrpSpPr>
        <p:grpSpPr>
          <a:xfrm>
            <a:off x="680085" y="6032500"/>
            <a:ext cx="5309184" cy="220028"/>
            <a:chOff x="680085" y="6032500"/>
            <a:chExt cx="5309184" cy="220028"/>
          </a:xfrm>
        </p:grpSpPr>
        <p:sp>
          <p:nvSpPr>
            <p:cNvPr id="39" name="TextBox 39"/>
            <p:cNvSpPr txBox="1"/>
            <p:nvPr/>
          </p:nvSpPr>
          <p:spPr>
            <a:xfrm>
              <a:off x="680085" y="6032500"/>
              <a:ext cx="5309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来源：Duplex-MPE / SALMONN-duo / Context Spanning（2026-09 周报波）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1" name="Line 4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031387" y="361950"/>
              <a:ext cx="14795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12 / 19 · REC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rec-title"/>
          <p:cNvGrpSpPr/>
          <p:nvPr/>
        </p:nvGrpSpPr>
        <p:grpSpPr>
          <a:xfrm>
            <a:off x="669036" y="990600"/>
            <a:ext cx="8931935" cy="867664"/>
            <a:chOff x="669036" y="990600"/>
            <a:chExt cx="8931935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4618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C4 · ALWAYSONREC 双沙箱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893193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AlwaysOnRec 双沙箱：环形缓冲 + 7 天即焚</a:t>
              </a:r>
            </a:p>
          </p:txBody>
        </p:sp>
      </p:grpSp>
      <p:grpSp>
        <p:nvGrpSpPr>
          <p:cNvPr id="18" name="rec-funnel"/>
          <p:cNvGrpSpPr/>
          <p:nvPr/>
        </p:nvGrpSpPr>
        <p:grpSpPr>
          <a:xfrm>
            <a:off x="681038" y="2133600"/>
            <a:ext cx="4957762" cy="2590800"/>
            <a:chOff x="681038" y="2133600"/>
            <a:chExt cx="4957762" cy="2590800"/>
          </a:xfrm>
        </p:grpSpPr>
        <p:sp>
          <p:nvSpPr>
            <p:cNvPr id="9" name="TextBox 9"/>
            <p:cNvSpPr txBox="1"/>
            <p:nvPr/>
          </p:nvSpPr>
          <p:spPr>
            <a:xfrm>
              <a:off x="681038" y="2133600"/>
              <a:ext cx="26291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四段漏斗 · 常开的是注意力，不是存储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2400300"/>
              <a:ext cx="4572000" cy="49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2934249" y="2552700"/>
              <a:ext cx="837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VAD 常开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47800" y="3009900"/>
              <a:ext cx="3810000" cy="495300"/>
            </a:xfrm>
            <a:prstGeom prst="rect">
              <a:avLst/>
            </a:prstGeom>
            <a:solidFill>
              <a:srgbClr val="C9D4F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2951527" y="316230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段落成段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828800" y="3619500"/>
              <a:ext cx="3048000" cy="495300"/>
            </a:xfrm>
            <a:prstGeom prst="rect">
              <a:avLst/>
            </a:prstGeom>
            <a:solidFill>
              <a:srgbClr val="7C93E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2951527" y="377190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本地转写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09800" y="4229100"/>
              <a:ext cx="228600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2870755" y="438150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事件入记忆</a:t>
              </a:r>
            </a:p>
          </p:txBody>
        </p:sp>
      </p:grpSp>
      <p:grpSp>
        <p:nvGrpSpPr>
          <p:cNvPr id="25" name="rec-panel"/>
          <p:cNvGrpSpPr/>
          <p:nvPr/>
        </p:nvGrpSpPr>
        <p:grpSpPr>
          <a:xfrm>
            <a:off x="6391656" y="2184400"/>
            <a:ext cx="5114544" cy="2520696"/>
            <a:chOff x="6391656" y="2184400"/>
            <a:chExt cx="5114544" cy="2520696"/>
          </a:xfrm>
        </p:grpSpPr>
        <p:sp>
          <p:nvSpPr>
            <p:cNvPr id="19" name="TextBox 19"/>
            <p:cNvSpPr txBox="1"/>
            <p:nvPr/>
          </p:nvSpPr>
          <p:spPr>
            <a:xfrm>
              <a:off x="6391656" y="2184400"/>
              <a:ext cx="1241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279 项测试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4323" y="2590800"/>
              <a:ext cx="31404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隔离区：环形缓冲 + 端侧蒸馏 + 7 天即焚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00800" y="2971800"/>
              <a:ext cx="5105400" cy="990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623304" y="3086100"/>
              <a:ext cx="1993392" cy="53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环形缓冲捕获有人声的片段</a:t>
              </a:r>
              <a:b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端侧蒸馏：文本与事件入记忆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3685" y="3708400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原音频 7 天后即焚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4704" y="4184650"/>
              <a:ext cx="24505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Watch S12 范式对照——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同一收敛路线在消费级硬件上被验证</a:t>
              </a:r>
            </a:p>
          </p:txBody>
        </p:sp>
      </p:grpSp>
      <p:grpSp>
        <p:nvGrpSpPr>
          <p:cNvPr id="29" name="rec-redline"/>
          <p:cNvGrpSpPr/>
          <p:nvPr/>
        </p:nvGrpSpPr>
        <p:grpSpPr>
          <a:xfrm>
            <a:off x="685800" y="5410200"/>
            <a:ext cx="10820400" cy="800100"/>
            <a:chOff x="685800" y="5410200"/>
            <a:chExt cx="10820400" cy="800100"/>
          </a:xfrm>
        </p:grpSpPr>
        <p:sp>
          <p:nvSpPr>
            <p:cNvPr id="26" name="Rectangle 26"/>
            <p:cNvSpPr/>
            <p:nvPr/>
          </p:nvSpPr>
          <p:spPr>
            <a:xfrm>
              <a:off x="685800" y="5410200"/>
              <a:ext cx="108204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47738" y="5600700"/>
              <a:ext cx="3395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PRIVACY RED LINE · 隐私红线，一条都不能破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5867400"/>
              <a:ext cx="76481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录音只由显式 syscall 触发 · LAOS_REC=0 全局禁录 · 每次调用审计 event:"mic" · ASR 全本地</a:t>
              </a:r>
            </a:p>
          </p:txBody>
        </p:sp>
      </p:grpSp>
      <p:grpSp>
        <p:nvGrpSpPr>
          <p:cNvPr id="33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0" name="Line 3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47898" y="361950"/>
              <a:ext cx="16630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13 / 19 · TESTS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tests-title"/>
          <p:cNvGrpSpPr/>
          <p:nvPr/>
        </p:nvGrpSpPr>
        <p:grpSpPr>
          <a:xfrm>
            <a:off x="669036" y="990600"/>
            <a:ext cx="1810512" cy="867664"/>
            <a:chOff x="669036" y="990600"/>
            <a:chExt cx="1810512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3535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D1 · 测试与质量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测试全绿</a:t>
              </a:r>
            </a:p>
          </p:txBody>
        </p:sp>
      </p:grpSp>
      <p:grpSp>
        <p:nvGrpSpPr>
          <p:cNvPr id="11" name="tests-hero"/>
          <p:cNvGrpSpPr/>
          <p:nvPr/>
        </p:nvGrpSpPr>
        <p:grpSpPr>
          <a:xfrm>
            <a:off x="666750" y="2241550"/>
            <a:ext cx="3566922" cy="762000"/>
            <a:chOff x="666750" y="2241550"/>
            <a:chExt cx="3566922" cy="762000"/>
          </a:xfrm>
        </p:grpSpPr>
        <p:sp>
          <p:nvSpPr>
            <p:cNvPr id="9" name="TextBox 9"/>
            <p:cNvSpPr txBox="1"/>
            <p:nvPr/>
          </p:nvSpPr>
          <p:spPr>
            <a:xfrm>
              <a:off x="666750" y="2241550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765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6856" y="25082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项测试，全部通过</a:t>
              </a:r>
            </a:p>
          </p:txBody>
        </p:sp>
      </p:grpSp>
      <p:grpSp>
        <p:nvGrpSpPr>
          <p:cNvPr id="21" name="tests-breakdown"/>
          <p:cNvGrpSpPr/>
          <p:nvPr/>
        </p:nvGrpSpPr>
        <p:grpSpPr>
          <a:xfrm>
            <a:off x="676656" y="3390900"/>
            <a:ext cx="10829544" cy="920496"/>
            <a:chOff x="676656" y="3390900"/>
            <a:chExt cx="10829544" cy="920496"/>
          </a:xfrm>
        </p:grpSpPr>
        <p:sp>
          <p:nvSpPr>
            <p:cNvPr id="12" name="Line 12"/>
            <p:cNvSpPr/>
            <p:nvPr/>
          </p:nvSpPr>
          <p:spPr>
            <a:xfrm>
              <a:off x="685800" y="3390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676656" y="370840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40767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主库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381500" y="35814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753356" y="370840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279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6404" y="4076700"/>
              <a:ext cx="1563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AlwaysOnRec 隔离区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458200" y="35814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830056" y="37084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33104" y="4076700"/>
              <a:ext cx="995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Repro 复现区</a:t>
              </a:r>
            </a:p>
          </p:txBody>
        </p:sp>
      </p:grpSp>
      <p:grpSp>
        <p:nvGrpSpPr>
          <p:cNvPr id="26" name="tests-discipline"/>
          <p:cNvGrpSpPr/>
          <p:nvPr/>
        </p:nvGrpSpPr>
        <p:grpSpPr>
          <a:xfrm>
            <a:off x="685800" y="4851400"/>
            <a:ext cx="8363803" cy="807720"/>
            <a:chOff x="685800" y="4851400"/>
            <a:chExt cx="8363803" cy="807720"/>
          </a:xfrm>
        </p:grpSpPr>
        <p:sp>
          <p:nvSpPr>
            <p:cNvPr id="22" name="Rectangle 22"/>
            <p:cNvSpPr/>
            <p:nvPr/>
          </p:nvSpPr>
          <p:spPr>
            <a:xfrm>
              <a:off x="685800" y="491490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851400"/>
              <a:ext cx="3611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TDD 纪律：先红后绿，每任务一 commit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5800" y="54292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44880" y="5365750"/>
              <a:ext cx="81047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版本纪律：SemVer + conventional commits · 30 天 12 个 MINOR（v0.1.0 → v0.12.0）</a:t>
              </a:r>
            </a:p>
          </p:txBody>
        </p:sp>
      </p:grpSp>
      <p:grpSp>
        <p:nvGrpSpPr>
          <p:cNvPr id="30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27" name="Line 2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579064" y="361950"/>
              <a:ext cx="19318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14 / 19 · VERSIONS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versions-title"/>
          <p:cNvGrpSpPr/>
          <p:nvPr/>
        </p:nvGrpSpPr>
        <p:grpSpPr>
          <a:xfrm>
            <a:off x="669036" y="990600"/>
            <a:ext cx="7054920" cy="867664"/>
            <a:chOff x="669036" y="990600"/>
            <a:chExt cx="7054920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3246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D2 · 版本史 · 2026-09-04 → 10-05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70549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 天 12 个 MINOR：版本史时间线</a:t>
              </a:r>
            </a:p>
          </p:txBody>
        </p:sp>
      </p:grpSp>
      <p:grpSp>
        <p:nvGrpSpPr>
          <p:cNvPr id="20" name="versions-axis"/>
          <p:cNvGrpSpPr/>
          <p:nvPr/>
        </p:nvGrpSpPr>
        <p:grpSpPr>
          <a:xfrm>
            <a:off x="685800" y="2066925"/>
            <a:ext cx="10820400" cy="133350"/>
            <a:chOff x="685800" y="2066925"/>
            <a:chExt cx="10820400" cy="133350"/>
          </a:xfrm>
        </p:grpSpPr>
        <p:sp>
          <p:nvSpPr>
            <p:cNvPr id="9" name="Line 9"/>
            <p:cNvSpPr/>
            <p:nvPr/>
          </p:nvSpPr>
          <p:spPr>
            <a:xfrm>
              <a:off x="685800" y="2133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0" name="Line 10"/>
            <p:cNvSpPr/>
            <p:nvPr/>
          </p:nvSpPr>
          <p:spPr>
            <a:xfrm>
              <a:off x="68580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180975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295275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407670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4" name="Line 14"/>
            <p:cNvSpPr/>
            <p:nvPr/>
          </p:nvSpPr>
          <p:spPr>
            <a:xfrm>
              <a:off x="520065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5" name="Line 15"/>
            <p:cNvSpPr/>
            <p:nvPr/>
          </p:nvSpPr>
          <p:spPr>
            <a:xfrm>
              <a:off x="632460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6" name="Line 16"/>
            <p:cNvSpPr/>
            <p:nvPr/>
          </p:nvSpPr>
          <p:spPr>
            <a:xfrm>
              <a:off x="744855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7" name="Line 17"/>
            <p:cNvSpPr/>
            <p:nvPr/>
          </p:nvSpPr>
          <p:spPr>
            <a:xfrm>
              <a:off x="857250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8" name="Line 18"/>
            <p:cNvSpPr/>
            <p:nvPr/>
          </p:nvSpPr>
          <p:spPr>
            <a:xfrm>
              <a:off x="969645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9" name="Line 19"/>
            <p:cNvSpPr/>
            <p:nvPr/>
          </p:nvSpPr>
          <p:spPr>
            <a:xfrm>
              <a:off x="10820400" y="206692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  <p:txBody>
            <a:bodyPr/>
            <a:p/>
          </p:txBody>
        </p:sp>
      </p:grpSp>
      <p:grpSp>
        <p:nvGrpSpPr>
          <p:cNvPr id="36" name="versions-col-1"/>
          <p:cNvGrpSpPr/>
          <p:nvPr/>
        </p:nvGrpSpPr>
        <p:grpSpPr>
          <a:xfrm>
            <a:off x="679704" y="2571750"/>
            <a:ext cx="3944614" cy="3358896"/>
            <a:chOff x="679704" y="2571750"/>
            <a:chExt cx="3944614" cy="3358896"/>
          </a:xfrm>
        </p:grpSpPr>
        <p:sp>
          <p:nvSpPr>
            <p:cNvPr id="21" name="TextBox 21"/>
            <p:cNvSpPr txBox="1"/>
            <p:nvPr/>
          </p:nvSpPr>
          <p:spPr>
            <a:xfrm>
              <a:off x="679704" y="25717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v0.1.0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9738" y="26098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704" y="280035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baseline 149 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32956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v0.2.0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738" y="33337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704" y="3524250"/>
              <a:ext cx="3393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强制层 seccomp + CoW + eBPF + FleetLedger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9704" y="40195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v0.3.0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9738" y="40576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09-09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9704" y="4248150"/>
              <a:ext cx="3944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AgentProf + MCP Tasks + 信箱 + laosweb + drv_npu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" y="47434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v0.4.0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9738" y="47815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9704" y="497205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听觉 + 记忆 + 日记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704" y="54673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v0.5.0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9738" y="55054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09-11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704" y="569595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五层手机能力 + 双沙箱</a:t>
              </a:r>
            </a:p>
          </p:txBody>
        </p:sp>
      </p:grpSp>
      <p:grpSp>
        <p:nvGrpSpPr>
          <p:cNvPr id="53" name="versions-col-2"/>
          <p:cNvGrpSpPr/>
          <p:nvPr/>
        </p:nvGrpSpPr>
        <p:grpSpPr>
          <a:xfrm>
            <a:off x="6280404" y="2571750"/>
            <a:ext cx="5225796" cy="3524250"/>
            <a:chOff x="6280404" y="2571750"/>
            <a:chExt cx="5225796" cy="3524250"/>
          </a:xfrm>
        </p:grpSpPr>
        <p:sp>
          <p:nvSpPr>
            <p:cNvPr id="37" name="TextBox 37"/>
            <p:cNvSpPr txBox="1"/>
            <p:nvPr/>
          </p:nvSpPr>
          <p:spPr>
            <a:xfrm>
              <a:off x="6280404" y="25717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v0.6.0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24738" y="26098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80404" y="2800350"/>
              <a:ext cx="2482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语料库 19,792 论文 + 3,724 OSS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0404" y="329565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v0.7.0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24738" y="33337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09-28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0404" y="3524250"/>
              <a:ext cx="817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Jev 四闸门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80404" y="4019550"/>
              <a:ext cx="1318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v0.8.0–v0.10.0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77188" y="40576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10-05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80404" y="4222750"/>
              <a:ext cx="46375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复现采纳三连（SHO / PhaseCoder / ANC / LUFS /</a:t>
              </a:r>
              <a:b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Pipecat / unique_lock → loudness / turnbuf / locks + 五套 PPT）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0404" y="49720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v0.11.0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4738" y="50101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10-05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80404" y="5200650"/>
              <a:ext cx="2871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手机操控四件套 + drv_apps + micgeom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86500" y="5486400"/>
              <a:ext cx="5219700" cy="60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0" name="TextBox 50"/>
            <p:cNvSpPr txBox="1"/>
            <p:nvPr/>
          </p:nvSpPr>
          <p:spPr>
            <a:xfrm>
              <a:off x="6280404" y="55816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v0.12.0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4738" y="5619750"/>
              <a:ext cx="724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10-05 · 当前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0404" y="5810250"/>
              <a:ext cx="2834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双工时序 + 轮转策略 + 双耳线索 + FOA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54" name="Line 5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22294" y="361950"/>
              <a:ext cx="16886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15 / 19 · REPRO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repro-title"/>
          <p:cNvGrpSpPr/>
          <p:nvPr/>
        </p:nvGrpSpPr>
        <p:grpSpPr>
          <a:xfrm>
            <a:off x="669036" y="990600"/>
            <a:ext cx="6697218" cy="867664"/>
            <a:chOff x="669036" y="990600"/>
            <a:chExt cx="6697218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28334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D3 · 复现文化 · REPRO-ZCODE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复现文化：能复现的论文全部复现</a:t>
              </a:r>
            </a:p>
          </p:txBody>
        </p:sp>
      </p:grpSp>
      <p:grpSp>
        <p:nvGrpSpPr>
          <p:cNvPr id="19" name="repro-entries"/>
          <p:cNvGrpSpPr/>
          <p:nvPr/>
        </p:nvGrpSpPr>
        <p:grpSpPr>
          <a:xfrm>
            <a:off x="676656" y="2108200"/>
            <a:ext cx="2477389" cy="2980309"/>
            <a:chOff x="676656" y="2108200"/>
            <a:chExt cx="2477389" cy="2980309"/>
          </a:xfrm>
        </p:grpSpPr>
        <p:sp>
          <p:nvSpPr>
            <p:cNvPr id="9" name="TextBox 9"/>
            <p:cNvSpPr txBox="1"/>
            <p:nvPr/>
          </p:nvSpPr>
          <p:spPr>
            <a:xfrm>
              <a:off x="676656" y="2108200"/>
              <a:ext cx="1101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71 项测试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9523" y="21717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复现隔离区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323" y="2667000"/>
              <a:ext cx="11509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BS.1770 响度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466" y="2940050"/>
              <a:ext cx="2092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R128 校准点 −23.00 LUFS ±0.1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323" y="3314700"/>
              <a:ext cx="131685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FxLMS 主动降噪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466" y="3587750"/>
              <a:ext cx="1443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发动机阶次收敛 &gt;20dB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323" y="3962400"/>
              <a:ext cx="20641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ShoNet 头部朝向（DOA）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0466" y="4235450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冒烟 holdout 56.5°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" y="4610100"/>
              <a:ext cx="24617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PhaseCoder 麦位编码（MPE）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466" y="4883150"/>
              <a:ext cx="1618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与官方 JAX 源码逐行对齐</a:t>
              </a:r>
            </a:p>
          </p:txBody>
        </p:sp>
      </p:grpSp>
      <p:grpSp>
        <p:nvGrpSpPr>
          <p:cNvPr id="24" name="repro-honest"/>
          <p:cNvGrpSpPr/>
          <p:nvPr/>
        </p:nvGrpSpPr>
        <p:grpSpPr>
          <a:xfrm>
            <a:off x="6934200" y="2019300"/>
            <a:ext cx="4572000" cy="1447800"/>
            <a:chOff x="6934200" y="2019300"/>
            <a:chExt cx="4572000" cy="1447800"/>
          </a:xfrm>
        </p:grpSpPr>
        <p:sp>
          <p:nvSpPr>
            <p:cNvPr id="20" name="Rectangle 20"/>
            <p:cNvSpPr/>
            <p:nvPr/>
          </p:nvSpPr>
          <p:spPr>
            <a:xfrm>
              <a:off x="6934200" y="2019300"/>
              <a:ext cx="4572000" cy="14478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7158038" y="2228850"/>
              <a:ext cx="21497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HONEST LEDGER · 诚实清单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56704" y="25527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跑不动的等比缩距，并写明偏差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56704" y="2933700"/>
              <a:ext cx="1948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40,295 样本 → 百样本冒烟</a:t>
              </a:r>
            </a:p>
          </p:txBody>
        </p:sp>
      </p:grpSp>
      <p:grpSp>
        <p:nvGrpSpPr>
          <p:cNvPr id="34" name="repro-funnel"/>
          <p:cNvGrpSpPr/>
          <p:nvPr/>
        </p:nvGrpSpPr>
        <p:grpSpPr>
          <a:xfrm>
            <a:off x="6929438" y="3848100"/>
            <a:ext cx="4576762" cy="1828800"/>
            <a:chOff x="6929438" y="3848100"/>
            <a:chExt cx="4576762" cy="1828800"/>
          </a:xfrm>
        </p:grpSpPr>
        <p:sp>
          <p:nvSpPr>
            <p:cNvPr id="25" name="TextBox 25"/>
            <p:cNvSpPr txBox="1"/>
            <p:nvPr/>
          </p:nvSpPr>
          <p:spPr>
            <a:xfrm>
              <a:off x="6929438" y="3848100"/>
              <a:ext cx="585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采纳漏斗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34200" y="4076700"/>
              <a:ext cx="4572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7118604" y="41529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24700" y="4495800"/>
              <a:ext cx="4191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7309104" y="4572000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裁决</a:t>
              </a:r>
              <a:r>
                <a:rPr lang="zh-CN" sz="120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 xml:space="preserve">　● 执行 · ◐ 基础件 · ○ 不做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15200" y="4914900"/>
              <a:ext cx="3810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749960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主库落地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05700" y="5334000"/>
              <a:ext cx="3429000" cy="342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7690104" y="54102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文档执行注记</a:t>
              </a:r>
            </a:p>
          </p:txBody>
        </p:sp>
      </p:grpSp>
      <p:grpSp>
        <p:nvGrpSpPr>
          <p:cNvPr id="37" name="repro-note"/>
          <p:cNvGrpSpPr/>
          <p:nvPr/>
        </p:nvGrpSpPr>
        <p:grpSpPr>
          <a:xfrm>
            <a:off x="685800" y="5886450"/>
            <a:ext cx="3265170" cy="315595"/>
            <a:chOff x="685800" y="5886450"/>
            <a:chExt cx="3265170" cy="315595"/>
          </a:xfrm>
        </p:grpSpPr>
        <p:sp>
          <p:nvSpPr>
            <p:cNvPr id="35" name="Rectangle 35"/>
            <p:cNvSpPr/>
            <p:nvPr/>
          </p:nvSpPr>
          <p:spPr>
            <a:xfrm>
              <a:off x="685800" y="588645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906780" y="5908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论文数字不作断言，偏差全部记档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8" name="Line 3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30550" y="361950"/>
              <a:ext cx="17804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16 / 19 · CORPUS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corpus-title"/>
          <p:cNvGrpSpPr/>
          <p:nvPr/>
        </p:nvGrpSpPr>
        <p:grpSpPr>
          <a:xfrm>
            <a:off x="669036" y="990600"/>
            <a:ext cx="6697218" cy="867664"/>
            <a:chOff x="669036" y="990600"/>
            <a:chExt cx="6697218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3535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D4 · 调研语料库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调研语料库：不拍脑袋的证据底座</a:t>
              </a:r>
            </a:p>
          </p:txBody>
        </p:sp>
      </p:grpSp>
      <p:grpSp>
        <p:nvGrpSpPr>
          <p:cNvPr id="12" name="corpus-docs"/>
          <p:cNvGrpSpPr/>
          <p:nvPr/>
        </p:nvGrpSpPr>
        <p:grpSpPr>
          <a:xfrm>
            <a:off x="666750" y="2146300"/>
            <a:ext cx="1491234" cy="1856359"/>
            <a:chOff x="666750" y="2146300"/>
            <a:chExt cx="1491234" cy="1856359"/>
          </a:xfrm>
        </p:grpSpPr>
        <p:sp>
          <p:nvSpPr>
            <p:cNvPr id="9" name="TextBox 9"/>
            <p:cNvSpPr txBox="1"/>
            <p:nvPr/>
          </p:nvSpPr>
          <p:spPr>
            <a:xfrm>
              <a:off x="666750" y="2146300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28321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份调研文档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466" y="3263900"/>
              <a:ext cx="1477518" cy="738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capstone 采纳总账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每条：来源 / 可取之处 /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落点 / 状态</a:t>
              </a:r>
            </a:p>
          </p:txBody>
        </p:sp>
      </p:grpSp>
      <p:grpSp>
        <p:nvGrpSpPr>
          <p:cNvPr id="16" name="corpus-papers"/>
          <p:cNvGrpSpPr/>
          <p:nvPr/>
        </p:nvGrpSpPr>
        <p:grpSpPr>
          <a:xfrm>
            <a:off x="4362450" y="2146300"/>
            <a:ext cx="2017967" cy="1856359"/>
            <a:chOff x="4362450" y="2146300"/>
            <a:chExt cx="2017967" cy="1856359"/>
          </a:xfrm>
        </p:grpSpPr>
        <p:sp>
          <p:nvSpPr>
            <p:cNvPr id="13" name="TextBox 13"/>
            <p:cNvSpPr txBox="1"/>
            <p:nvPr/>
          </p:nvSpPr>
          <p:spPr>
            <a:xfrm>
              <a:off x="4362450" y="2146300"/>
              <a:ext cx="185728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19,792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73880" y="28321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篇双会议论文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6166" y="3263900"/>
              <a:ext cx="2004251" cy="738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ICASSP 2022-2026 · 14,285</a:t>
              </a:r>
              <a:b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Interspeech 2021-2025 · 5,507</a:t>
              </a:r>
              <a:b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双会议全量 100%</a:t>
              </a:r>
            </a:p>
          </p:txBody>
        </p:sp>
      </p:grpSp>
      <p:grpSp>
        <p:nvGrpSpPr>
          <p:cNvPr id="20" name="corpus-oss"/>
          <p:cNvGrpSpPr/>
          <p:nvPr/>
        </p:nvGrpSpPr>
        <p:grpSpPr>
          <a:xfrm>
            <a:off x="8058150" y="2146300"/>
            <a:ext cx="1691259" cy="1589659"/>
            <a:chOff x="8058150" y="2146300"/>
            <a:chExt cx="1691259" cy="1589659"/>
          </a:xfrm>
        </p:grpSpPr>
        <p:sp>
          <p:nvSpPr>
            <p:cNvPr id="17" name="TextBox 17"/>
            <p:cNvSpPr txBox="1"/>
            <p:nvPr/>
          </p:nvSpPr>
          <p:spPr>
            <a:xfrm>
              <a:off x="8058150" y="2146300"/>
              <a:ext cx="155408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3,724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9580" y="2832100"/>
              <a:ext cx="15737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 OSS 星标仓库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71866" y="3263900"/>
              <a:ext cx="1677543" cy="472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去噪后：core 132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ref 2,864 · unrelated 728</a:t>
              </a:r>
            </a:p>
          </p:txBody>
        </p:sp>
      </p:grpSp>
      <p:grpSp>
        <p:nvGrpSpPr>
          <p:cNvPr id="24" name="corpus-takeaway"/>
          <p:cNvGrpSpPr/>
          <p:nvPr/>
        </p:nvGrpSpPr>
        <p:grpSpPr>
          <a:xfrm>
            <a:off x="678180" y="5219700"/>
            <a:ext cx="10828020" cy="842328"/>
            <a:chOff x="678180" y="5219700"/>
            <a:chExt cx="10828020" cy="842328"/>
          </a:xfrm>
        </p:grpSpPr>
        <p:sp>
          <p:nvSpPr>
            <p:cNvPr id="21" name="Line 21"/>
            <p:cNvSpPr/>
            <p:nvPr/>
          </p:nvSpPr>
          <p:spPr>
            <a:xfrm>
              <a:off x="685800" y="5219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78180" y="54991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每个模块背后是可溯源的证据链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085" y="58420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docs/research/ 调研库与采纳总账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25" name="Line 2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696412" y="361950"/>
              <a:ext cx="1814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17 / 19 · REDLINE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redline-title"/>
          <p:cNvGrpSpPr/>
          <p:nvPr/>
        </p:nvGrpSpPr>
        <p:grpSpPr>
          <a:xfrm>
            <a:off x="669036" y="990600"/>
            <a:ext cx="5922009" cy="867664"/>
            <a:chOff x="669036" y="990600"/>
            <a:chExt cx="5922009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69814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E1 · 安全与合规红线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592200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红线：jarvis 七文件一行不碰</a:t>
              </a:r>
            </a:p>
          </p:txBody>
        </p:sp>
      </p:grpSp>
      <p:grpSp>
        <p:nvGrpSpPr>
          <p:cNvPr id="18" name="redline-list"/>
          <p:cNvGrpSpPr/>
          <p:nvPr/>
        </p:nvGrpSpPr>
        <p:grpSpPr>
          <a:xfrm>
            <a:off x="681038" y="2152650"/>
            <a:ext cx="6763702" cy="1172845"/>
            <a:chOff x="681038" y="2152650"/>
            <a:chExt cx="6763702" cy="1172845"/>
          </a:xfrm>
        </p:grpSpPr>
        <p:sp>
          <p:nvSpPr>
            <p:cNvPr id="9" name="TextBox 9"/>
            <p:cNvSpPr txBox="1"/>
            <p:nvPr/>
          </p:nvSpPr>
          <p:spPr>
            <a:xfrm>
              <a:off x="681038" y="2152650"/>
              <a:ext cx="21748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拒绝清单实证 · 一行代码都不写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2476500"/>
              <a:ext cx="381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06780" y="249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伪装配置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00800" y="2476500"/>
              <a:ext cx="381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6621780" y="249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聊天截获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009900"/>
              <a:ext cx="381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906780" y="303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屏幕捕获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400800" y="3009900"/>
              <a:ext cx="381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6621780" y="303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常驻保活</a:t>
              </a:r>
            </a:p>
          </p:txBody>
        </p:sp>
      </p:grpSp>
      <p:grpSp>
        <p:nvGrpSpPr>
          <p:cNvPr id="22" name="redline-law"/>
          <p:cNvGrpSpPr/>
          <p:nvPr/>
        </p:nvGrpSpPr>
        <p:grpSpPr>
          <a:xfrm>
            <a:off x="679323" y="4438650"/>
            <a:ext cx="8830737" cy="555117"/>
            <a:chOff x="679323" y="4438650"/>
            <a:chExt cx="8830737" cy="555117"/>
          </a:xfrm>
        </p:grpSpPr>
        <p:sp>
          <p:nvSpPr>
            <p:cNvPr id="19" name="TextBox 19"/>
            <p:cNvSpPr txBox="1"/>
            <p:nvPr/>
          </p:nvSpPr>
          <p:spPr>
            <a:xfrm>
              <a:off x="681038" y="4438650"/>
              <a:ext cx="585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法条跟踪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323" y="4743450"/>
              <a:ext cx="299200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EU AI Act —— 职场 / 教育情绪识别禁令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4323" y="4743450"/>
              <a:ext cx="31157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PIPL —— 声纹 = 敏感个人信息，单独同意</a:t>
              </a:r>
            </a:p>
          </p:txBody>
        </p:sp>
      </p:grpSp>
      <p:grpSp>
        <p:nvGrpSpPr>
          <p:cNvPr id="25" name="redline-principle"/>
          <p:cNvGrpSpPr/>
          <p:nvPr/>
        </p:nvGrpSpPr>
        <p:grpSpPr>
          <a:xfrm>
            <a:off x="676656" y="5689600"/>
            <a:ext cx="4657344" cy="415925"/>
            <a:chOff x="676656" y="5689600"/>
            <a:chExt cx="4657344" cy="415925"/>
          </a:xfrm>
        </p:grpSpPr>
        <p:sp>
          <p:nvSpPr>
            <p:cNvPr id="23" name="TextBox 23"/>
            <p:cNvSpPr txBox="1"/>
            <p:nvPr/>
          </p:nvSpPr>
          <p:spPr>
            <a:xfrm>
              <a:off x="676656" y="56896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能力可以有，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红线内的能力永远不做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60960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txBody>
            <a:bodyPr/>
            <a:p/>
          </p:txBody>
        </p:sp>
      </p:grpSp>
      <p:grpSp>
        <p:nvGrpSpPr>
          <p:cNvPr id="29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26" name="Line 2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613202" y="361950"/>
              <a:ext cx="1897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18 / 19 · ROADMAP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road-title"/>
          <p:cNvGrpSpPr/>
          <p:nvPr/>
        </p:nvGrpSpPr>
        <p:grpSpPr>
          <a:xfrm>
            <a:off x="669036" y="990600"/>
            <a:ext cx="5548842" cy="867664"/>
            <a:chOff x="669036" y="990600"/>
            <a:chExt cx="5548842" cy="867664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990600"/>
              <a:ext cx="10088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E2 · 路线图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036" y="1212850"/>
              <a:ext cx="55488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路线图：近期 · 中期 · 远期</a:t>
              </a:r>
            </a:p>
          </p:txBody>
        </p:sp>
      </p:grpSp>
      <p:grpSp>
        <p:nvGrpSpPr>
          <p:cNvPr id="16" name="road-near"/>
          <p:cNvGrpSpPr/>
          <p:nvPr/>
        </p:nvGrpSpPr>
        <p:grpSpPr>
          <a:xfrm>
            <a:off x="685800" y="2019300"/>
            <a:ext cx="3429000" cy="3810000"/>
            <a:chOff x="685800" y="2019300"/>
            <a:chExt cx="3429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85800" y="2019300"/>
              <a:ext cx="3429000" cy="381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052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523" y="2343150"/>
              <a:ext cx="11627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近期 · v0.13+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2724150"/>
              <a:ext cx="2971800" cy="19050"/>
            </a:xfrm>
            <a:prstGeom prst="rect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990850"/>
              <a:ext cx="1685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FDGym 式模拟用户回归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304" y="3448050"/>
              <a:ext cx="1057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Bin2Ambi 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3905250"/>
              <a:ext cx="1963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FOA 评测钩子接 RMS-AQA</a:t>
              </a:r>
            </a:p>
          </p:txBody>
        </p:sp>
      </p:grpSp>
      <p:grpSp>
        <p:nvGrpSpPr>
          <p:cNvPr id="24" name="road-mid"/>
          <p:cNvGrpSpPr/>
          <p:nvPr/>
        </p:nvGrpSpPr>
        <p:grpSpPr>
          <a:xfrm>
            <a:off x="4381500" y="2019300"/>
            <a:ext cx="3429000" cy="3810000"/>
            <a:chOff x="4381500" y="2019300"/>
            <a:chExt cx="34290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4381500" y="2019300"/>
              <a:ext cx="3429000" cy="381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009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3223" y="2343150"/>
              <a:ext cx="9636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中期 · v1.0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10100" y="2724150"/>
              <a:ext cx="2971800" cy="19050"/>
            </a:xfrm>
            <a:prstGeom prst="rect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4604004" y="2990850"/>
              <a:ext cx="13672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并发调度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4004" y="3448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驱动市场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766" y="3740150"/>
              <a:ext cx="13660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第三方 MCP 治理接入</a:t>
              </a:r>
            </a:p>
          </p:txBody>
        </p:sp>
      </p:grpSp>
      <p:grpSp>
        <p:nvGrpSpPr>
          <p:cNvPr id="33" name="road-far"/>
          <p:cNvGrpSpPr/>
          <p:nvPr/>
        </p:nvGrpSpPr>
        <p:grpSpPr>
          <a:xfrm>
            <a:off x="8077200" y="2019300"/>
            <a:ext cx="3429000" cy="3810000"/>
            <a:chOff x="8077200" y="2019300"/>
            <a:chExt cx="3429000" cy="3810000"/>
          </a:xfrm>
        </p:grpSpPr>
        <p:sp>
          <p:nvSpPr>
            <p:cNvPr id="25" name="Rectangle 25"/>
            <p:cNvSpPr/>
            <p:nvPr/>
          </p:nvSpPr>
          <p:spPr>
            <a:xfrm>
              <a:off x="8077200" y="2019300"/>
              <a:ext cx="3429000" cy="381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2966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8923" y="23431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远期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05800" y="2724150"/>
              <a:ext cx="2971800" cy="19050"/>
            </a:xfrm>
            <a:prstGeom prst="rect">
              <a:avLst/>
            </a:prstGeom>
            <a:solidFill>
              <a:srgbClr val="C9D4F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299323" y="2990850"/>
              <a:ext cx="21767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端侧完整语音 Agent 参考机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9704" y="344805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laosd 薄内核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9704" y="39052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听觉栈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9704" y="4362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全双工闭环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4" name="Line 3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88157" y="361950"/>
              <a:ext cx="17228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19 / 19 · ENDING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7" name="end-statement"/>
          <p:cNvGrpSpPr/>
          <p:nvPr/>
        </p:nvGrpSpPr>
        <p:grpSpPr>
          <a:xfrm>
            <a:off x="669036" y="2203450"/>
            <a:ext cx="5985796" cy="1235964"/>
            <a:chOff x="669036" y="2203450"/>
            <a:chExt cx="5985796" cy="1235964"/>
          </a:xfrm>
        </p:grpSpPr>
        <p:sp>
          <p:nvSpPr>
            <p:cNvPr id="6" name="TextBox 6"/>
            <p:cNvSpPr txBox="1"/>
            <p:nvPr/>
          </p:nvSpPr>
          <p:spPr>
            <a:xfrm>
              <a:off x="669036" y="2203450"/>
              <a:ext cx="5985796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需要的不是更强的模型，</a:t>
              </a:r>
              <a:b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是一个会说「不」的内核。</a:t>
              </a:r>
            </a:p>
          </p:txBody>
        </p:sp>
      </p:grpSp>
      <p:grpSp>
        <p:nvGrpSpPr>
          <p:cNvPr id="9" name="end-rule"/>
          <p:cNvGrpSpPr/>
          <p:nvPr/>
        </p:nvGrpSpPr>
        <p:grpSpPr>
          <a:xfrm>
            <a:off x="685800" y="3733800"/>
            <a:ext cx="4076700" cy="28575"/>
            <a:chOff x="685800" y="3733800"/>
            <a:chExt cx="4076700" cy="28575"/>
          </a:xfrm>
        </p:grpSpPr>
        <p:sp>
          <p:nvSpPr>
            <p:cNvPr id="8" name="Rectangle 8"/>
            <p:cNvSpPr/>
            <p:nvPr/>
          </p:nvSpPr>
          <p:spPr>
            <a:xfrm>
              <a:off x="685800" y="3733800"/>
              <a:ext cx="40767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</p:grpSp>
      <p:grpSp>
        <p:nvGrpSpPr>
          <p:cNvPr id="12" name="end-repo"/>
          <p:cNvGrpSpPr/>
          <p:nvPr/>
        </p:nvGrpSpPr>
        <p:grpSpPr>
          <a:xfrm>
            <a:off x="678180" y="4298950"/>
            <a:ext cx="3641298" cy="618617"/>
            <a:chOff x="678180" y="4298950"/>
            <a:chExt cx="3641298" cy="618617"/>
          </a:xfrm>
        </p:grpSpPr>
        <p:sp>
          <p:nvSpPr>
            <p:cNvPr id="10" name="TextBox 10"/>
            <p:cNvSpPr txBox="1"/>
            <p:nvPr/>
          </p:nvSpPr>
          <p:spPr>
            <a:xfrm>
              <a:off x="678180" y="4298950"/>
              <a:ext cx="2651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github.com/Yfredy/LAOS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323" y="4667250"/>
              <a:ext cx="364015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v0.12.0 · 765 项测试 · 15 个驱动 · 12 个版本</a:t>
              </a:r>
            </a:p>
          </p:txBody>
        </p:sp>
      </p:grpSp>
      <p:grpSp>
        <p:nvGrpSpPr>
          <p:cNvPr id="25" name="end-orbit"/>
          <p:cNvGrpSpPr/>
          <p:nvPr/>
        </p:nvGrpSpPr>
        <p:grpSpPr>
          <a:xfrm>
            <a:off x="8715375" y="3000375"/>
            <a:ext cx="2381250" cy="2887218"/>
            <a:chOff x="8715375" y="3000375"/>
            <a:chExt cx="2381250" cy="2887218"/>
          </a:xfrm>
        </p:grpSpPr>
        <p:sp>
          <p:nvSpPr>
            <p:cNvPr id="13" name="Ellipse 13"/>
            <p:cNvSpPr/>
            <p:nvPr/>
          </p:nvSpPr>
          <p:spPr>
            <a:xfrm>
              <a:off x="8763000" y="3048000"/>
              <a:ext cx="2286000" cy="22860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14" name="Ellipse 14"/>
            <p:cNvSpPr/>
            <p:nvPr/>
          </p:nvSpPr>
          <p:spPr>
            <a:xfrm>
              <a:off x="9182100" y="3467100"/>
              <a:ext cx="1447800" cy="1447800"/>
            </a:xfrm>
            <a:prstGeom prst="ellipse">
              <a:avLst/>
            </a:pr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5" name="Ellipse 15"/>
            <p:cNvSpPr/>
            <p:nvPr/>
          </p:nvSpPr>
          <p:spPr>
            <a:xfrm>
              <a:off x="9829800" y="4114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Ellipse 16"/>
            <p:cNvSpPr/>
            <p:nvPr/>
          </p:nvSpPr>
          <p:spPr>
            <a:xfrm>
              <a:off x="11001375" y="4143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Ellipse 17"/>
            <p:cNvSpPr/>
            <p:nvPr/>
          </p:nvSpPr>
          <p:spPr>
            <a:xfrm>
              <a:off x="10666571" y="3335179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9858375" y="3000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Ellipse 19"/>
            <p:cNvSpPr/>
            <p:nvPr/>
          </p:nvSpPr>
          <p:spPr>
            <a:xfrm>
              <a:off x="9050179" y="3335179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Ellipse 20"/>
            <p:cNvSpPr/>
            <p:nvPr/>
          </p:nvSpPr>
          <p:spPr>
            <a:xfrm>
              <a:off x="8715375" y="4143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Ellipse 21"/>
            <p:cNvSpPr/>
            <p:nvPr/>
          </p:nvSpPr>
          <p:spPr>
            <a:xfrm>
              <a:off x="9050179" y="4951571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Ellipse 22"/>
            <p:cNvSpPr/>
            <p:nvPr/>
          </p:nvSpPr>
          <p:spPr>
            <a:xfrm>
              <a:off x="9858375" y="5286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Ellipse 23"/>
            <p:cNvSpPr/>
            <p:nvPr/>
          </p:nvSpPr>
          <p:spPr>
            <a:xfrm>
              <a:off x="10666571" y="4951571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396424" y="569595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laosd · 八环闸门</a:t>
              </a:r>
            </a:p>
          </p:txBody>
        </p:sp>
      </p:grpSp>
      <p:grpSp>
        <p:nvGrpSpPr>
          <p:cNvPr id="29" name="page-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26" name="Line 2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5070" y="6489700"/>
              <a:ext cx="1175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DEEP DIVE · 26.10.05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os-detailed-master">
  <a:themeElements>
    <a:clrScheme name="laos-detailed-master">
      <a:dk1>
        <a:srgbClr val="55555E"/>
      </a:dk1>
      <a:lt1>
        <a:srgbClr val="FFFFFF"/>
      </a:lt1>
      <a:dk2>
        <a:srgbClr val="1F497D"/>
      </a:dk2>
      <a:lt2>
        <a:srgbClr val="FFFFFF"/>
      </a:lt2>
      <a:accent1>
        <a:srgbClr val="17171A"/>
      </a:accent1>
      <a:accent2>
        <a:srgbClr val="1F3BD8"/>
      </a:accent2>
      <a:accent3>
        <a:srgbClr val="C89B3C"/>
      </a:accent3>
      <a:accent4>
        <a:srgbClr val="17171A"/>
      </a:accent4>
      <a:accent5>
        <a:srgbClr val="F7F8FA"/>
      </a:accent5>
      <a:accent6>
        <a:srgbClr val="E8EDFB"/>
      </a:accent6>
      <a:hlink>
        <a:srgbClr val="1F3BD8"/>
      </a:hlink>
      <a:folHlink>
        <a:srgbClr val="C89B3C"/>
      </a:folHlink>
    </a:clrScheme>
    <a:fontScheme name="laos-detailed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detailed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os-detailed-master">
  <a:themeElements>
    <a:clrScheme name="laos-detailed-master">
      <a:dk1>
        <a:srgbClr val="55555E"/>
      </a:dk1>
      <a:lt1>
        <a:srgbClr val="FFFFFF"/>
      </a:lt1>
      <a:dk2>
        <a:srgbClr val="1F497D"/>
      </a:dk2>
      <a:lt2>
        <a:srgbClr val="FFFFFF"/>
      </a:lt2>
      <a:accent1>
        <a:srgbClr val="17171A"/>
      </a:accent1>
      <a:accent2>
        <a:srgbClr val="1F3BD8"/>
      </a:accent2>
      <a:accent3>
        <a:srgbClr val="C89B3C"/>
      </a:accent3>
      <a:accent4>
        <a:srgbClr val="17171A"/>
      </a:accent4>
      <a:accent5>
        <a:srgbClr val="F7F8FA"/>
      </a:accent5>
      <a:accent6>
        <a:srgbClr val="E8EDFB"/>
      </a:accent6>
      <a:hlink>
        <a:srgbClr val="1F3BD8"/>
      </a:hlink>
      <a:folHlink>
        <a:srgbClr val="C89B3C"/>
      </a:folHlink>
    </a:clrScheme>
    <a:fontScheme name="laos-detailed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detailed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2026-10-05T07:21:34Z</dcterms:created>
  <dcterms:modified xsi:type="dcterms:W3CDTF">2026-10-05T07:21:34Z</dcterms:modified>
  <cp:category/>
  <cp:contentStatus/>
</cp:coreProperties>
</file>