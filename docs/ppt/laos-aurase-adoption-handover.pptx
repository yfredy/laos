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这一册交接的是 laos 仓库最新完成的一个波次：把一篇关于低幻觉语音增强的论文，转译成了三个落在仓库里的工程件。封面上的主线一句话可以说完——一篇论文，三个落地。细节全部锚在仓库的 L0 到 L4 交接文档里，本册是它的投影版。当前版本锚是开源 v0.35.1，主套件一千一百二十一测全绿。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整个波次是一条六步链路：先调研，再做论文复现，然后把经验制度化，写计划，用子代理驱动的方式执行，最后登记收尾。六个数字帮您校准量级：主套件一千一百二十一测全绿；evolve 模块三十二个用例；复现区新增二十三测、合计九十四绿；本波五个代码提交；交接四件套；外加两个已经根因实证的环境阻断。后面九页就是把这条链路逐段展开。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论文要解决的问题很具体：生成式语音增强会把内容改掉——换词、插音、丢字、漂说话人。带混响的实测里，几个生成式系统的词错率在百分之二十二到二十九之间，比不增强的百分之十点八还差。AuraSE 用两个杠杆压它：双流架构让文本补内容、声学保说话人；IPO 推理策略优化用八组配置出候选、按四比二比二比二的多目标奖励排序，蒸馏回固定的十步解码器。最值得记住的是底部那条反例：直接拿真值当偏好赢家会让词错率恶化到百分之十三点三五——只有模型自产的相对偏好加移动锚才有效，这与 laos 的实测纪律、JitMem 的相对优于绝对，三方独立收敛。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三个落地各在一层。核心层是纯标准库的奖励治理面：RewardSpec 带版本化锚点，aggregate 做集内归一加权，EvolveResult 加了可选的奖励字段，审计行只在不为空时多记一个键——不带奖励的旧行为字节级不变。立约层写在 drivers 的 README：以后加驱动先登记，奖励面保真份额六成起步，生成式音频组件上线前必须做三维幻觉审计。复现层是 IPO 决策面的规则版复现，二十三个手算锚点测试，与核心零导入、独立转译。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用法三步：组装规格、聚合候选、版本透传。左边代码块是可以照抄的——权重字典、越低越好指标集、版本号，然后一行 aggregate 得到每个候选的分数。右边两张卡是它的下游效果：执行器返回带上版本号，审计行会自动多出这个键，权重一变版本号就升，历史不可变；右下是四条手算锚点，写新测试时直接引用，不用再推导。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这一页反过来看：论文的三个短处，正好是 laos 的三个立论位。第一，IPO 的奖励模型在优化循环内、权重人工固定，作者自己承认只是缓解不是消除——laos 的立场是评估器与权限必须在循环之外，版本化审计就是这颗种子。第二，逐话语穷举部署不起，本质是调度与预算问题，与 laos 的配额、迭代上限同域。第三，转写条件本身是外部幻觉入口，laos 的三通道识别加精炼器正是条件输入的治理层；论文里对参照转写评分、抄条件不得分的口径，也与 laos 引用与实测不混写的纪律同构。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有取就有不取。三条不做：记忆整理器不引入随机采样，因为确定性本身就是可调试特性；语音增强本体不做，那是零依赖红线，未来最多以驱动子进程形态进入；遥测的冻结面不动，约定立在驱动层 README。三条红线维持：生成式产出不进记忆链路——最好的系统词错率仍有百分之八，幻觉可压不可灭；产出只进评测副本；保真份额六成是文档级约定，违规在评审层拦截。这一页是防走偏的锚。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执行方式本身也是本波的交付物。每个任务派一个全新实现者，配一名独立评审——评审者会复算手算锚点、重跑模块测试、独立论证字节级不变性，这三件事都不是走形式。终审是整计划级别的，结论是干净通过；终审留下的两条小问题，我们裁定派一轮修复波当场修掉，不带已知边界债交接。右边的清单是计划纪律三查实跑抓到的五条真错——从计数漂移到测试夹具自相矛盾——这说明三查不是仪式，它确实在拦错。这套纪律已经固化进计划登记表的头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两处外部依赖被挡住了，都做了根因实证，都不阻塞主线。左边是架构图的自动门禁：校验、渲染、检查三道已过，投递锁和浏览器巡检两道被本机文件系统的不兼容挡住——设备号恒为零导致锁身份校验永远失败，换一台健康环境重跑就能补齐。右边是进化驱动的端到端真跑：环境里唯一的一把密钥是内网网关的会话密钥，七个端点全部拒绝，装一个本地小模型或任何一把兼容密钥就能解锁，脚本已经写成代码。分支状态一句带过：工作分支已并入主分支删除，一切都在 master 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最后一页是找东西的入口。左卡是文档与图：L0 到 L4 交接文档、调研主篇、架构交互图、结构图源文件，加上规划与复现的落点。右卡是本波的关键提交，按时间序从调研复现一路到分支状态修正，每个提交号都可以直接检视。底部那句话是本册的收束：沿本页索引，一分钟找到一切；红线五条，不可碰。姊妹波的交接在 openevolve 驱动那一份文档里，进化驱动的基座在那边。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urase-handov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urase-handov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over-orbits"/>
          <p:cNvGrpSpPr/>
          <p:nvPr/>
        </p:nvGrpSpPr>
        <p:grpSpPr>
          <a:xfrm>
            <a:off x="9391650" y="19050"/>
            <a:ext cx="1981200" cy="1981200"/>
            <a:chOff x="9391650" y="19050"/>
            <a:chExt cx="1981200" cy="1981200"/>
          </a:xfrm>
        </p:grpSpPr>
        <p:sp>
          <p:nvSpPr>
            <p:cNvPr id="2" name="Ellipse 2"/>
            <p:cNvSpPr/>
            <p:nvPr/>
          </p:nvSpPr>
          <p:spPr>
            <a:xfrm>
              <a:off x="9925050" y="552450"/>
              <a:ext cx="914400" cy="914400"/>
            </a:xfrm>
            <a:prstGeom prst="ellipse">
              <a:avLst/>
            </a:prstGeom>
            <a:noFill/>
            <a:ln w="9525">
              <a:solidFill>
                <a:schemeClr val="accent1">
                  <a:alpha val="7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9658350" y="285750"/>
              <a:ext cx="1447800" cy="1447800"/>
            </a:xfrm>
            <a:prstGeom prst="ellipse">
              <a:avLst/>
            </a:prstGeom>
            <a:noFill/>
            <a:ln w="9525">
              <a:solidFill>
                <a:schemeClr val="accent1">
                  <a:alpha val="5000"/>
                </a:scheme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391650" y="19050"/>
              <a:ext cx="1981200" cy="1981200"/>
            </a:xfrm>
            <a:prstGeom prst="ellipse">
              <a:avLst/>
            </a:prstGeom>
            <a:noFill/>
            <a:ln w="9525">
              <a:solidFill>
                <a:schemeClr val="accent2">
                  <a:alpha val="5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344150" y="971550"/>
              <a:ext cx="76200" cy="762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020425" y="1590675"/>
              <a:ext cx="57150" cy="5715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691688" y="357188"/>
              <a:ext cx="47625" cy="4762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</p:sp>
      </p:grpSp>
      <p:sp>
        <p:nvSpPr>
          <p:cNvPr id="9" name="cover-watermark"/>
          <p:cNvSpPr txBox="1"/>
          <p:nvPr/>
        </p:nvSpPr>
        <p:spPr>
          <a:xfrm>
            <a:off x="6076950" y="3924300"/>
            <a:ext cx="5754624" cy="316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0" b="1" dirty="0">
                <a:solidFill>
                  <a:srgbClr val="FFFFFF">
                    <a:alphaMod val="3000"/>
                  </a:srgbClr>
                </a:solidFill>
                <a:latin typeface="Consolas"/>
                <a:ea typeface="Consolas"/>
                <a:cs typeface="Consolas"/>
              </a:rPr>
              <a:t>LAOS</a:t>
            </a:r>
          </a:p>
        </p:txBody>
      </p:sp>
      <p:grpSp>
        <p:nvGrpSpPr>
          <p:cNvPr id="13" name="cover-header"/>
          <p:cNvGrpSpPr/>
          <p:nvPr/>
        </p:nvGrpSpPr>
        <p:grpSpPr>
          <a:xfrm>
            <a:off x="781050" y="742950"/>
            <a:ext cx="7219950" cy="266700"/>
            <a:chOff x="781050" y="742950"/>
            <a:chExt cx="7219950" cy="266700"/>
          </a:xfrm>
        </p:grpSpPr>
        <p:sp>
          <p:nvSpPr>
            <p:cNvPr id="10" name="Ellipse 10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162050" y="876300"/>
              <a:ext cx="6838950" cy="9525"/>
            </a:xfrm>
            <a:custGeom>
              <a:avLst/>
              <a:gdLst/>
              <a:ahLst/>
              <a:cxnLst/>
              <a:rect l="l" t="t" r="r" b="b"/>
              <a:pathLst>
                <a:path w="6838950" h="9525">
                  <a:moveTo>
                    <a:pt x="0" y="0"/>
                  </a:moveTo>
                  <a:lnTo>
                    <a:pt x="6838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cover-brand"/>
          <p:cNvGrpSpPr/>
          <p:nvPr/>
        </p:nvGrpSpPr>
        <p:grpSpPr>
          <a:xfrm>
            <a:off x="850392" y="1225550"/>
            <a:ext cx="3243834" cy="264033"/>
            <a:chOff x="850392" y="1225550"/>
            <a:chExt cx="3243834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850392" y="1225550"/>
              <a:ext cx="3243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laos · Linux AgentOS</a:t>
              </a:r>
            </a:p>
          </p:txBody>
        </p:sp>
      </p:grpSp>
      <p:grpSp>
        <p:nvGrpSpPr>
          <p:cNvPr id="17" name="cover-hook"/>
          <p:cNvGrpSpPr/>
          <p:nvPr/>
        </p:nvGrpSpPr>
        <p:grpSpPr>
          <a:xfrm>
            <a:off x="838200" y="1987550"/>
            <a:ext cx="7321296" cy="1047750"/>
            <a:chOff x="838200" y="1987550"/>
            <a:chExt cx="7321296" cy="1047750"/>
          </a:xfrm>
        </p:grpSpPr>
        <p:sp>
          <p:nvSpPr>
            <p:cNvPr id="16" name="TextBox 16"/>
            <p:cNvSpPr txBox="1"/>
            <p:nvPr/>
          </p:nvSpPr>
          <p:spPr>
            <a:xfrm>
              <a:off x="838200" y="1987550"/>
              <a:ext cx="732129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一篇论文，</a:t>
              </a:r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三个落地</a:t>
              </a:r>
            </a:p>
          </p:txBody>
        </p:sp>
      </p:grpSp>
      <p:grpSp>
        <p:nvGrpSpPr>
          <p:cNvPr id="20" name="cover-title"/>
          <p:cNvGrpSpPr/>
          <p:nvPr/>
        </p:nvGrpSpPr>
        <p:grpSpPr>
          <a:xfrm>
            <a:off x="842010" y="3079750"/>
            <a:ext cx="8934069" cy="1279144"/>
            <a:chOff x="842010" y="3079750"/>
            <a:chExt cx="8934069" cy="1279144"/>
          </a:xfrm>
        </p:grpSpPr>
        <p:sp>
          <p:nvSpPr>
            <p:cNvPr id="18" name="TextBox 18"/>
            <p:cNvSpPr txBox="1"/>
            <p:nvPr/>
          </p:nvSpPr>
          <p:spPr>
            <a:xfrm>
              <a:off x="842010" y="3079750"/>
              <a:ext cx="681176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AuraSE 取长补短落地 · 波次交接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8106" y="3644900"/>
              <a:ext cx="8927973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一篇低幻觉生成式语音增强论文（arXiv 2610.06632v1）如何变成 laos 的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奖励治理面 + 审计版本化 + 三维幻觉审计立约</a:t>
              </a:r>
            </a:p>
          </p:txBody>
        </p:sp>
      </p:grpSp>
      <p:grpSp>
        <p:nvGrpSpPr>
          <p:cNvPr id="23" name="cover-meta"/>
          <p:cNvGrpSpPr/>
          <p:nvPr/>
        </p:nvGrpSpPr>
        <p:grpSpPr>
          <a:xfrm>
            <a:off x="845820" y="4768850"/>
            <a:ext cx="6694551" cy="759333"/>
            <a:chOff x="845820" y="4768850"/>
            <a:chExt cx="6694551" cy="759333"/>
          </a:xfrm>
        </p:grpSpPr>
        <p:sp>
          <p:nvSpPr>
            <p:cNvPr id="21" name="TextBox 21"/>
            <p:cNvSpPr txBox="1"/>
            <p:nvPr/>
          </p:nvSpPr>
          <p:spPr>
            <a:xfrm>
              <a:off x="845820" y="4768850"/>
              <a:ext cx="24674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开源 v0.35.1 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0392" y="5264150"/>
              <a:ext cx="66899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2026-10-09 · master · docs/guide/aurase-adoption-handover.md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24" name="TextBox 24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781050" y="742950"/>
            <a:ext cx="10654665" cy="266700"/>
            <a:chOff x="781050" y="742950"/>
            <a:chExt cx="10654665" cy="266700"/>
          </a:xfrm>
        </p:grpSpPr>
        <p:sp>
          <p:nvSpPr>
            <p:cNvPr id="2" name="Ellipse 2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62050" y="876300"/>
              <a:ext cx="10267950" cy="9525"/>
            </a:xfrm>
            <a:custGeom>
              <a:avLst/>
              <a:gdLst/>
              <a:ahLst/>
              <a:cxnLst/>
              <a:rect l="l" t="t" r="r" b="b"/>
              <a:pathLst>
                <a:path w="10267950" h="9525">
                  <a:moveTo>
                    <a:pt x="0" y="0"/>
                  </a:moveTo>
                  <a:lnTo>
                    <a:pt x="10267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15529" y="784225"/>
              <a:ext cx="12201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PART 1 · 开场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842010" y="946150"/>
            <a:ext cx="2040103" cy="586740"/>
            <a:chOff x="842010" y="946150"/>
            <a:chExt cx="2040103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842010" y="946150"/>
              <a:ext cx="20401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 秒总览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09700"/>
              <a:ext cx="6096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flow-chain"/>
          <p:cNvGrpSpPr/>
          <p:nvPr/>
        </p:nvGrpSpPr>
        <p:grpSpPr>
          <a:xfrm>
            <a:off x="762000" y="1619250"/>
            <a:ext cx="10534650" cy="1032828"/>
            <a:chOff x="762000" y="1619250"/>
            <a:chExt cx="10534650" cy="1032828"/>
          </a:xfrm>
        </p:grpSpPr>
        <p:sp>
          <p:nvSpPr>
            <p:cNvPr id="10" name="Freeform 10"/>
            <p:cNvSpPr/>
            <p:nvPr/>
          </p:nvSpPr>
          <p:spPr>
            <a:xfrm>
              <a:off x="762000" y="1619250"/>
              <a:ext cx="1866900" cy="609600"/>
            </a:xfrm>
            <a:prstGeom prst="chevron">
              <a:avLst/>
            </a:prstGeom>
            <a:solidFill>
              <a:srgbClr val="1B223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95550" y="1619250"/>
              <a:ext cx="1866900" cy="609600"/>
            </a:xfrm>
            <a:prstGeom prst="chevron">
              <a:avLst/>
            </a:prstGeom>
            <a:solidFill>
              <a:srgbClr val="1B223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29100" y="1619250"/>
              <a:ext cx="1866900" cy="609600"/>
            </a:xfrm>
            <a:prstGeom prst="chevron">
              <a:avLst/>
            </a:prstGeom>
            <a:solidFill>
              <a:srgbClr val="1B223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962650" y="1619250"/>
              <a:ext cx="1866900" cy="609600"/>
            </a:xfrm>
            <a:prstGeom prst="chevron">
              <a:avLst/>
            </a:prstGeom>
            <a:solidFill>
              <a:srgbClr val="1B223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696200" y="1619250"/>
              <a:ext cx="1866900" cy="609600"/>
            </a:xfrm>
            <a:prstGeom prst="chevron">
              <a:avLst/>
            </a:prstGeom>
            <a:solidFill>
              <a:srgbClr val="1B223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429750" y="1619250"/>
              <a:ext cx="1866900" cy="609600"/>
            </a:xfrm>
            <a:prstGeom prst="chevron">
              <a:avLst/>
            </a:prstGeom>
            <a:solidFill>
              <a:srgbClr val="2A2415">
                <a:alpha val="55000"/>
              </a:srgbClr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22" name="flow-labels"/>
            <p:cNvGrpSpPr/>
            <p:nvPr/>
          </p:nvGrpSpPr>
          <p:grpSpPr>
            <a:xfrm>
              <a:off x="1501140" y="1812925"/>
              <a:ext cx="9132570" cy="293370"/>
              <a:chOff x="1501140" y="1812925"/>
              <a:chExt cx="9132570" cy="29337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501140" y="1812925"/>
                <a:ext cx="464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调研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234690" y="1812925"/>
                <a:ext cx="464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968240" y="1812925"/>
                <a:ext cx="464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制度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701790" y="1812925"/>
                <a:ext cx="464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计划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35340" y="1812925"/>
                <a:ext cx="464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执行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68890" y="1812925"/>
                <a:ext cx="464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收尾</a:t>
                </a:r>
              </a:p>
            </p:txBody>
          </p:sp>
        </p:grpSp>
        <p:grpSp>
          <p:nvGrpSpPr>
            <p:cNvPr id="29" name="flow-notes"/>
            <p:cNvGrpSpPr/>
            <p:nvPr/>
          </p:nvGrpSpPr>
          <p:grpSpPr>
            <a:xfrm>
              <a:off x="881329" y="2432050"/>
              <a:ext cx="10125726" cy="220028"/>
              <a:chOff x="881329" y="2432050"/>
              <a:chExt cx="10125726" cy="22002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81329" y="2432050"/>
                <a:ext cx="17044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Qwen 调研 + 论文提取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31267" y="2432050"/>
                <a:ext cx="14716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决策面规则版 23 测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07484" y="2432050"/>
                <a:ext cx="11863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三查纪律制度化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28446" y="2432050"/>
                <a:ext cx="12115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三任务 + 三不做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898989" y="2432050"/>
                <a:ext cx="15375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SDD + 终审 + 修复波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795546" y="2432050"/>
                <a:ext cx="12115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登记 + 台账归档</a:t>
                </a:r>
              </a:p>
            </p:txBody>
          </p:sp>
        </p:grpSp>
      </p:grpSp>
      <p:grpSp>
        <p:nvGrpSpPr>
          <p:cNvPr id="61" name="kpi-grid"/>
          <p:cNvGrpSpPr/>
          <p:nvPr/>
        </p:nvGrpSpPr>
        <p:grpSpPr>
          <a:xfrm>
            <a:off x="762000" y="3143250"/>
            <a:ext cx="10591800" cy="2647950"/>
            <a:chOff x="762000" y="3143250"/>
            <a:chExt cx="10591800" cy="2647950"/>
          </a:xfrm>
        </p:grpSpPr>
        <p:grpSp>
          <p:nvGrpSpPr>
            <p:cNvPr id="35" name="kpi-1"/>
            <p:cNvGrpSpPr/>
            <p:nvPr/>
          </p:nvGrpSpPr>
          <p:grpSpPr>
            <a:xfrm>
              <a:off x="762000" y="3143250"/>
              <a:ext cx="3352800" cy="1333500"/>
              <a:chOff x="762000" y="3143250"/>
              <a:chExt cx="3352800" cy="1333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62000" y="3143250"/>
                <a:ext cx="3352800" cy="133350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71550" y="3282950"/>
                <a:ext cx="1492042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1121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83742" y="3949700"/>
                <a:ext cx="10252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主套件全绿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84885" y="4203700"/>
                <a:ext cx="184092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unittest discover 实跑</a:t>
                </a:r>
              </a:p>
            </p:txBody>
          </p:sp>
        </p:grpSp>
        <p:grpSp>
          <p:nvGrpSpPr>
            <p:cNvPr id="40" name="kpi-2"/>
            <p:cNvGrpSpPr/>
            <p:nvPr/>
          </p:nvGrpSpPr>
          <p:grpSpPr>
            <a:xfrm>
              <a:off x="4381500" y="3143250"/>
              <a:ext cx="3352800" cy="1333500"/>
              <a:chOff x="4381500" y="3143250"/>
              <a:chExt cx="3352800" cy="1333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381500" y="3143250"/>
                <a:ext cx="3352800" cy="133350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591050" y="3282950"/>
                <a:ext cx="765071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32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3242" y="3949700"/>
                <a:ext cx="16524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test_evolve 用例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04385" y="4203700"/>
                <a:ext cx="18241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18 基线 + 8 + 4 + 2 修复</a:t>
                </a:r>
              </a:p>
            </p:txBody>
          </p:sp>
        </p:grpSp>
        <p:grpSp>
          <p:nvGrpSpPr>
            <p:cNvPr id="45" name="kpi-3"/>
            <p:cNvGrpSpPr/>
            <p:nvPr/>
          </p:nvGrpSpPr>
          <p:grpSpPr>
            <a:xfrm>
              <a:off x="8001000" y="3143250"/>
              <a:ext cx="3352800" cy="1333500"/>
              <a:chOff x="8001000" y="3143250"/>
              <a:chExt cx="3352800" cy="13335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001000" y="3143250"/>
                <a:ext cx="3352800" cy="133350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210550" y="3282950"/>
                <a:ext cx="765071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222742" y="3949700"/>
                <a:ext cx="14298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复现区新增测试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223885" y="4203700"/>
                <a:ext cx="9681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区合计 94 绿</a:t>
                </a:r>
              </a:p>
            </p:txBody>
          </p:sp>
        </p:grpSp>
        <p:grpSp>
          <p:nvGrpSpPr>
            <p:cNvPr id="50" name="kpi-4"/>
            <p:cNvGrpSpPr/>
            <p:nvPr/>
          </p:nvGrpSpPr>
          <p:grpSpPr>
            <a:xfrm>
              <a:off x="762000" y="4457700"/>
              <a:ext cx="3352800" cy="1333500"/>
              <a:chOff x="762000" y="4457700"/>
              <a:chExt cx="33528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762000" y="4457700"/>
                <a:ext cx="3352800" cy="133350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71550" y="4597400"/>
                <a:ext cx="401585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83742" y="5264150"/>
                <a:ext cx="1227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本波代码提交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84885" y="5518150"/>
                <a:ext cx="101848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含终审修复波</a:t>
                </a:r>
              </a:p>
            </p:txBody>
          </p:sp>
        </p:grpSp>
        <p:grpSp>
          <p:nvGrpSpPr>
            <p:cNvPr id="55" name="kpi-5"/>
            <p:cNvGrpSpPr/>
            <p:nvPr/>
          </p:nvGrpSpPr>
          <p:grpSpPr>
            <a:xfrm>
              <a:off x="4381500" y="4457700"/>
              <a:ext cx="3352800" cy="1333500"/>
              <a:chOff x="4381500" y="4457700"/>
              <a:chExt cx="3352800" cy="13335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4381500" y="4457700"/>
                <a:ext cx="3352800" cy="133350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4591050" y="4597400"/>
                <a:ext cx="401585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603242" y="5264150"/>
                <a:ext cx="10252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交接四件套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604385" y="5518150"/>
                <a:ext cx="136968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文档 + 双图 + PPT</a:t>
                </a:r>
              </a:p>
            </p:txBody>
          </p:sp>
        </p:grpSp>
        <p:grpSp>
          <p:nvGrpSpPr>
            <p:cNvPr id="60" name="kpi-6"/>
            <p:cNvGrpSpPr/>
            <p:nvPr/>
          </p:nvGrpSpPr>
          <p:grpSpPr>
            <a:xfrm>
              <a:off x="8001000" y="4457700"/>
              <a:ext cx="3352800" cy="1333500"/>
              <a:chOff x="8001000" y="4457700"/>
              <a:chExt cx="3352800" cy="13335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8001000" y="4457700"/>
                <a:ext cx="3352800" cy="133350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rgbClr val="B85450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210550" y="4597400"/>
                <a:ext cx="401585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C96A6A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22742" y="5264150"/>
                <a:ext cx="8229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环境阻断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23885" y="5518150"/>
                <a:ext cx="226892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archify 锁/巡检，已根因实证</a:t>
                </a:r>
              </a:p>
            </p:txBody>
          </p:sp>
        </p:grpSp>
      </p:grpSp>
      <p:grpSp>
        <p:nvGrpSpPr>
          <p:cNvPr id="65" name="takeaway"/>
          <p:cNvGrpSpPr/>
          <p:nvPr/>
        </p:nvGrpSpPr>
        <p:grpSpPr>
          <a:xfrm>
            <a:off x="762000" y="5867400"/>
            <a:ext cx="10668000" cy="400050"/>
            <a:chOff x="762000" y="5867400"/>
            <a:chExt cx="10668000" cy="400050"/>
          </a:xfrm>
        </p:grpSpPr>
        <p:sp>
          <p:nvSpPr>
            <p:cNvPr id="62" name="Rectangle 62"/>
            <p:cNvSpPr/>
            <p:nvPr/>
          </p:nvSpPr>
          <p:spPr>
            <a:xfrm>
              <a:off x="762000" y="5867400"/>
              <a:ext cx="10668000" cy="400050"/>
            </a:xfrm>
            <a:prstGeom prst="roundRect">
              <a:avLst>
                <a:gd name="adj" fmla="val 19048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62000" y="5867400"/>
              <a:ext cx="381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82218" y="5930900"/>
              <a:ext cx="73730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调研 → 复现 → 制度 → 计划 → 执行 → 收尾：六个数字收敛一条交接线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66" name="TextBox 66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781050" y="742950"/>
            <a:ext cx="10654665" cy="266700"/>
            <a:chOff x="781050" y="742950"/>
            <a:chExt cx="10654665" cy="266700"/>
          </a:xfrm>
        </p:grpSpPr>
        <p:sp>
          <p:nvSpPr>
            <p:cNvPr id="2" name="Ellipse 2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62050" y="876300"/>
              <a:ext cx="10267950" cy="9525"/>
            </a:xfrm>
            <a:custGeom>
              <a:avLst/>
              <a:gdLst/>
              <a:ahLst/>
              <a:cxnLst/>
              <a:rect l="l" t="t" r="r" b="b"/>
              <a:pathLst>
                <a:path w="10267950" h="9525">
                  <a:moveTo>
                    <a:pt x="0" y="0"/>
                  </a:moveTo>
                  <a:lnTo>
                    <a:pt x="10267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12000" y="784225"/>
              <a:ext cx="172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PART 2 · 论文与落地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842010" y="946150"/>
            <a:ext cx="2278380" cy="586740"/>
            <a:chOff x="842010" y="946150"/>
            <a:chExt cx="2278380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842010" y="946150"/>
              <a:ext cx="227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论文是什么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09700"/>
              <a:ext cx="6096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ard-problem"/>
          <p:cNvGrpSpPr/>
          <p:nvPr/>
        </p:nvGrpSpPr>
        <p:grpSpPr>
          <a:xfrm>
            <a:off x="762000" y="1619250"/>
            <a:ext cx="3352800" cy="2857500"/>
            <a:chOff x="762000" y="1619250"/>
            <a:chExt cx="33528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3528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52500" y="1809750"/>
              <a:ext cx="304800" cy="304800"/>
            </a:xfrm>
            <a:prstGeom prst="ellipse">
              <a:avLst/>
            </a:prstGeom>
            <a:solidFill>
              <a:srgbClr val="C96A6A">
                <a:alpha val="18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9625" y="1854200"/>
              <a:ext cx="130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96A6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3678879" y="1839396"/>
              <a:ext cx="224134" cy="192560"/>
              <a:chOff x="3678879" y="1839396"/>
              <a:chExt cx="224134" cy="19256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790950" y="19097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678879" y="18393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90950" y="19875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62456" y="1822450"/>
              <a:ext cx="2176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生成式增强会幻觉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2273300"/>
              <a:ext cx="2441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说得更好听，但改了内容：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3742" y="2559050"/>
              <a:ext cx="2734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换词 / 插音 / 丢字 / 漂说话人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3742" y="2978150"/>
              <a:ext cx="1280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带混响 WER：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3742" y="3232150"/>
              <a:ext cx="1753505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rgbClr val="C96A6A"/>
                  </a:solidFill>
                  <a:latin typeface="Consolas"/>
                  <a:ea typeface="Consolas"/>
                  <a:cs typeface="Consolas"/>
                </a:rPr>
                <a:t>LLaSE-G1 28.78%</a:t>
              </a:r>
              <a:br>
                <a:rPr lang="en-US" sz="1350" dirty="0">
                  <a:solidFill>
                    <a:srgbClr val="C96A6A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350" dirty="0">
                  <a:solidFill>
                    <a:srgbClr val="C96A6A"/>
                  </a:solidFill>
                  <a:latin typeface="Consolas"/>
                  <a:ea typeface="Consolas"/>
                  <a:cs typeface="Consolas"/>
                </a:rPr>
                <a:t>SGMSE 22.15%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742" y="3854450"/>
              <a:ext cx="1601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噪声输入 10.82%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4885" y="4165600"/>
              <a:ext cx="2193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生成式一度比不增强更毁内容</a:t>
              </a:r>
            </a:p>
          </p:txBody>
        </p:sp>
      </p:grpSp>
      <p:grpSp>
        <p:nvGrpSpPr>
          <p:cNvPr id="39" name="card-mmdit"/>
          <p:cNvGrpSpPr/>
          <p:nvPr/>
        </p:nvGrpSpPr>
        <p:grpSpPr>
          <a:xfrm>
            <a:off x="4381500" y="1619250"/>
            <a:ext cx="3352800" cy="2857500"/>
            <a:chOff x="4381500" y="1619250"/>
            <a:chExt cx="33528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81500" y="1619250"/>
              <a:ext cx="33528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572000" y="1809750"/>
              <a:ext cx="304800" cy="304800"/>
            </a:xfrm>
            <a:prstGeom prst="ellipse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59125" y="1854200"/>
              <a:ext cx="130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7321550" y="1854200"/>
              <a:ext cx="177801" cy="177801"/>
              <a:chOff x="7321550" y="1854200"/>
              <a:chExt cx="177801" cy="17780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21550" y="1854200"/>
                <a:ext cx="177801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8900">
                    <a:moveTo>
                      <a:pt x="88900" y="0"/>
                    </a:moveTo>
                    <a:lnTo>
                      <a:pt x="0" y="44450"/>
                    </a:lnTo>
                    <a:lnTo>
                      <a:pt x="88900" y="88900"/>
                    </a:lnTo>
                    <a:lnTo>
                      <a:pt x="177801" y="44450"/>
                    </a:ln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321550" y="1943100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21550" y="1987551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88900" y="44450"/>
                    </a:ln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981956" y="1822450"/>
              <a:ext cx="26359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杠杆一 · 双流 MMDiT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3242" y="2273300"/>
              <a:ext cx="2441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文本补内容，声学保说话人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3242" y="2559050"/>
              <a:ext cx="2471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联合注意力 · 各留专属通道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3242" y="2978150"/>
              <a:ext cx="1375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GT 文本 WER：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03242" y="3282950"/>
              <a:ext cx="1085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双流 7.69%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03242" y="3568700"/>
              <a:ext cx="1197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单流 10.97%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385" y="4165600"/>
              <a:ext cx="18577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退化音频全程保专属通道</a:t>
              </a:r>
            </a:p>
          </p:txBody>
        </p:sp>
      </p:grpSp>
      <p:grpSp>
        <p:nvGrpSpPr>
          <p:cNvPr id="54" name="card-ipo"/>
          <p:cNvGrpSpPr/>
          <p:nvPr/>
        </p:nvGrpSpPr>
        <p:grpSpPr>
          <a:xfrm>
            <a:off x="8001000" y="1619250"/>
            <a:ext cx="3352800" cy="2857500"/>
            <a:chOff x="8001000" y="1619250"/>
            <a:chExt cx="3352800" cy="2857500"/>
          </a:xfrm>
        </p:grpSpPr>
        <p:sp>
          <p:nvSpPr>
            <p:cNvPr id="40" name="Rectangle 40"/>
            <p:cNvSpPr/>
            <p:nvPr/>
          </p:nvSpPr>
          <p:spPr>
            <a:xfrm>
              <a:off x="8001000" y="1619250"/>
              <a:ext cx="33528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191500" y="1809750"/>
              <a:ext cx="304800" cy="3048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78625" y="1854200"/>
              <a:ext cx="130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0929938" y="1843088"/>
              <a:ext cx="200025" cy="200025"/>
              <a:chOff x="10929938" y="1843088"/>
              <a:chExt cx="200025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10929938" y="19986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085513" y="18430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952163" y="1865313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5" y="155575"/>
                      <a:pt x="166688" y="138162"/>
                      <a:pt x="166688" y="116682"/>
                    </a:cubicBezTo>
                    <a:cubicBezTo>
                      <a:pt x="166688" y="95201"/>
                      <a:pt x="149275" y="77788"/>
                      <a:pt x="127794" y="77788"/>
                    </a:cubicBezTo>
                    <a:lnTo>
                      <a:pt x="38894" y="77788"/>
                    </a:ln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601456" y="1822450"/>
              <a:ext cx="16460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杠杆二 · IPO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22742" y="2273300"/>
              <a:ext cx="1601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推理配置出候选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22742" y="2559050"/>
              <a:ext cx="2269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4:2:2:2 多目标奖励排序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22742" y="2844800"/>
              <a:ext cx="1632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锚点前移成对更新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22742" y="3130550"/>
              <a:ext cx="2028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蒸馏回固定 10 步 ODE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22742" y="3568700"/>
              <a:ext cx="2006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12 项指标 11 项第一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23885" y="4165600"/>
              <a:ext cx="1354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部署零逐话语搜索</a:t>
              </a:r>
            </a:p>
          </p:txBody>
        </p:sp>
      </p:grpSp>
      <p:grpSp>
        <p:nvGrpSpPr>
          <p:cNvPr id="64" name="counter-gtdpo"/>
          <p:cNvGrpSpPr/>
          <p:nvPr/>
        </p:nvGrpSpPr>
        <p:grpSpPr>
          <a:xfrm>
            <a:off x="762000" y="4667250"/>
            <a:ext cx="10668000" cy="994283"/>
            <a:chOff x="762000" y="4667250"/>
            <a:chExt cx="10668000" cy="994283"/>
          </a:xfrm>
        </p:grpSpPr>
        <p:sp>
          <p:nvSpPr>
            <p:cNvPr id="55" name="Rectangle 55"/>
            <p:cNvSpPr/>
            <p:nvPr/>
          </p:nvSpPr>
          <p:spPr>
            <a:xfrm>
              <a:off x="762000" y="4667250"/>
              <a:ext cx="10668000" cy="990600"/>
            </a:xfrm>
            <a:prstGeom prst="roundRect">
              <a:avLst>
                <a:gd name="adj" fmla="val 11538"/>
              </a:avLst>
            </a:prstGeom>
            <a:solidFill>
              <a:srgbClr val="C96A6A">
                <a:alpha val="7000"/>
              </a:srgbClr>
            </a:solidFill>
            <a:ln w="9525">
              <a:solidFill>
                <a:srgbClr val="C96A6A">
                  <a:alpha val="35000"/>
                </a:srgbClr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1104900" y="4953000"/>
              <a:ext cx="228600" cy="225424"/>
              <a:chOff x="1104900" y="4953000"/>
              <a:chExt cx="228600" cy="225424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1155700" y="5168899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rgbClr val="C96A6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43000" y="4978400"/>
                <a:ext cx="1524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700">
                    <a:moveTo>
                      <a:pt x="0" y="12700"/>
                    </a:moveTo>
                    <a:lnTo>
                      <a:pt x="76200" y="0"/>
                    </a:lnTo>
                    <a:lnTo>
                      <a:pt x="152400" y="12700"/>
                    </a:lnTo>
                  </a:path>
                </a:pathLst>
              </a:custGeom>
              <a:noFill/>
              <a:ln w="25400">
                <a:solidFill>
                  <a:srgbClr val="C96A6A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219200" y="4953000"/>
                <a:ext cx="9525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5899">
                    <a:moveTo>
                      <a:pt x="0" y="0"/>
                    </a:moveTo>
                    <a:lnTo>
                      <a:pt x="0" y="215899"/>
                    </a:lnTo>
                  </a:path>
                </a:pathLst>
              </a:custGeom>
              <a:noFill/>
              <a:ln w="25400">
                <a:solidFill>
                  <a:srgbClr val="C96A6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104900" y="49911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rgbClr val="C96A6A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257300" y="49911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rgbClr val="C96A6A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553718" y="4826000"/>
              <a:ext cx="4306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GT-DPO 崩点——拿真值当偏好赢家会崩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555242" y="5130800"/>
              <a:ext cx="6256725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WER 恶化到 </a:t>
              </a:r>
              <a:r>
                <a:rPr lang="zh-CN" sz="1350" b="1" dirty="0">
                  <a:solidFill>
                    <a:srgbClr val="C96A6A"/>
                  </a:solidFill>
                  <a:latin typeface="+mn-lt"/>
                  <a:ea typeface="+mn-ea"/>
                  <a:cs typeface="+mn-cs"/>
                </a:rPr>
                <a:t>13.35%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；只有「模型自产相对偏好 + 移动锚」有效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——与 laos「实测不引宣称」、JitMem「相对优于绝对」三方独立收敛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762000" y="5867400"/>
            <a:ext cx="10668000" cy="400050"/>
            <a:chOff x="762000" y="5867400"/>
            <a:chExt cx="10668000" cy="400050"/>
          </a:xfrm>
        </p:grpSpPr>
        <p:sp>
          <p:nvSpPr>
            <p:cNvPr id="65" name="Rectangle 65"/>
            <p:cNvSpPr/>
            <p:nvPr/>
          </p:nvSpPr>
          <p:spPr>
            <a:xfrm>
              <a:off x="762000" y="5867400"/>
              <a:ext cx="10668000" cy="400050"/>
            </a:xfrm>
            <a:prstGeom prst="roundRect">
              <a:avLst>
                <a:gd name="adj" fmla="val 19048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62000" y="5867400"/>
              <a:ext cx="381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82218" y="5930900"/>
              <a:ext cx="7636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→ 双杠杆 → 崩点反例：幻觉可测（WER/SBS/SIM），可压不可灭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69" name="TextBox 69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781050" y="742950"/>
            <a:ext cx="10654665" cy="266700"/>
            <a:chOff x="781050" y="742950"/>
            <a:chExt cx="10654665" cy="266700"/>
          </a:xfrm>
        </p:grpSpPr>
        <p:sp>
          <p:nvSpPr>
            <p:cNvPr id="2" name="Ellipse 2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62050" y="876300"/>
              <a:ext cx="10267950" cy="9525"/>
            </a:xfrm>
            <a:custGeom>
              <a:avLst/>
              <a:gdLst/>
              <a:ahLst/>
              <a:cxnLst/>
              <a:rect l="l" t="t" r="r" b="b"/>
              <a:pathLst>
                <a:path w="10267950" h="9525">
                  <a:moveTo>
                    <a:pt x="0" y="0"/>
                  </a:moveTo>
                  <a:lnTo>
                    <a:pt x="10267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12000" y="784225"/>
              <a:ext cx="172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PART 2 · 论文与落地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842010" y="946150"/>
            <a:ext cx="2727960" cy="586740"/>
            <a:chOff x="842010" y="946150"/>
            <a:chExt cx="2727960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842010" y="946150"/>
              <a:ext cx="2727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取：三个落地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09700"/>
              <a:ext cx="6096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tier-core"/>
          <p:cNvGrpSpPr/>
          <p:nvPr/>
        </p:nvGrpSpPr>
        <p:grpSpPr>
          <a:xfrm>
            <a:off x="762000" y="1619250"/>
            <a:ext cx="10668000" cy="1257300"/>
            <a:chOff x="762000" y="1619250"/>
            <a:chExt cx="10668000" cy="12573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10668000" cy="12573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9525">
              <a:solidFill>
                <a:schemeClr val="accent1">
                  <a:alpha val="50000"/>
                </a:schemeClr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21556" y="1851025"/>
              <a:ext cx="185737" cy="165100"/>
              <a:chOff x="1021556" y="1851025"/>
              <a:chExt cx="185737" cy="1651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21556" y="1851025"/>
                <a:ext cx="185737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7" y="0"/>
                      <a:pt x="185737" y="13860"/>
                      <a:pt x="185737" y="30956"/>
                    </a:cubicBezTo>
                    <a:lnTo>
                      <a:pt x="185737" y="51594"/>
                    </a:lnTo>
                    <a:cubicBezTo>
                      <a:pt x="185737" y="68690"/>
                      <a:pt x="171877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  <a:lnTo>
                      <a:pt x="0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21556" y="1933575"/>
                <a:ext cx="185737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7" y="0"/>
                      <a:pt x="185737" y="13860"/>
                      <a:pt x="185737" y="30956"/>
                    </a:cubicBezTo>
                    <a:lnTo>
                      <a:pt x="185737" y="51594"/>
                    </a:lnTo>
                    <a:cubicBezTo>
                      <a:pt x="185737" y="68690"/>
                      <a:pt x="171877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  <a:lnTo>
                      <a:pt x="0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62831" y="1892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2831" y="19748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04106" y="1892300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04106" y="1974849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82218" y="2159000"/>
              <a:ext cx="7585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4885" y="2489200"/>
              <a:ext cx="1396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纯 stdlib · 纯加法</a:t>
              </a:r>
            </a:p>
          </p:txBody>
        </p:sp>
        <p:grpSp>
          <p:nvGrpSpPr>
            <p:cNvPr id="24" name="core-box-1"/>
            <p:cNvGrpSpPr/>
            <p:nvPr/>
          </p:nvGrpSpPr>
          <p:grpSpPr>
            <a:xfrm>
              <a:off x="2667000" y="1809750"/>
              <a:ext cx="2019300" cy="876300"/>
              <a:chOff x="2667000" y="1809750"/>
              <a:chExt cx="2019300" cy="8763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667000" y="1809750"/>
                <a:ext cx="2019300" cy="876300"/>
              </a:xfrm>
              <a:prstGeom prst="roundRect">
                <a:avLst>
                  <a:gd name="adj" fmla="val 8696"/>
                </a:avLst>
              </a:prstGeom>
              <a:solidFill>
                <a:srgbClr val="1B2230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812542" y="1949450"/>
                <a:ext cx="11377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RewardSpec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813685" y="2222500"/>
                <a:ext cx="12115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evolve.py:141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13685" y="2432050"/>
                <a:ext cx="17318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weights+version 校验</a:t>
                </a:r>
              </a:p>
            </p:txBody>
          </p:sp>
        </p:grpSp>
        <p:grpSp>
          <p:nvGrpSpPr>
            <p:cNvPr id="29" name="core-box-2"/>
            <p:cNvGrpSpPr/>
            <p:nvPr/>
          </p:nvGrpSpPr>
          <p:grpSpPr>
            <a:xfrm>
              <a:off x="4914900" y="1809750"/>
              <a:ext cx="2019300" cy="876300"/>
              <a:chOff x="4914900" y="1809750"/>
              <a:chExt cx="2019300" cy="8763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914900" y="1809750"/>
                <a:ext cx="2019300" cy="876300"/>
              </a:xfrm>
              <a:prstGeom prst="roundRect">
                <a:avLst>
                  <a:gd name="adj" fmla="val 8696"/>
                </a:avLst>
              </a:prstGeom>
              <a:solidFill>
                <a:srgbClr val="1B2230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060442" y="1949450"/>
                <a:ext cx="1237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aggregate()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061585" y="2222500"/>
                <a:ext cx="12115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evolve.py:170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061585" y="2432050"/>
                <a:ext cx="12870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归一+加权 [0,1]</a:t>
                </a:r>
              </a:p>
            </p:txBody>
          </p:sp>
        </p:grpSp>
        <p:grpSp>
          <p:nvGrpSpPr>
            <p:cNvPr id="34" name="core-box-3"/>
            <p:cNvGrpSpPr/>
            <p:nvPr/>
          </p:nvGrpSpPr>
          <p:grpSpPr>
            <a:xfrm>
              <a:off x="7162800" y="1809750"/>
              <a:ext cx="2019300" cy="876300"/>
              <a:chOff x="7162800" y="1809750"/>
              <a:chExt cx="2019300" cy="8763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162800" y="1809750"/>
                <a:ext cx="2019300" cy="876300"/>
              </a:xfrm>
              <a:prstGeom prst="roundRect">
                <a:avLst>
                  <a:gd name="adj" fmla="val 8696"/>
                </a:avLst>
              </a:prstGeom>
              <a:solidFill>
                <a:srgbClr val="1B2230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308342" y="1949450"/>
                <a:ext cx="13602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EvolveResult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309485" y="2222500"/>
                <a:ext cx="11191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evolve.py:54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309485" y="2432050"/>
                <a:ext cx="132060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reward 字段容缺</a:t>
                </a:r>
              </a:p>
            </p:txBody>
          </p:sp>
        </p:grpSp>
        <p:grpSp>
          <p:nvGrpSpPr>
            <p:cNvPr id="39" name="core-box-4"/>
            <p:cNvGrpSpPr/>
            <p:nvPr/>
          </p:nvGrpSpPr>
          <p:grpSpPr>
            <a:xfrm>
              <a:off x="9410700" y="1809750"/>
              <a:ext cx="2019300" cy="876300"/>
              <a:chOff x="9410700" y="1809750"/>
              <a:chExt cx="2019300" cy="8763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410700" y="1809750"/>
                <a:ext cx="2019300" cy="876300"/>
              </a:xfrm>
              <a:prstGeom prst="roundRect">
                <a:avLst>
                  <a:gd name="adj" fmla="val 8696"/>
                </a:avLst>
              </a:prstGeom>
              <a:solidFill>
                <a:srgbClr val="1B2230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556242" y="1949450"/>
                <a:ext cx="12301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AuditLog 键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557385" y="2222500"/>
                <a:ext cx="12115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kernel.py:995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557385" y="2432050"/>
                <a:ext cx="11108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仅非空写·不变</a:t>
                </a:r>
              </a:p>
            </p:txBody>
          </p:sp>
        </p:grpSp>
      </p:grpSp>
      <p:grpSp>
        <p:nvGrpSpPr>
          <p:cNvPr id="61" name="tier-covenant"/>
          <p:cNvGrpSpPr/>
          <p:nvPr/>
        </p:nvGrpSpPr>
        <p:grpSpPr>
          <a:xfrm>
            <a:off x="762000" y="2990850"/>
            <a:ext cx="10668000" cy="1257300"/>
            <a:chOff x="762000" y="2990850"/>
            <a:chExt cx="10668000" cy="1257300"/>
          </a:xfrm>
        </p:grpSpPr>
        <p:sp>
          <p:nvSpPr>
            <p:cNvPr id="41" name="Rectangle 41"/>
            <p:cNvSpPr/>
            <p:nvPr/>
          </p:nvSpPr>
          <p:spPr>
            <a:xfrm>
              <a:off x="762000" y="2990850"/>
              <a:ext cx="10668000" cy="12573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9525">
              <a:solidFill>
                <a:schemeClr val="accent2">
                  <a:alpha val="50000"/>
                </a:schemeClr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21556" y="3232944"/>
              <a:ext cx="185737" cy="175418"/>
              <a:chOff x="1021556" y="3232944"/>
              <a:chExt cx="185737" cy="17541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114425" y="33051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30956"/>
                    </a:moveTo>
                    <a:cubicBezTo>
                      <a:pt x="0" y="48053"/>
                      <a:pt x="13860" y="61912"/>
                      <a:pt x="30956" y="61912"/>
                    </a:cubicBezTo>
                    <a:cubicBezTo>
                      <a:pt x="48053" y="61912"/>
                      <a:pt x="61912" y="48053"/>
                      <a:pt x="61912" y="30956"/>
                    </a:cubicBezTo>
                    <a:cubicBezTo>
                      <a:pt x="61912" y="13860"/>
                      <a:pt x="48053" y="0"/>
                      <a:pt x="30956" y="0"/>
                    </a:cubicBezTo>
                    <a:cubicBezTo>
                      <a:pt x="13860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24743" y="3361928"/>
                <a:ext cx="41275" cy="46434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6434">
                    <a:moveTo>
                      <a:pt x="0" y="0"/>
                    </a:moveTo>
                    <a:lnTo>
                      <a:pt x="0" y="46434"/>
                    </a:lnTo>
                    <a:lnTo>
                      <a:pt x="20637" y="30956"/>
                    </a:lnTo>
                    <a:lnTo>
                      <a:pt x="41275" y="46434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21556" y="3232944"/>
                <a:ext cx="1857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44462">
                    <a:moveTo>
                      <a:pt x="72231" y="144462"/>
                    </a:moveTo>
                    <a:lnTo>
                      <a:pt x="20637" y="144462"/>
                    </a:lnTo>
                    <a:cubicBezTo>
                      <a:pt x="9240" y="144462"/>
                      <a:pt x="0" y="135222"/>
                      <a:pt x="0" y="123825"/>
                    </a:cubicBezTo>
                    <a:lnTo>
                      <a:pt x="0" y="20637"/>
                    </a:lnTo>
                    <a:cubicBezTo>
                      <a:pt x="0" y="9287"/>
                      <a:pt x="9287" y="0"/>
                      <a:pt x="20637" y="0"/>
                    </a:cubicBezTo>
                    <a:lnTo>
                      <a:pt x="165099" y="0"/>
                    </a:lnTo>
                    <a:cubicBezTo>
                      <a:pt x="176497" y="0"/>
                      <a:pt x="185737" y="9240"/>
                      <a:pt x="185737" y="20637"/>
                    </a:cubicBezTo>
                    <a:lnTo>
                      <a:pt x="185737" y="123825"/>
                    </a:lnTo>
                    <a:cubicBezTo>
                      <a:pt x="185729" y="131190"/>
                      <a:pt x="181797" y="137993"/>
                      <a:pt x="175418" y="14167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52512" y="3274218"/>
                <a:ext cx="123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9525">
                    <a:moveTo>
                      <a:pt x="0" y="0"/>
                    </a:moveTo>
                    <a:lnTo>
                      <a:pt x="123825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52512" y="3305175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52512" y="3336131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82218" y="3530600"/>
              <a:ext cx="7585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立约层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4885" y="3860800"/>
              <a:ext cx="1597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drivers/ 触发即生效</a:t>
              </a:r>
            </a:p>
          </p:txBody>
        </p:sp>
        <p:grpSp>
          <p:nvGrpSpPr>
            <p:cNvPr id="55" name="covenant-box-1"/>
            <p:cNvGrpSpPr/>
            <p:nvPr/>
          </p:nvGrpSpPr>
          <p:grpSpPr>
            <a:xfrm>
              <a:off x="2667000" y="3181350"/>
              <a:ext cx="4267200" cy="876300"/>
              <a:chOff x="2667000" y="3181350"/>
              <a:chExt cx="4267200" cy="8763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2667000" y="3181350"/>
                <a:ext cx="4267200" cy="876300"/>
              </a:xfrm>
              <a:prstGeom prst="roundRect">
                <a:avLst>
                  <a:gd name="adj" fmla="val 8696"/>
                </a:avLst>
              </a:prstGeom>
              <a:solidFill>
                <a:srgbClr val="1B2230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2812542" y="3321050"/>
                <a:ext cx="19437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drivers/README.md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2813685" y="3594100"/>
                <a:ext cx="30074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模块地图（加驱动先登记）+ 奖励面用法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813685" y="3803650"/>
                <a:ext cx="322562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保真份额 ≥60% 起步（4:2:2:2 实证模板）</a:t>
                </a:r>
              </a:p>
            </p:txBody>
          </p:sp>
        </p:grpSp>
        <p:grpSp>
          <p:nvGrpSpPr>
            <p:cNvPr id="60" name="covenant-box-2"/>
            <p:cNvGrpSpPr/>
            <p:nvPr/>
          </p:nvGrpSpPr>
          <p:grpSpPr>
            <a:xfrm>
              <a:off x="7162800" y="3181350"/>
              <a:ext cx="4267200" cy="876300"/>
              <a:chOff x="7162800" y="3181350"/>
              <a:chExt cx="4267200" cy="8763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7162800" y="3181350"/>
                <a:ext cx="4267200" cy="876300"/>
              </a:xfrm>
              <a:prstGeom prst="roundRect">
                <a:avLst>
                  <a:gd name="adj" fmla="val 8696"/>
                </a:avLst>
              </a:prstGeom>
              <a:solidFill>
                <a:srgbClr val="1B2230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308342" y="3321050"/>
                <a:ext cx="16322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三维幻觉审计约定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309485" y="3594100"/>
                <a:ext cx="27825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WER=词法 / SBS=语义 / SIM=说话人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309485" y="3803650"/>
                <a:ext cx="23780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对参照转写评分——抄条件不得分</a:t>
                </a:r>
              </a:p>
            </p:txBody>
          </p:sp>
        </p:grpSp>
      </p:grpSp>
      <p:grpSp>
        <p:nvGrpSpPr>
          <p:cNvPr id="79" name="tier-repro"/>
          <p:cNvGrpSpPr/>
          <p:nvPr/>
        </p:nvGrpSpPr>
        <p:grpSpPr>
          <a:xfrm>
            <a:off x="762000" y="4362450"/>
            <a:ext cx="10668000" cy="1257300"/>
            <a:chOff x="762000" y="4362450"/>
            <a:chExt cx="10668000" cy="1257300"/>
          </a:xfrm>
        </p:grpSpPr>
        <p:sp>
          <p:nvSpPr>
            <p:cNvPr id="62" name="Rectangle 62"/>
            <p:cNvSpPr/>
            <p:nvPr/>
          </p:nvSpPr>
          <p:spPr>
            <a:xfrm>
              <a:off x="762000" y="4362450"/>
              <a:ext cx="10668000" cy="12573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 w="9525">
              <a:solidFill>
                <a:srgbClr val="C96A6A">
                  <a:alpha val="50000"/>
                </a:srgbClr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1051503" y="4583906"/>
              <a:ext cx="125843" cy="185737"/>
              <a:chOff x="1051503" y="4583906"/>
              <a:chExt cx="125843" cy="185737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1083468" y="4583906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C96A6A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093787" y="4645818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C96A6A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051503" y="4583906"/>
                <a:ext cx="125843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25843" h="185737">
                    <a:moveTo>
                      <a:pt x="42284" y="0"/>
                    </a:moveTo>
                    <a:lnTo>
                      <a:pt x="42284" y="61912"/>
                    </a:lnTo>
                    <a:lnTo>
                      <a:pt x="1009" y="175418"/>
                    </a:lnTo>
                    <a:cubicBezTo>
                      <a:pt x="0" y="177449"/>
                      <a:pt x="3" y="179835"/>
                      <a:pt x="1017" y="181864"/>
                    </a:cubicBezTo>
                    <a:cubicBezTo>
                      <a:pt x="2031" y="183892"/>
                      <a:pt x="3939" y="185326"/>
                      <a:pt x="6169" y="185737"/>
                    </a:cubicBezTo>
                    <a:lnTo>
                      <a:pt x="119675" y="185737"/>
                    </a:lnTo>
                    <a:cubicBezTo>
                      <a:pt x="121905" y="185326"/>
                      <a:pt x="123812" y="183892"/>
                      <a:pt x="124826" y="181864"/>
                    </a:cubicBezTo>
                    <a:cubicBezTo>
                      <a:pt x="125841" y="179835"/>
                      <a:pt x="125843" y="177449"/>
                      <a:pt x="124834" y="175418"/>
                    </a:cubicBezTo>
                    <a:lnTo>
                      <a:pt x="83559" y="61912"/>
                    </a:lnTo>
                    <a:lnTo>
                      <a:pt x="83559" y="0"/>
                    </a:lnTo>
                  </a:path>
                </a:pathLst>
              </a:custGeom>
              <a:noFill/>
              <a:ln w="20637">
                <a:solidFill>
                  <a:srgbClr val="C96A6A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82218" y="4902200"/>
              <a:ext cx="7585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96A6A"/>
                  </a:solidFill>
                  <a:latin typeface="+mn-lt"/>
                  <a:ea typeface="+mn-ea"/>
                  <a:cs typeface="+mn-cs"/>
                </a:rPr>
                <a:t>复现层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84885" y="5232400"/>
              <a:ext cx="2077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Repro-ZCode · 不进主套件</a:t>
              </a:r>
            </a:p>
          </p:txBody>
        </p:sp>
        <p:grpSp>
          <p:nvGrpSpPr>
            <p:cNvPr id="73" name="repro-box-1"/>
            <p:cNvGrpSpPr/>
            <p:nvPr/>
          </p:nvGrpSpPr>
          <p:grpSpPr>
            <a:xfrm>
              <a:off x="2667000" y="4552950"/>
              <a:ext cx="4267200" cy="876300"/>
              <a:chOff x="2667000" y="4552950"/>
              <a:chExt cx="4267200" cy="8763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2667000" y="4552950"/>
                <a:ext cx="4267200" cy="876300"/>
              </a:xfrm>
              <a:prstGeom prst="roundRect">
                <a:avLst>
                  <a:gd name="adj" fmla="val 8696"/>
                </a:avLst>
              </a:prstGeom>
              <a:solidFill>
                <a:srgbClr val="1B2230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2812542" y="4692650"/>
                <a:ext cx="21278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repro/aurase_ipo.py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2813685" y="4965700"/>
                <a:ext cx="24787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决策面规则版 23 测（手算锚点）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2813685" y="5175250"/>
                <a:ext cx="14968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6A6A"/>
                    </a:solidFill>
                    <a:latin typeface="+mn-lt"/>
                    <a:ea typeface="+mn-ea"/>
                    <a:cs typeface="+mn-cs"/>
                  </a:rPr>
                  <a:t>零 import 独立转译</a:t>
                </a:r>
              </a:p>
            </p:txBody>
          </p:sp>
        </p:grpSp>
        <p:grpSp>
          <p:nvGrpSpPr>
            <p:cNvPr id="78" name="repro-box-2"/>
            <p:cNvGrpSpPr/>
            <p:nvPr/>
          </p:nvGrpSpPr>
          <p:grpSpPr>
            <a:xfrm>
              <a:off x="7162800" y="4552950"/>
              <a:ext cx="4267200" cy="876300"/>
              <a:chOff x="7162800" y="4552950"/>
              <a:chExt cx="4267200" cy="87630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7162800" y="4552950"/>
                <a:ext cx="4267200" cy="876300"/>
              </a:xfrm>
              <a:prstGeom prst="roundRect">
                <a:avLst>
                  <a:gd name="adj" fmla="val 8696"/>
                </a:avLst>
              </a:prstGeom>
              <a:solidFill>
                <a:srgbClr val="1B2230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308342" y="4692650"/>
                <a:ext cx="8229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论文证据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309485" y="4965700"/>
                <a:ext cx="19500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var/repro/2610.06632/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309485" y="5175250"/>
                <a:ext cx="23864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6A6A"/>
                    </a:solidFill>
                    <a:latin typeface="+mn-lt"/>
                    <a:ea typeface="+mn-ea"/>
                    <a:cs typeface="+mn-cs"/>
                  </a:rPr>
                  <a:t>全文提取 · 论文数值一概不断言</a:t>
                </a:r>
              </a:p>
            </p:txBody>
          </p:sp>
        </p:grpSp>
      </p:grpSp>
      <p:grpSp>
        <p:nvGrpSpPr>
          <p:cNvPr id="83" name="takeaway"/>
          <p:cNvGrpSpPr/>
          <p:nvPr/>
        </p:nvGrpSpPr>
        <p:grpSpPr>
          <a:xfrm>
            <a:off x="762000" y="5867400"/>
            <a:ext cx="10668000" cy="400050"/>
            <a:chOff x="762000" y="5867400"/>
            <a:chExt cx="10668000" cy="400050"/>
          </a:xfrm>
        </p:grpSpPr>
        <p:sp>
          <p:nvSpPr>
            <p:cNvPr id="80" name="Rectangle 80"/>
            <p:cNvSpPr/>
            <p:nvPr/>
          </p:nvSpPr>
          <p:spPr>
            <a:xfrm>
              <a:off x="762000" y="5867400"/>
              <a:ext cx="10668000" cy="400050"/>
            </a:xfrm>
            <a:prstGeom prst="roundRect">
              <a:avLst>
                <a:gd name="adj" fmla="val 19048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62000" y="5867400"/>
              <a:ext cx="381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82218" y="5930900"/>
              <a:ext cx="84980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治理面进核心 · 立约进 drivers · 规则版进复现区——纯加法，旧行字节级不变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84" name="TextBox 84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781050" y="742950"/>
            <a:ext cx="10654665" cy="266700"/>
            <a:chOff x="781050" y="742950"/>
            <a:chExt cx="10654665" cy="266700"/>
          </a:xfrm>
        </p:grpSpPr>
        <p:sp>
          <p:nvSpPr>
            <p:cNvPr id="2" name="Ellipse 2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62050" y="876300"/>
              <a:ext cx="10267950" cy="9525"/>
            </a:xfrm>
            <a:custGeom>
              <a:avLst/>
              <a:gdLst/>
              <a:ahLst/>
              <a:cxnLst/>
              <a:rect l="l" t="t" r="r" b="b"/>
              <a:pathLst>
                <a:path w="10267950" h="9525">
                  <a:moveTo>
                    <a:pt x="0" y="0"/>
                  </a:moveTo>
                  <a:lnTo>
                    <a:pt x="10267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12000" y="784225"/>
              <a:ext cx="172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PART 2 · 论文与落地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842010" y="946150"/>
            <a:ext cx="2727960" cy="586740"/>
            <a:chOff x="842010" y="946150"/>
            <a:chExt cx="2727960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842010" y="946150"/>
              <a:ext cx="2727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奖励面怎么用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09700"/>
              <a:ext cx="6096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ode-terminal"/>
          <p:cNvGrpSpPr/>
          <p:nvPr/>
        </p:nvGrpSpPr>
        <p:grpSpPr>
          <a:xfrm>
            <a:off x="762000" y="1619250"/>
            <a:ext cx="6096000" cy="2857500"/>
            <a:chOff x="762000" y="1619250"/>
            <a:chExt cx="60960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6096000" cy="2857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6096000" cy="419100"/>
            </a:xfrm>
            <a:prstGeom prst="roundRect">
              <a:avLst>
                <a:gd name="adj" fmla="val 27273"/>
              </a:avLst>
            </a:prstGeom>
            <a:solidFill>
              <a:srgbClr val="1B223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866900"/>
              <a:ext cx="6096000" cy="171450"/>
            </a:xfrm>
            <a:prstGeom prst="rect">
              <a:avLst/>
            </a:prstGeom>
            <a:solidFill>
              <a:srgbClr val="1B223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" y="1771650"/>
              <a:ext cx="114300" cy="114300"/>
            </a:xfrm>
            <a:prstGeom prst="ellipse">
              <a:avLst/>
            </a:prstGeom>
            <a:solidFill>
              <a:srgbClr val="C96A6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81100" y="17716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390650" y="17716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707356" y="1736725"/>
              <a:ext cx="185737" cy="165099"/>
              <a:chOff x="1707356" y="1736725"/>
              <a:chExt cx="185737" cy="16509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758950" y="1788318"/>
                <a:ext cx="30956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61912">
                    <a:moveTo>
                      <a:pt x="0" y="0"/>
                    </a:moveTo>
                    <a:lnTo>
                      <a:pt x="30956" y="30956"/>
                    </a:lnTo>
                    <a:lnTo>
                      <a:pt x="0" y="61912"/>
                    </a:lnTo>
                  </a:path>
                </a:pathLst>
              </a:custGeom>
              <a:noFill/>
              <a:ln w="20637">
                <a:solidFill>
                  <a:srgbClr val="8B95A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810543" y="1850231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20637">
                <a:solidFill>
                  <a:srgbClr val="8B95A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707356" y="1736725"/>
                <a:ext cx="185737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099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65099" y="0"/>
                    </a:lnTo>
                    <a:cubicBezTo>
                      <a:pt x="176497" y="0"/>
                      <a:pt x="185737" y="9240"/>
                      <a:pt x="185737" y="20637"/>
                    </a:cubicBezTo>
                    <a:lnTo>
                      <a:pt x="185737" y="144462"/>
                    </a:lnTo>
                    <a:cubicBezTo>
                      <a:pt x="185737" y="155860"/>
                      <a:pt x="176497" y="165099"/>
                      <a:pt x="165099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rgbClr val="8B95A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032635" y="1746250"/>
              <a:ext cx="24703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driver-side assembly · 三步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3742" y="2222500"/>
              <a:ext cx="4035768" cy="1978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spec =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RewardSpec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</a:t>
              </a:r>
              <a:b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weights={"OVRL":4.0, "WER":2.0,</a:t>
              </a:r>
              <a:b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"SIM":2.0, "SBS":2.0},</a:t>
              </a:r>
              <a:b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lower_better=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frozenset</a:t>
              </a: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({"WER"}),</a:t>
              </a:r>
              <a:b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version=</a:t>
              </a:r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"aurase-4222"</a:t>
              </a:r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)</a:t>
              </a:r>
              <a:b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rewards =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aggregate</a:t>
              </a: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(cands, spec)</a:t>
              </a:r>
              <a:b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# → EvolveResult(reward_version=...)</a:t>
              </a:r>
            </a:p>
          </p:txBody>
        </p:sp>
      </p:grpSp>
      <p:grpSp>
        <p:nvGrpSpPr>
          <p:cNvPr id="29" name="card-audit"/>
          <p:cNvGrpSpPr/>
          <p:nvPr/>
        </p:nvGrpSpPr>
        <p:grpSpPr>
          <a:xfrm>
            <a:off x="7162800" y="1619250"/>
            <a:ext cx="4267200" cy="1333500"/>
            <a:chOff x="7162800" y="1619250"/>
            <a:chExt cx="4267200" cy="1333500"/>
          </a:xfrm>
        </p:grpSpPr>
        <p:sp>
          <p:nvSpPr>
            <p:cNvPr id="23" name="Rectangle 23"/>
            <p:cNvSpPr/>
            <p:nvPr/>
          </p:nvSpPr>
          <p:spPr>
            <a:xfrm>
              <a:off x="7162800" y="1619250"/>
              <a:ext cx="42672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422356" y="1871662"/>
              <a:ext cx="185737" cy="123825"/>
              <a:chOff x="7422356" y="1871662"/>
              <a:chExt cx="185737" cy="1238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463631" y="1871662"/>
                <a:ext cx="14446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41275">
                    <a:moveTo>
                      <a:pt x="0" y="41275"/>
                    </a:moveTo>
                    <a:lnTo>
                      <a:pt x="144462" y="41275"/>
                    </a:lnTo>
                    <a:lnTo>
                      <a:pt x="103187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422356" y="1954212"/>
                <a:ext cx="14446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41275">
                    <a:moveTo>
                      <a:pt x="144462" y="0"/>
                    </a:moveTo>
                    <a:lnTo>
                      <a:pt x="0" y="0"/>
                    </a:lnTo>
                    <a:lnTo>
                      <a:pt x="41275" y="41275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744206" y="1784350"/>
              <a:ext cx="16367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审计自动透传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4542" y="2120900"/>
              <a:ext cx="3887972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返回带 reward_version → 审计行自动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多出该键（仅非空）；权重变更 = 新版本号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历史不可变——锚点治理</a:t>
              </a:r>
            </a:p>
          </p:txBody>
        </p:sp>
      </p:grpSp>
      <p:grpSp>
        <p:nvGrpSpPr>
          <p:cNvPr id="40" name="card-anchors"/>
          <p:cNvGrpSpPr/>
          <p:nvPr/>
        </p:nvGrpSpPr>
        <p:grpSpPr>
          <a:xfrm>
            <a:off x="7162800" y="3105150"/>
            <a:ext cx="4267200" cy="1371600"/>
            <a:chOff x="7162800" y="3105150"/>
            <a:chExt cx="4267200" cy="1371600"/>
          </a:xfrm>
        </p:grpSpPr>
        <p:sp>
          <p:nvSpPr>
            <p:cNvPr id="30" name="Rectangle 30"/>
            <p:cNvSpPr/>
            <p:nvPr/>
          </p:nvSpPr>
          <p:spPr>
            <a:xfrm>
              <a:off x="7162800" y="3105150"/>
              <a:ext cx="4267200" cy="13716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442994" y="3336925"/>
              <a:ext cx="154780" cy="175418"/>
              <a:chOff x="7442994" y="3336925"/>
              <a:chExt cx="154780" cy="17541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442994" y="33369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535862" y="34710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84268" y="33782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484268" y="34194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744206" y="3270250"/>
              <a:ext cx="16367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手算锚点速查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4542" y="3663950"/>
              <a:ext cx="2795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4:2:2:2 → [0.3, 0.8, 0.6]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4542" y="3930650"/>
              <a:ext cx="35128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总分王 ≠ OVRL 最高 · 垫底 = 0.0 闭端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4542" y="4197350"/>
              <a:ext cx="1790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θ=锚 → L = log 2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762000" y="5867400"/>
            <a:ext cx="10668000" cy="400050"/>
            <a:chOff x="762000" y="5867400"/>
            <a:chExt cx="10668000" cy="400050"/>
          </a:xfrm>
        </p:grpSpPr>
        <p:sp>
          <p:nvSpPr>
            <p:cNvPr id="41" name="Rectangle 41"/>
            <p:cNvSpPr/>
            <p:nvPr/>
          </p:nvSpPr>
          <p:spPr>
            <a:xfrm>
              <a:off x="762000" y="5867400"/>
              <a:ext cx="10668000" cy="400050"/>
            </a:xfrm>
            <a:prstGeom prst="roundRect">
              <a:avLst>
                <a:gd name="adj" fmla="val 19048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00" y="5867400"/>
              <a:ext cx="381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2218" y="5930900"/>
              <a:ext cx="62108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三步组装：spec 传入 → aggregate 聚合 → 版本透传审计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45" name="TextBox 45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781050" y="742950"/>
            <a:ext cx="10654665" cy="266700"/>
            <a:chOff x="781050" y="742950"/>
            <a:chExt cx="10654665" cy="266700"/>
          </a:xfrm>
        </p:grpSpPr>
        <p:sp>
          <p:nvSpPr>
            <p:cNvPr id="2" name="Ellipse 2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62050" y="876300"/>
              <a:ext cx="10267950" cy="9525"/>
            </a:xfrm>
            <a:custGeom>
              <a:avLst/>
              <a:gdLst/>
              <a:ahLst/>
              <a:cxnLst/>
              <a:rect l="l" t="t" r="r" b="b"/>
              <a:pathLst>
                <a:path w="10267950" h="9525">
                  <a:moveTo>
                    <a:pt x="0" y="0"/>
                  </a:moveTo>
                  <a:lnTo>
                    <a:pt x="10267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12000" y="784225"/>
              <a:ext cx="172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PART 2 · 论文与落地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842010" y="984250"/>
            <a:ext cx="4689253" cy="586740"/>
            <a:chOff x="842010" y="984250"/>
            <a:chExt cx="4689253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842010" y="984250"/>
              <a:ext cx="46892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补：laos 的差异化价值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47800"/>
              <a:ext cx="6096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ard-judge"/>
          <p:cNvGrpSpPr/>
          <p:nvPr/>
        </p:nvGrpSpPr>
        <p:grpSpPr>
          <a:xfrm>
            <a:off x="762000" y="1619250"/>
            <a:ext cx="3352800" cy="3619500"/>
            <a:chOff x="762000" y="1619250"/>
            <a:chExt cx="33528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352800" cy="3619500"/>
            </a:xfrm>
            <a:prstGeom prst="roundRect">
              <a:avLst>
                <a:gd name="adj" fmla="val 340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2194" y="1859756"/>
              <a:ext cx="144462" cy="185737"/>
              <a:chOff x="1042194" y="1859756"/>
              <a:chExt cx="144462" cy="18573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42194" y="1942306"/>
                <a:ext cx="144462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03187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23825" y="0"/>
                    </a:lnTo>
                    <a:cubicBezTo>
                      <a:pt x="135222" y="0"/>
                      <a:pt x="144462" y="9240"/>
                      <a:pt x="144462" y="20637"/>
                    </a:cubicBezTo>
                    <a:lnTo>
                      <a:pt x="144462" y="82550"/>
                    </a:lnTo>
                    <a:cubicBezTo>
                      <a:pt x="144462" y="93947"/>
                      <a:pt x="135222" y="103187"/>
                      <a:pt x="123825" y="103187"/>
                    </a:cubicBezTo>
                    <a:lnTo>
                      <a:pt x="20637" y="103187"/>
                    </a:lnTo>
                    <a:cubicBezTo>
                      <a:pt x="9240" y="103187"/>
                      <a:pt x="0" y="93947"/>
                      <a:pt x="0" y="82550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04106" y="1983581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73150" y="1859756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82550"/>
                    </a:move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cubicBezTo>
                      <a:pt x="64070" y="0"/>
                      <a:pt x="82550" y="18479"/>
                      <a:pt x="82550" y="41275"/>
                    </a:cubicBezTo>
                    <a:lnTo>
                      <a:pt x="82550" y="8255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43406" y="1803400"/>
              <a:ext cx="2176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循环内无外裁判席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3742" y="2235200"/>
              <a:ext cx="1833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IPO 权重人工固定，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3742" y="2501900"/>
              <a:ext cx="1632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奖励模型被当真值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885" y="2794000"/>
              <a:ext cx="3049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（作者自认 mitigating 非 eliminating）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3742" y="3187700"/>
              <a:ext cx="1359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 laos 补位：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3742" y="3492500"/>
              <a:ext cx="1632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变更走版本化审计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3742" y="3911600"/>
              <a:ext cx="2309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reward_version = 种子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4885" y="4527550"/>
              <a:ext cx="2084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锚：rsi-landscape §8 裁决</a:t>
              </a:r>
            </a:p>
          </p:txBody>
        </p:sp>
      </p:grpSp>
      <p:grpSp>
        <p:nvGrpSpPr>
          <p:cNvPr id="36" name="card-sched"/>
          <p:cNvGrpSpPr/>
          <p:nvPr/>
        </p:nvGrpSpPr>
        <p:grpSpPr>
          <a:xfrm>
            <a:off x="4381500" y="1619250"/>
            <a:ext cx="3352800" cy="3619500"/>
            <a:chOff x="4381500" y="1619250"/>
            <a:chExt cx="3352800" cy="3619500"/>
          </a:xfrm>
        </p:grpSpPr>
        <p:sp>
          <p:nvSpPr>
            <p:cNvPr id="24" name="Rectangle 24"/>
            <p:cNvSpPr/>
            <p:nvPr/>
          </p:nvSpPr>
          <p:spPr>
            <a:xfrm>
              <a:off x="4381500" y="1619250"/>
              <a:ext cx="3352800" cy="3619500"/>
            </a:xfrm>
            <a:prstGeom prst="roundRect">
              <a:avLst>
                <a:gd name="adj" fmla="val 340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636526" y="1855226"/>
              <a:ext cx="194797" cy="194797"/>
              <a:chOff x="4636526" y="1855226"/>
              <a:chExt cx="194797" cy="19479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636526" y="1855226"/>
                <a:ext cx="194797" cy="194797"/>
              </a:xfrm>
              <a:custGeom>
                <a:avLst/>
                <a:gdLst/>
                <a:ahLst/>
                <a:cxnLst/>
                <a:rect l="l" t="t" r="r" b="b"/>
                <a:pathLst>
                  <a:path w="194797" h="194797">
                    <a:moveTo>
                      <a:pt x="80115" y="18120"/>
                    </a:moveTo>
                    <a:cubicBezTo>
                      <a:pt x="84510" y="0"/>
                      <a:pt x="110286" y="0"/>
                      <a:pt x="114682" y="18120"/>
                    </a:cubicBezTo>
                    <a:cubicBezTo>
                      <a:pt x="116020" y="23641"/>
                      <a:pt x="119914" y="28191"/>
                      <a:pt x="125162" y="30365"/>
                    </a:cubicBezTo>
                    <a:cubicBezTo>
                      <a:pt x="130411" y="32540"/>
                      <a:pt x="136382" y="32077"/>
                      <a:pt x="141232" y="29119"/>
                    </a:cubicBezTo>
                    <a:cubicBezTo>
                      <a:pt x="157154" y="19420"/>
                      <a:pt x="175387" y="37643"/>
                      <a:pt x="165688" y="53575"/>
                    </a:cubicBezTo>
                    <a:cubicBezTo>
                      <a:pt x="162735" y="58423"/>
                      <a:pt x="162273" y="64390"/>
                      <a:pt x="164445" y="69635"/>
                    </a:cubicBezTo>
                    <a:cubicBezTo>
                      <a:pt x="166616" y="74880"/>
                      <a:pt x="171161" y="78773"/>
                      <a:pt x="176677" y="80115"/>
                    </a:cubicBezTo>
                    <a:cubicBezTo>
                      <a:pt x="194797" y="84510"/>
                      <a:pt x="194797" y="110286"/>
                      <a:pt x="176677" y="114682"/>
                    </a:cubicBezTo>
                    <a:cubicBezTo>
                      <a:pt x="171156" y="116020"/>
                      <a:pt x="166606" y="119914"/>
                      <a:pt x="164431" y="125162"/>
                    </a:cubicBezTo>
                    <a:cubicBezTo>
                      <a:pt x="162257" y="130411"/>
                      <a:pt x="162720" y="136382"/>
                      <a:pt x="165677" y="141232"/>
                    </a:cubicBezTo>
                    <a:cubicBezTo>
                      <a:pt x="175377" y="157154"/>
                      <a:pt x="157154" y="175387"/>
                      <a:pt x="141222" y="165688"/>
                    </a:cubicBezTo>
                    <a:cubicBezTo>
                      <a:pt x="136374" y="162735"/>
                      <a:pt x="130407" y="162273"/>
                      <a:pt x="125162" y="164445"/>
                    </a:cubicBezTo>
                    <a:cubicBezTo>
                      <a:pt x="119917" y="166616"/>
                      <a:pt x="116024" y="171161"/>
                      <a:pt x="114682" y="176677"/>
                    </a:cubicBezTo>
                    <a:cubicBezTo>
                      <a:pt x="110286" y="194797"/>
                      <a:pt x="84510" y="194797"/>
                      <a:pt x="80115" y="176677"/>
                    </a:cubicBezTo>
                    <a:cubicBezTo>
                      <a:pt x="78777" y="171156"/>
                      <a:pt x="74883" y="166606"/>
                      <a:pt x="69634" y="164431"/>
                    </a:cubicBezTo>
                    <a:cubicBezTo>
                      <a:pt x="64386" y="162257"/>
                      <a:pt x="58415" y="162720"/>
                      <a:pt x="53564" y="165677"/>
                    </a:cubicBezTo>
                    <a:cubicBezTo>
                      <a:pt x="37643" y="175377"/>
                      <a:pt x="19410" y="157154"/>
                      <a:pt x="29109" y="141222"/>
                    </a:cubicBezTo>
                    <a:cubicBezTo>
                      <a:pt x="32062" y="136374"/>
                      <a:pt x="32524" y="130407"/>
                      <a:pt x="30352" y="125162"/>
                    </a:cubicBezTo>
                    <a:cubicBezTo>
                      <a:pt x="28180" y="119917"/>
                      <a:pt x="23636" y="116024"/>
                      <a:pt x="18120" y="114682"/>
                    </a:cubicBezTo>
                    <a:cubicBezTo>
                      <a:pt x="0" y="110286"/>
                      <a:pt x="0" y="84510"/>
                      <a:pt x="18120" y="80115"/>
                    </a:cubicBezTo>
                    <a:cubicBezTo>
                      <a:pt x="23641" y="78777"/>
                      <a:pt x="28191" y="74883"/>
                      <a:pt x="30365" y="69634"/>
                    </a:cubicBezTo>
                    <a:cubicBezTo>
                      <a:pt x="32540" y="64386"/>
                      <a:pt x="32077" y="58415"/>
                      <a:pt x="29119" y="53564"/>
                    </a:cubicBezTo>
                    <a:cubicBezTo>
                      <a:pt x="19420" y="37643"/>
                      <a:pt x="37643" y="19410"/>
                      <a:pt x="53575" y="29109"/>
                    </a:cubicBezTo>
                    <a:cubicBezTo>
                      <a:pt x="63894" y="35383"/>
                      <a:pt x="77267" y="29831"/>
                      <a:pt x="80115" y="18120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02968" y="1921668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30956"/>
                    </a:moveTo>
                    <a:cubicBezTo>
                      <a:pt x="0" y="48053"/>
                      <a:pt x="13860" y="61912"/>
                      <a:pt x="30956" y="61912"/>
                    </a:cubicBezTo>
                    <a:cubicBezTo>
                      <a:pt x="48053" y="61912"/>
                      <a:pt x="61912" y="48053"/>
                      <a:pt x="61912" y="30956"/>
                    </a:cubicBezTo>
                    <a:cubicBezTo>
                      <a:pt x="61912" y="13860"/>
                      <a:pt x="48053" y="0"/>
                      <a:pt x="30956" y="0"/>
                    </a:cubicBezTo>
                    <a:cubicBezTo>
                      <a:pt x="13860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962906" y="1803400"/>
              <a:ext cx="19624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穷举不起 = 调度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3242" y="2235200"/>
              <a:ext cx="2087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best-of-8 全知全能，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3242" y="2501900"/>
              <a:ext cx="1632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但逐话语搜索太贵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4385" y="2794000"/>
              <a:ext cx="2025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（训练时算力换部署延迟）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3242" y="3187700"/>
              <a:ext cx="1510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 同一问题域：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3242" y="3492500"/>
              <a:ext cx="1429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预算与调度语义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3242" y="3911600"/>
              <a:ext cx="2686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EDQUOT · iterations 上限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4385" y="4527550"/>
              <a:ext cx="2361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锚：mixed execution 结论同域</a:t>
              </a:r>
            </a:p>
          </p:txBody>
        </p:sp>
      </p:grpSp>
      <p:grpSp>
        <p:nvGrpSpPr>
          <p:cNvPr id="49" name="card-asr"/>
          <p:cNvGrpSpPr/>
          <p:nvPr/>
        </p:nvGrpSpPr>
        <p:grpSpPr>
          <a:xfrm>
            <a:off x="8001000" y="1619250"/>
            <a:ext cx="3352800" cy="3619500"/>
            <a:chOff x="8001000" y="1619250"/>
            <a:chExt cx="3352800" cy="3619500"/>
          </a:xfrm>
        </p:grpSpPr>
        <p:sp>
          <p:nvSpPr>
            <p:cNvPr id="37" name="Rectangle 37"/>
            <p:cNvSpPr/>
            <p:nvPr/>
          </p:nvSpPr>
          <p:spPr>
            <a:xfrm>
              <a:off x="8001000" y="1619250"/>
              <a:ext cx="3352800" cy="3619500"/>
            </a:xfrm>
            <a:prstGeom prst="roundRect">
              <a:avLst>
                <a:gd name="adj" fmla="val 340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260556" y="1859758"/>
              <a:ext cx="185735" cy="185735"/>
              <a:chOff x="8260556" y="1859758"/>
              <a:chExt cx="185735" cy="18573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260556" y="1859758"/>
                <a:ext cx="185735" cy="185735"/>
              </a:xfrm>
              <a:custGeom>
                <a:avLst/>
                <a:gdLst/>
                <a:ahLst/>
                <a:cxnLst/>
                <a:rect l="l" t="t" r="r" b="b"/>
                <a:pathLst>
                  <a:path w="185735" h="185735">
                    <a:moveTo>
                      <a:pt x="139870" y="8697"/>
                    </a:moveTo>
                    <a:lnTo>
                      <a:pt x="177038" y="45865"/>
                    </a:lnTo>
                    <a:cubicBezTo>
                      <a:pt x="182607" y="51432"/>
                      <a:pt x="185735" y="58984"/>
                      <a:pt x="185735" y="66858"/>
                    </a:cubicBezTo>
                    <a:cubicBezTo>
                      <a:pt x="185735" y="74732"/>
                      <a:pt x="182607" y="82284"/>
                      <a:pt x="177038" y="87852"/>
                    </a:cubicBezTo>
                    <a:lnTo>
                      <a:pt x="149766" y="115124"/>
                    </a:lnTo>
                    <a:cubicBezTo>
                      <a:pt x="144198" y="120692"/>
                      <a:pt x="136647" y="123821"/>
                      <a:pt x="128772" y="123821"/>
                    </a:cubicBezTo>
                    <a:cubicBezTo>
                      <a:pt x="120898" y="123821"/>
                      <a:pt x="113347" y="120692"/>
                      <a:pt x="107779" y="115124"/>
                    </a:cubicBezTo>
                    <a:lnTo>
                      <a:pt x="104673" y="112018"/>
                    </a:lnTo>
                    <a:lnTo>
                      <a:pt x="37003" y="179688"/>
                    </a:lnTo>
                    <a:cubicBezTo>
                      <a:pt x="33574" y="183116"/>
                      <a:pt x="29048" y="185228"/>
                      <a:pt x="24218" y="185652"/>
                    </a:cubicBezTo>
                    <a:lnTo>
                      <a:pt x="22412" y="185735"/>
                    </a:lnTo>
                    <a:lnTo>
                      <a:pt x="10319" y="185735"/>
                    </a:lnTo>
                    <a:cubicBezTo>
                      <a:pt x="5087" y="185734"/>
                      <a:pt x="684" y="181819"/>
                      <a:pt x="72" y="176624"/>
                    </a:cubicBezTo>
                    <a:lnTo>
                      <a:pt x="0" y="175416"/>
                    </a:lnTo>
                    <a:lnTo>
                      <a:pt x="0" y="163323"/>
                    </a:lnTo>
                    <a:cubicBezTo>
                      <a:pt x="1" y="158478"/>
                      <a:pt x="1707" y="153787"/>
                      <a:pt x="4819" y="150073"/>
                    </a:cubicBezTo>
                    <a:lnTo>
                      <a:pt x="6047" y="148732"/>
                    </a:lnTo>
                    <a:lnTo>
                      <a:pt x="10319" y="144460"/>
                    </a:lnTo>
                    <a:lnTo>
                      <a:pt x="30956" y="144460"/>
                    </a:lnTo>
                    <a:lnTo>
                      <a:pt x="30956" y="123823"/>
                    </a:lnTo>
                    <a:lnTo>
                      <a:pt x="51594" y="123823"/>
                    </a:lnTo>
                    <a:lnTo>
                      <a:pt x="51594" y="103185"/>
                    </a:lnTo>
                    <a:lnTo>
                      <a:pt x="73717" y="81062"/>
                    </a:lnTo>
                    <a:lnTo>
                      <a:pt x="70611" y="77956"/>
                    </a:lnTo>
                    <a:cubicBezTo>
                      <a:pt x="65043" y="72388"/>
                      <a:pt x="61914" y="64837"/>
                      <a:pt x="61914" y="56962"/>
                    </a:cubicBezTo>
                    <a:cubicBezTo>
                      <a:pt x="61914" y="49088"/>
                      <a:pt x="65043" y="41537"/>
                      <a:pt x="70611" y="35969"/>
                    </a:cubicBezTo>
                    <a:lnTo>
                      <a:pt x="97883" y="8697"/>
                    </a:lnTo>
                    <a:cubicBezTo>
                      <a:pt x="103451" y="3128"/>
                      <a:pt x="111003" y="0"/>
                      <a:pt x="118877" y="0"/>
                    </a:cubicBezTo>
                    <a:cubicBezTo>
                      <a:pt x="126751" y="0"/>
                      <a:pt x="134303" y="3128"/>
                      <a:pt x="139870" y="8697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4381" y="19216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582406" y="1803400"/>
              <a:ext cx="22171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ASR 条件幻觉入口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22742" y="2235200"/>
              <a:ext cx="2467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Whisper 转写一次性固定，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22742" y="2501900"/>
              <a:ext cx="2036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依赖仍在（作者承认）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23885" y="2794000"/>
              <a:ext cx="2193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（条件幻觉会传导进增强器）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22742" y="3187700"/>
              <a:ext cx="1359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 laos 补位：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2742" y="3492500"/>
              <a:ext cx="1429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条件输入治理层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22742" y="3911600"/>
              <a:ext cx="2202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三通道 ASR + refiner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23885" y="4527550"/>
              <a:ext cx="272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锚：对参照转写评分 = 抄条件不得分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762000" y="5867400"/>
            <a:ext cx="10668000" cy="400050"/>
            <a:chOff x="762000" y="5867400"/>
            <a:chExt cx="10668000" cy="400050"/>
          </a:xfrm>
        </p:grpSpPr>
        <p:sp>
          <p:nvSpPr>
            <p:cNvPr id="50" name="Rectangle 50"/>
            <p:cNvSpPr/>
            <p:nvPr/>
          </p:nvSpPr>
          <p:spPr>
            <a:xfrm>
              <a:off x="762000" y="5867400"/>
              <a:ext cx="10668000" cy="400050"/>
            </a:xfrm>
            <a:prstGeom prst="roundRect">
              <a:avLst>
                <a:gd name="adj" fmla="val 19048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62000" y="5867400"/>
              <a:ext cx="381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82218" y="5930900"/>
              <a:ext cx="8596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论文的三处短处 = laos 的三个立论位：循环外裁判 · 调度治理 · 条件输入治理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54" name="TextBox 54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781050" y="742950"/>
            <a:ext cx="10654665" cy="266700"/>
            <a:chOff x="781050" y="742950"/>
            <a:chExt cx="10654665" cy="266700"/>
          </a:xfrm>
        </p:grpSpPr>
        <p:sp>
          <p:nvSpPr>
            <p:cNvPr id="2" name="Ellipse 2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62050" y="876300"/>
              <a:ext cx="10267950" cy="9525"/>
            </a:xfrm>
            <a:custGeom>
              <a:avLst/>
              <a:gdLst/>
              <a:ahLst/>
              <a:cxnLst/>
              <a:rect l="l" t="t" r="r" b="b"/>
              <a:pathLst>
                <a:path w="10267950" h="9525">
                  <a:moveTo>
                    <a:pt x="0" y="0"/>
                  </a:moveTo>
                  <a:lnTo>
                    <a:pt x="10267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12000" y="784225"/>
              <a:ext cx="172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PART 3 · 边界与实录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842010" y="984250"/>
            <a:ext cx="4169988" cy="586740"/>
            <a:chOff x="842010" y="984250"/>
            <a:chExt cx="4169988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842010" y="984250"/>
              <a:ext cx="416998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明确不做 + 红线维持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47800"/>
              <a:ext cx="6096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ard-refusals"/>
          <p:cNvGrpSpPr/>
          <p:nvPr/>
        </p:nvGrpSpPr>
        <p:grpSpPr>
          <a:xfrm>
            <a:off x="762000" y="1619250"/>
            <a:ext cx="5219700" cy="3619500"/>
            <a:chOff x="762000" y="1619250"/>
            <a:chExt cx="52197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219700" cy="361950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9979" y="1877496"/>
              <a:ext cx="224134" cy="192560"/>
              <a:chOff x="1049979" y="1877496"/>
              <a:chExt cx="224134" cy="19256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62050" y="19478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9979" y="18774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62050" y="20256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18844" y="1816100"/>
              <a:ext cx="11887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三条不做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028700" y="2400300"/>
              <a:ext cx="266700" cy="266700"/>
            </a:xfrm>
            <a:prstGeom prst="ellipse">
              <a:avLst/>
            </a:prstGeom>
            <a:solidFill>
              <a:srgbClr val="C96A6A">
                <a:alpha val="1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04028" y="243840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96A6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1130" y="2298700"/>
              <a:ext cx="2864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jitmem 不引入差距比例采样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2654" y="2590800"/>
              <a:ext cx="3950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确定性 top-k 是可调试/可复现特性，随机化有害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28700" y="3219450"/>
              <a:ext cx="266700" cy="266700"/>
            </a:xfrm>
            <a:prstGeom prst="ellipse">
              <a:avLst/>
            </a:prstGeom>
            <a:solidFill>
              <a:srgbClr val="C96A6A">
                <a:alpha val="1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04028" y="325755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96A6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1130" y="3117850"/>
              <a:ext cx="2596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 / 生成式音频本体不做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2654" y="3409950"/>
              <a:ext cx="3644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零依赖红线；未来只可能 drivers 子进程形态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1028700" y="4038600"/>
              <a:ext cx="266700" cy="266700"/>
            </a:xfrm>
            <a:prstGeom prst="ellipse">
              <a:avLst/>
            </a:prstGeom>
            <a:solidFill>
              <a:srgbClr val="C96A6A">
                <a:alpha val="1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04028" y="407670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96A6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21130" y="3937000"/>
              <a:ext cx="2366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telemetry 冻结面不动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22654" y="4229100"/>
              <a:ext cx="4057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 事件 / 138 字段已过设计评审；约定立 README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2985" y="4775200"/>
              <a:ext cx="2478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主动放弃 —— 边界即设计的一部分</a:t>
              </a:r>
            </a:p>
          </p:txBody>
        </p:sp>
      </p:grpSp>
      <p:grpSp>
        <p:nvGrpSpPr>
          <p:cNvPr id="48" name="card-redlines"/>
          <p:cNvGrpSpPr/>
          <p:nvPr/>
        </p:nvGrpSpPr>
        <p:grpSpPr>
          <a:xfrm>
            <a:off x="6210300" y="1619250"/>
            <a:ext cx="5219700" cy="3619500"/>
            <a:chOff x="6210300" y="1619250"/>
            <a:chExt cx="5219700" cy="3619500"/>
          </a:xfrm>
        </p:grpSpPr>
        <p:sp>
          <p:nvSpPr>
            <p:cNvPr id="30" name="Rectangle 30"/>
            <p:cNvSpPr/>
            <p:nvPr/>
          </p:nvSpPr>
          <p:spPr>
            <a:xfrm>
              <a:off x="6210300" y="1619250"/>
              <a:ext cx="5219700" cy="361950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9525">
              <a:solidFill>
                <a:srgbClr val="9673A6">
                  <a:alpha val="50000"/>
                </a:srgbClr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95341" y="1881188"/>
              <a:ext cx="217008" cy="200025"/>
              <a:chOff x="6495341" y="1881188"/>
              <a:chExt cx="217008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95341" y="18811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22225">
                <a:solidFill>
                  <a:srgbClr val="A884C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643688" y="20367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A884C9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867144" y="1816100"/>
              <a:ext cx="17731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三条红线维持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77000" y="2400300"/>
              <a:ext cx="266700" cy="266700"/>
            </a:xfrm>
            <a:prstGeom prst="ellipse">
              <a:avLst/>
            </a:prstGeom>
            <a:solidFill>
              <a:srgbClr val="A884C9">
                <a:alpha val="1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2328" y="243840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84C9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69430" y="2298700"/>
              <a:ext cx="2038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生成式不进记忆链路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0954" y="2590800"/>
              <a:ext cx="3415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最优系统 WER 仍 8.22%——幻觉可压不可灭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77000" y="3219450"/>
              <a:ext cx="266700" cy="266700"/>
            </a:xfrm>
            <a:prstGeom prst="ellipse">
              <a:avLst/>
            </a:prstGeom>
            <a:solidFill>
              <a:srgbClr val="A884C9">
                <a:alpha val="16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2328" y="325755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84C9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69430" y="3117850"/>
              <a:ext cx="1813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产出只进评测副本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70954" y="3409950"/>
              <a:ext cx="4516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不进记忆副本（与 AGC「只作用送推理副本」同条红线）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7000" y="4038600"/>
              <a:ext cx="266700" cy="266700"/>
            </a:xfrm>
            <a:prstGeom prst="ellipse">
              <a:avLst/>
            </a:prstGeom>
            <a:solidFill>
              <a:srgbClr val="A884C9">
                <a:alpha val="1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2328" y="407670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84C9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69430" y="3937000"/>
              <a:ext cx="2296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保真 ≥60% 文档级约定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0954" y="4229100"/>
              <a:ext cx="2682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违规 review 层拦，不做代码强制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1285" y="4775200"/>
              <a:ext cx="2478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既有裁决维持 —— 不因新论文改判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762000" y="5867400"/>
            <a:ext cx="10668000" cy="400050"/>
            <a:chOff x="762000" y="5867400"/>
            <a:chExt cx="10668000" cy="400050"/>
          </a:xfrm>
        </p:grpSpPr>
        <p:sp>
          <p:nvSpPr>
            <p:cNvPr id="49" name="Rectangle 49"/>
            <p:cNvSpPr/>
            <p:nvPr/>
          </p:nvSpPr>
          <p:spPr>
            <a:xfrm>
              <a:off x="762000" y="5867400"/>
              <a:ext cx="10668000" cy="400050"/>
            </a:xfrm>
            <a:prstGeom prst="roundRect">
              <a:avLst>
                <a:gd name="adj" fmla="val 19048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2000" y="5867400"/>
              <a:ext cx="381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2218" y="5930900"/>
              <a:ext cx="59759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三不做三维持：边界先于功能——防走偏是交接的一部分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53" name="TextBox 53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781050" y="742950"/>
            <a:ext cx="10654665" cy="266700"/>
            <a:chOff x="781050" y="742950"/>
            <a:chExt cx="10654665" cy="266700"/>
          </a:xfrm>
        </p:grpSpPr>
        <p:sp>
          <p:nvSpPr>
            <p:cNvPr id="2" name="Ellipse 2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62050" y="876300"/>
              <a:ext cx="10267950" cy="9525"/>
            </a:xfrm>
            <a:custGeom>
              <a:avLst/>
              <a:gdLst/>
              <a:ahLst/>
              <a:cxnLst/>
              <a:rect l="l" t="t" r="r" b="b"/>
              <a:pathLst>
                <a:path w="10267950" h="9525">
                  <a:moveTo>
                    <a:pt x="0" y="0"/>
                  </a:moveTo>
                  <a:lnTo>
                    <a:pt x="10267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12000" y="784225"/>
              <a:ext cx="172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PART 3 · 边界与实录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842010" y="984250"/>
            <a:ext cx="5775350" cy="586740"/>
            <a:chOff x="842010" y="984250"/>
            <a:chExt cx="5775350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842010" y="984250"/>
              <a:ext cx="57753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Subagent-Driven 执行实录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47800"/>
              <a:ext cx="6096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ard-process"/>
          <p:cNvGrpSpPr/>
          <p:nvPr/>
        </p:nvGrpSpPr>
        <p:grpSpPr>
          <a:xfrm>
            <a:off x="762000" y="1619250"/>
            <a:ext cx="5219700" cy="3619500"/>
            <a:chOff x="762000" y="1619250"/>
            <a:chExt cx="52197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219700" cy="361950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3150" y="1888013"/>
              <a:ext cx="177801" cy="186375"/>
              <a:chOff x="1073150" y="1888013"/>
              <a:chExt cx="177801" cy="1863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73150" y="18880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3150" y="19923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18844" y="1816100"/>
              <a:ext cx="29863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SDD 流程（五步闭环）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8700" y="2362200"/>
              <a:ext cx="266700" cy="26670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04028" y="240030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1511" y="2260600"/>
              <a:ext cx="26000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每任务新实现者 + 独立评审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3035" y="2546350"/>
              <a:ext cx="3368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评审者复算锚点、重跑测试、论证字节级不变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28700" y="2933700"/>
              <a:ext cx="266700" cy="26670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04028" y="297180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1511" y="2832100"/>
              <a:ext cx="22127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终审 whole-plan Clean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3035" y="3117850"/>
              <a:ext cx="2274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跨任务整合 + 延后 Minor 分诊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028700" y="3505200"/>
              <a:ext cx="266700" cy="266700"/>
            </a:xfrm>
            <a:prstGeom prst="ellipse">
              <a:avLst/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04028" y="354330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1511" y="3403600"/>
              <a:ext cx="22134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 Minor 裁定修复波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23035" y="3689350"/>
              <a:ext cx="28647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新鲜代码真边界一行可修，不带债交接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1028700" y="4076700"/>
              <a:ext cx="266700" cy="26670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04028" y="411480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21511" y="3975100"/>
              <a:ext cx="2913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scoped 复审 both ADDRESSED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028700" y="4572000"/>
              <a:ext cx="266700" cy="26670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04028" y="4610100"/>
              <a:ext cx="116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21511" y="4470400"/>
              <a:ext cx="26000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台账 rulings 全录（var/）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2985" y="4927600"/>
              <a:ext cx="3217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控制器不亲自修码——评审是闸门，不是装饰</a:t>
              </a:r>
            </a:p>
          </p:txBody>
        </p:sp>
      </p:grpSp>
      <p:grpSp>
        <p:nvGrpSpPr>
          <p:cNvPr id="50" name="card-findings"/>
          <p:cNvGrpSpPr/>
          <p:nvPr/>
        </p:nvGrpSpPr>
        <p:grpSpPr>
          <a:xfrm>
            <a:off x="6210300" y="1619250"/>
            <a:ext cx="5219700" cy="3619500"/>
            <a:chOff x="6210300" y="1619250"/>
            <a:chExt cx="5219700" cy="3619500"/>
          </a:xfrm>
        </p:grpSpPr>
        <p:sp>
          <p:nvSpPr>
            <p:cNvPr id="35" name="Rectangle 35"/>
            <p:cNvSpPr/>
            <p:nvPr/>
          </p:nvSpPr>
          <p:spPr>
            <a:xfrm>
              <a:off x="6210300" y="1619250"/>
              <a:ext cx="5219700" cy="361950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532563" y="1892300"/>
              <a:ext cx="166687" cy="188913"/>
              <a:chOff x="6532563" y="1892300"/>
              <a:chExt cx="166687" cy="18891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32563" y="1892300"/>
                <a:ext cx="133350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7801">
                    <a:moveTo>
                      <a:pt x="51284" y="177801"/>
                    </a:move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32575" y="20367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77013" y="1936750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77013" y="198120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867144" y="1816100"/>
              <a:ext cx="30027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三查纪律抓到 5 条真错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9761" y="2317750"/>
              <a:ext cx="3195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测试计数漂移</a:t>
              </a:r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（写 20 实测 18）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9761" y="2679700"/>
              <a:ext cx="25361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名不副实的断言辅助函数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9761" y="3054350"/>
              <a:ext cx="28979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③ 值域 </a:t>
              </a:r>
              <a:r>
                <a:rPr lang="zh-CN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(0,1]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zh-CN" sz="14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[0,1]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闭端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9761" y="3403600"/>
              <a:ext cx="2259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④「追加一例」实为两例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9761" y="3765550"/>
              <a:ext cx="33660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⑤ fixture 自相矛盾</a:t>
              </a:r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（执行中抓到）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477000" y="42672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70142" y="4445000"/>
              <a:ext cx="4060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纪律有效，别省——已固化 plans/README.md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1285" y="4775200"/>
              <a:ext cx="4339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spec 覆盖 / 占位符扫描 / 类型一致性 + 跨 Task 原文重复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762000" y="5867400"/>
            <a:ext cx="10668000" cy="400050"/>
            <a:chOff x="762000" y="5867400"/>
            <a:chExt cx="10668000" cy="400050"/>
          </a:xfrm>
        </p:grpSpPr>
        <p:sp>
          <p:nvSpPr>
            <p:cNvPr id="51" name="Rectangle 51"/>
            <p:cNvSpPr/>
            <p:nvPr/>
          </p:nvSpPr>
          <p:spPr>
            <a:xfrm>
              <a:off x="762000" y="5867400"/>
              <a:ext cx="10668000" cy="400050"/>
            </a:xfrm>
            <a:prstGeom prst="roundRect">
              <a:avLst>
                <a:gd name="adj" fmla="val 19048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2000" y="5867400"/>
              <a:ext cx="381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2218" y="5930900"/>
              <a:ext cx="6519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每任务评审 + 终审 + 修复波：流程的质量不是承诺，是闸门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55" name="TextBox 55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781050" y="742950"/>
            <a:ext cx="10654665" cy="266700"/>
            <a:chOff x="781050" y="742950"/>
            <a:chExt cx="10654665" cy="266700"/>
          </a:xfrm>
        </p:grpSpPr>
        <p:sp>
          <p:nvSpPr>
            <p:cNvPr id="2" name="Ellipse 2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62050" y="876300"/>
              <a:ext cx="10267950" cy="9525"/>
            </a:xfrm>
            <a:custGeom>
              <a:avLst/>
              <a:gdLst/>
              <a:ahLst/>
              <a:cxnLst/>
              <a:rect l="l" t="t" r="r" b="b"/>
              <a:pathLst>
                <a:path w="10267950" h="9525">
                  <a:moveTo>
                    <a:pt x="0" y="0"/>
                  </a:moveTo>
                  <a:lnTo>
                    <a:pt x="10267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12000" y="784225"/>
              <a:ext cx="1723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PART 3 · 边界与实录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842010" y="984250"/>
            <a:ext cx="4076700" cy="586740"/>
            <a:chOff x="842010" y="984250"/>
            <a:chExt cx="4076700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842010" y="984250"/>
              <a:ext cx="40767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环境阻断与解锁路径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447800"/>
              <a:ext cx="6096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ard-archify"/>
          <p:cNvGrpSpPr/>
          <p:nvPr/>
        </p:nvGrpSpPr>
        <p:grpSpPr>
          <a:xfrm>
            <a:off x="762000" y="1619250"/>
            <a:ext cx="5219700" cy="3619500"/>
            <a:chOff x="762000" y="1619250"/>
            <a:chExt cx="52197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219700" cy="361950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9979" y="1877496"/>
              <a:ext cx="224134" cy="192560"/>
              <a:chOff x="1049979" y="1877496"/>
              <a:chExt cx="224134" cy="19256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62050" y="19478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9979" y="18774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62050" y="20256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18844" y="1816100"/>
              <a:ext cx="35542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archify 门禁（根因实证）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1842" y="2292350"/>
              <a:ext cx="3908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✓ validate（候选冻结）· render · check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1842" y="2673350"/>
              <a:ext cx="1925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6A6A"/>
                  </a:solidFill>
                  <a:latin typeface="+mn-lt"/>
                  <a:ea typeface="+mn-ea"/>
                  <a:cs typeface="+mn-cs"/>
                </a:rPr>
                <a:t>✗ deliver / finalize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1585" y="2965450"/>
              <a:ext cx="45920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本机 NTFS lstatSync().dev ≡ 0n，fstatSync().dev=卷 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51585" y="3194050"/>
              <a:ext cx="40401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投递锁身份校验恒拒（sameFileIdentity 恒 false）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1842" y="3549650"/>
              <a:ext cx="1763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6A6A"/>
                  </a:solidFill>
                  <a:latin typeface="+mn-lt"/>
                  <a:ea typeface="+mn-ea"/>
                  <a:cs typeface="+mn-cs"/>
                </a:rPr>
                <a:t>✗ browser-check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1585" y="3841750"/>
              <a:ext cx="350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Chrome 可用但巡检不完成（同类宿主不兼容）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028700" y="42481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63791" y="4476750"/>
              <a:ext cx="155409" cy="155409"/>
              <a:chOff x="1063791" y="4476750"/>
              <a:chExt cx="155409" cy="15540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66800" y="44767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85725"/>
                    </a:moveTo>
                    <a:cubicBezTo>
                      <a:pt x="34959" y="89880"/>
                      <a:pt x="62520" y="117441"/>
                      <a:pt x="66675" y="152400"/>
                    </a:cubicBezTo>
                    <a:cubicBezTo>
                      <a:pt x="83792" y="142532"/>
                      <a:pt x="94598" y="124522"/>
                      <a:pt x="95250" y="104775"/>
                    </a:cubicBezTo>
                    <a:cubicBezTo>
                      <a:pt x="127957" y="93269"/>
                      <a:pt x="150512" y="63195"/>
                      <a:pt x="152400" y="28575"/>
                    </a:cubicBezTo>
                    <a:cubicBezTo>
                      <a:pt x="152400" y="12793"/>
                      <a:pt x="139607" y="0"/>
                      <a:pt x="123825" y="0"/>
                    </a:cubicBezTo>
                    <a:cubicBezTo>
                      <a:pt x="89205" y="1888"/>
                      <a:pt x="59131" y="24443"/>
                      <a:pt x="47625" y="57150"/>
                    </a:cubicBezTo>
                    <a:cubicBezTo>
                      <a:pt x="27878" y="57802"/>
                      <a:pt x="9868" y="68608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63791" y="4572000"/>
                <a:ext cx="60159" cy="60159"/>
              </a:xfrm>
              <a:custGeom>
                <a:avLst/>
                <a:gdLst/>
                <a:ahLst/>
                <a:cxnLst/>
                <a:rect l="l" t="t" r="r" b="b"/>
                <a:pathLst>
                  <a:path w="60159" h="60159">
                    <a:moveTo>
                      <a:pt x="31584" y="0"/>
                    </a:moveTo>
                    <a:cubicBezTo>
                      <a:pt x="11304" y="11449"/>
                      <a:pt x="0" y="34057"/>
                      <a:pt x="3009" y="57150"/>
                    </a:cubicBezTo>
                    <a:cubicBezTo>
                      <a:pt x="26101" y="60159"/>
                      <a:pt x="48710" y="48854"/>
                      <a:pt x="60159" y="2857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62050" y="45148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365123" y="4457700"/>
              <a:ext cx="389732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健康环境重跑 finalize 即补齐（候选已冻结）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2985" y="4832350"/>
              <a:ext cx="4131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证据链 .archify/architecture-aurase-adoption-*/</a:t>
              </a:r>
            </a:p>
          </p:txBody>
        </p:sp>
      </p:grpSp>
      <p:grpSp>
        <p:nvGrpSpPr>
          <p:cNvPr id="55" name="card-e2e"/>
          <p:cNvGrpSpPr/>
          <p:nvPr/>
        </p:nvGrpSpPr>
        <p:grpSpPr>
          <a:xfrm>
            <a:off x="6210300" y="1619250"/>
            <a:ext cx="5219700" cy="3619500"/>
            <a:chOff x="6210300" y="1619250"/>
            <a:chExt cx="5219700" cy="3619500"/>
          </a:xfrm>
        </p:grpSpPr>
        <p:sp>
          <p:nvSpPr>
            <p:cNvPr id="30" name="Rectangle 30"/>
            <p:cNvSpPr/>
            <p:nvPr/>
          </p:nvSpPr>
          <p:spPr>
            <a:xfrm>
              <a:off x="6210300" y="1619250"/>
              <a:ext cx="5219700" cy="361950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10338" y="1881190"/>
              <a:ext cx="200023" cy="200023"/>
              <a:chOff x="6510338" y="188119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10338" y="18811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643688" y="19478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C96A6A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867144" y="1816100"/>
              <a:ext cx="36600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evolve e2e（继承 RSI 波）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142" y="2292350"/>
              <a:ext cx="1800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6A6A"/>
                  </a:solidFill>
                  <a:latin typeface="+mn-lt"/>
                  <a:ea typeface="+mn-ea"/>
                  <a:cs typeface="+mn-cs"/>
                </a:rPr>
                <a:t>LLM 后端 BLOCKED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99885" y="2584450"/>
              <a:ext cx="3401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唯一 key 是内网网关会话密钥（七端点 401）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99885" y="2813050"/>
              <a:ext cx="2798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网关域名公网 NXDOMAIN · 无 ollama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512091" y="3219450"/>
              <a:ext cx="155409" cy="155409"/>
              <a:chOff x="6512091" y="3219450"/>
              <a:chExt cx="155409" cy="15540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515100" y="32194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85725"/>
                    </a:moveTo>
                    <a:cubicBezTo>
                      <a:pt x="34959" y="89880"/>
                      <a:pt x="62520" y="117441"/>
                      <a:pt x="66675" y="152400"/>
                    </a:cubicBezTo>
                    <a:cubicBezTo>
                      <a:pt x="83792" y="142532"/>
                      <a:pt x="94598" y="124522"/>
                      <a:pt x="95250" y="104775"/>
                    </a:cubicBezTo>
                    <a:cubicBezTo>
                      <a:pt x="127957" y="93269"/>
                      <a:pt x="150512" y="63195"/>
                      <a:pt x="152400" y="28575"/>
                    </a:cubicBezTo>
                    <a:cubicBezTo>
                      <a:pt x="152400" y="12793"/>
                      <a:pt x="139607" y="0"/>
                      <a:pt x="123825" y="0"/>
                    </a:cubicBezTo>
                    <a:cubicBezTo>
                      <a:pt x="89205" y="1888"/>
                      <a:pt x="59131" y="24443"/>
                      <a:pt x="47625" y="57150"/>
                    </a:cubicBezTo>
                    <a:cubicBezTo>
                      <a:pt x="27878" y="57802"/>
                      <a:pt x="9868" y="68608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12091" y="3314700"/>
                <a:ext cx="60159" cy="60159"/>
              </a:xfrm>
              <a:custGeom>
                <a:avLst/>
                <a:gdLst/>
                <a:ahLst/>
                <a:cxnLst/>
                <a:rect l="l" t="t" r="r" b="b"/>
                <a:pathLst>
                  <a:path w="60159" h="60159">
                    <a:moveTo>
                      <a:pt x="31584" y="0"/>
                    </a:moveTo>
                    <a:cubicBezTo>
                      <a:pt x="11304" y="11449"/>
                      <a:pt x="0" y="34057"/>
                      <a:pt x="3009" y="57150"/>
                    </a:cubicBezTo>
                    <a:cubicBezTo>
                      <a:pt x="26101" y="60159"/>
                      <a:pt x="48710" y="48854"/>
                      <a:pt x="60159" y="2857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10350" y="32575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813423" y="3200400"/>
              <a:ext cx="35612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解锁：装 ollama 或任一 OpenAI 兼容 key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99885" y="3498850"/>
              <a:ext cx="433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scripts/evolve_e2e.py 已写成代码（followups T3）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477000" y="39243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524625" y="4152900"/>
              <a:ext cx="142875" cy="152400"/>
              <a:chOff x="6524625" y="4152900"/>
              <a:chExt cx="142875" cy="1524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524625" y="42672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2462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1987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43675" y="41910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62725" y="4219575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66675"/>
                    </a:moveTo>
                    <a:lnTo>
                      <a:pt x="57150" y="66675"/>
                    </a:lnTo>
                    <a:cubicBezTo>
                      <a:pt x="67671" y="66675"/>
                      <a:pt x="76200" y="58146"/>
                      <a:pt x="76200" y="47625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10350" y="42195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813423" y="4133850"/>
              <a:ext cx="33794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分支：aor-waves 已并 master 删分支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99885" y="4432300"/>
              <a:ext cx="2831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本波全部提交在 master（交接时点）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71285" y="4832350"/>
              <a:ext cx="4157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解锁后首跑：事件循环让出验证 + checkpoint 布局钉死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762000" y="5867400"/>
            <a:ext cx="10668000" cy="400050"/>
            <a:chOff x="762000" y="5867400"/>
            <a:chExt cx="10668000" cy="400050"/>
          </a:xfrm>
        </p:grpSpPr>
        <p:sp>
          <p:nvSpPr>
            <p:cNvPr id="56" name="Rectangle 56"/>
            <p:cNvSpPr/>
            <p:nvPr/>
          </p:nvSpPr>
          <p:spPr>
            <a:xfrm>
              <a:off x="762000" y="5867400"/>
              <a:ext cx="10668000" cy="400050"/>
            </a:xfrm>
            <a:prstGeom prst="roundRect">
              <a:avLst>
                <a:gd name="adj" fmla="val 19048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62000" y="5867400"/>
              <a:ext cx="381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82218" y="5930900"/>
              <a:ext cx="71842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两处外部 BLOCKED 已根因实证并有解锁路径——不阻塞治理面主线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60" name="TextBox 60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781050" y="742950"/>
            <a:ext cx="7219950" cy="266700"/>
            <a:chOff x="781050" y="742950"/>
            <a:chExt cx="7219950" cy="266700"/>
          </a:xfrm>
        </p:grpSpPr>
        <p:sp>
          <p:nvSpPr>
            <p:cNvPr id="2" name="Ellipse 2"/>
            <p:cNvSpPr/>
            <p:nvPr/>
          </p:nvSpPr>
          <p:spPr>
            <a:xfrm>
              <a:off x="781050" y="742950"/>
              <a:ext cx="266700" cy="266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6775" y="828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62050" y="876300"/>
              <a:ext cx="6838950" cy="9525"/>
            </a:xfrm>
            <a:custGeom>
              <a:avLst/>
              <a:gdLst/>
              <a:ahLst/>
              <a:cxnLst/>
              <a:rect l="l" t="t" r="r" b="b"/>
              <a:pathLst>
                <a:path w="6838950" h="9525">
                  <a:moveTo>
                    <a:pt x="0" y="0"/>
                  </a:moveTo>
                  <a:lnTo>
                    <a:pt x="6838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8" name="page-title"/>
          <p:cNvGrpSpPr/>
          <p:nvPr/>
        </p:nvGrpSpPr>
        <p:grpSpPr>
          <a:xfrm>
            <a:off x="842010" y="984250"/>
            <a:ext cx="1828800" cy="586740"/>
            <a:chOff x="842010" y="984250"/>
            <a:chExt cx="182880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842010" y="984250"/>
              <a:ext cx="1828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资产索引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57250" y="1447800"/>
              <a:ext cx="6096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ard-docs"/>
          <p:cNvGrpSpPr/>
          <p:nvPr/>
        </p:nvGrpSpPr>
        <p:grpSpPr>
          <a:xfrm>
            <a:off x="762000" y="1619250"/>
            <a:ext cx="5299319" cy="3543300"/>
            <a:chOff x="762000" y="1619250"/>
            <a:chExt cx="5299319" cy="3543300"/>
          </a:xfrm>
        </p:grpSpPr>
        <p:sp>
          <p:nvSpPr>
            <p:cNvPr id="9" name="Rectangle 9"/>
            <p:cNvSpPr/>
            <p:nvPr/>
          </p:nvSpPr>
          <p:spPr>
            <a:xfrm>
              <a:off x="762000" y="1619250"/>
              <a:ext cx="5219700" cy="3543300"/>
            </a:xfrm>
            <a:prstGeom prst="roundRect">
              <a:avLst>
                <a:gd name="adj" fmla="val 322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59656" y="1870075"/>
              <a:ext cx="198491" cy="185737"/>
              <a:chOff x="1059656" y="1870075"/>
              <a:chExt cx="198491" cy="18573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59656" y="1870075"/>
                <a:ext cx="185737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099">
                    <a:moveTo>
                      <a:pt x="92868" y="149621"/>
                    </a:moveTo>
                    <a:lnTo>
                      <a:pt x="61912" y="134143"/>
                    </a:lnTo>
                    <a:lnTo>
                      <a:pt x="0" y="165099"/>
                    </a:lnTo>
                    <a:lnTo>
                      <a:pt x="0" y="30956"/>
                    </a:lnTo>
                    <a:lnTo>
                      <a:pt x="61912" y="0"/>
                    </a:lnTo>
                    <a:lnTo>
                      <a:pt x="123825" y="30956"/>
                    </a:lnTo>
                    <a:lnTo>
                      <a:pt x="185737" y="0"/>
                    </a:lnTo>
                    <a:lnTo>
                      <a:pt x="185737" y="7739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1568" y="1870075"/>
                <a:ext cx="9525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3">
                    <a:moveTo>
                      <a:pt x="0" y="0"/>
                    </a:moveTo>
                    <a:lnTo>
                      <a:pt x="0" y="13414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83481" y="1901031"/>
                <a:ext cx="9525" cy="5675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6753">
                    <a:moveTo>
                      <a:pt x="0" y="0"/>
                    </a:moveTo>
                    <a:lnTo>
                      <a:pt x="0" y="5675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91364" y="1983574"/>
                <a:ext cx="66783" cy="72238"/>
              </a:xfrm>
              <a:custGeom>
                <a:avLst/>
                <a:gdLst/>
                <a:ahLst/>
                <a:cxnLst/>
                <a:rect l="l" t="t" r="r" b="b"/>
                <a:pathLst>
                  <a:path w="66783" h="72238">
                    <a:moveTo>
                      <a:pt x="55278" y="52849"/>
                    </a:moveTo>
                    <a:cubicBezTo>
                      <a:pt x="64133" y="43996"/>
                      <a:pt x="66783" y="30681"/>
                      <a:pt x="61992" y="19112"/>
                    </a:cubicBezTo>
                    <a:cubicBezTo>
                      <a:pt x="57201" y="7543"/>
                      <a:pt x="45913" y="0"/>
                      <a:pt x="33392" y="0"/>
                    </a:cubicBezTo>
                    <a:cubicBezTo>
                      <a:pt x="20870" y="0"/>
                      <a:pt x="9582" y="7543"/>
                      <a:pt x="4791" y="19112"/>
                    </a:cubicBezTo>
                    <a:cubicBezTo>
                      <a:pt x="0" y="30681"/>
                      <a:pt x="2650" y="43996"/>
                      <a:pt x="11506" y="52849"/>
                    </a:cubicBezTo>
                    <a:cubicBezTo>
                      <a:pt x="15819" y="57172"/>
                      <a:pt x="23114" y="63632"/>
                      <a:pt x="33392" y="72238"/>
                    </a:cubicBezTo>
                    <a:cubicBezTo>
                      <a:pt x="44237" y="63054"/>
                      <a:pt x="51542" y="56594"/>
                      <a:pt x="55278" y="5284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24756" y="2014537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81506" y="1803400"/>
              <a:ext cx="1097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文档与图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068387" y="2317750"/>
              <a:ext cx="111125" cy="127000"/>
              <a:chOff x="1068387" y="2317750"/>
              <a:chExt cx="111125" cy="127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068387" y="2317750"/>
                <a:ext cx="111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000">
                    <a:moveTo>
                      <a:pt x="111125" y="0"/>
                    </a:moveTo>
                    <a:lnTo>
                      <a:pt x="111125" y="127000"/>
                    </a:lnTo>
                    <a:lnTo>
                      <a:pt x="15875" y="127000"/>
                    </a:lnTo>
                    <a:cubicBezTo>
                      <a:pt x="7107" y="127000"/>
                      <a:pt x="0" y="119892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111125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68387" y="2413000"/>
                <a:ext cx="11112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5875">
                    <a:moveTo>
                      <a:pt x="111125" y="0"/>
                    </a:moveTo>
                    <a:lnTo>
                      <a:pt x="15875" y="0"/>
                    </a:ln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100137" y="23495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327404" y="2286000"/>
              <a:ext cx="43572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交接文档（L0–L4）</a:t>
              </a:r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 guide/aurase-adoption-handover.md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068387" y="2728912"/>
              <a:ext cx="111125" cy="142875"/>
              <a:chOff x="1068387" y="2728912"/>
              <a:chExt cx="111125" cy="1428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139825" y="2728912"/>
                <a:ext cx="39687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39687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7"/>
                      <a:pt x="7937" y="39687"/>
                    </a:cubicBezTo>
                    <a:lnTo>
                      <a:pt x="39687" y="39687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68387" y="272891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7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7" y="0"/>
                    </a:lnTo>
                    <a:lnTo>
                      <a:pt x="111125" y="39687"/>
                    </a:lnTo>
                    <a:lnTo>
                      <a:pt x="111125" y="127000"/>
                    </a:lnTo>
                    <a:cubicBezTo>
                      <a:pt x="111125" y="135767"/>
                      <a:pt x="104017" y="142875"/>
                      <a:pt x="95250" y="142875"/>
                    </a:cubicBez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00137" y="2776537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00137" y="2808287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00137" y="2840037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327404" y="2705100"/>
              <a:ext cx="4448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调研主篇（§4 裁决）</a:t>
              </a:r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 research/2026-10-09-aurase-ipo.md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060450" y="3155950"/>
              <a:ext cx="127000" cy="127000"/>
              <a:chOff x="1060450" y="3155950"/>
              <a:chExt cx="127000" cy="127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060450" y="3155950"/>
                <a:ext cx="127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">
                    <a:moveTo>
                      <a:pt x="63500" y="0"/>
                    </a:moveTo>
                    <a:lnTo>
                      <a:pt x="0" y="31750"/>
                    </a:lnTo>
                    <a:lnTo>
                      <a:pt x="63500" y="63500"/>
                    </a:lnTo>
                    <a:lnTo>
                      <a:pt x="127000" y="31750"/>
                    </a:lnTo>
                    <a:lnTo>
                      <a:pt x="63500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60450" y="3219450"/>
                <a:ext cx="1270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31750">
                    <a:moveTo>
                      <a:pt x="0" y="0"/>
                    </a:moveTo>
                    <a:lnTo>
                      <a:pt x="63500" y="31750"/>
                    </a:ln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60450" y="3251200"/>
                <a:ext cx="1270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31750">
                    <a:moveTo>
                      <a:pt x="0" y="0"/>
                    </a:moveTo>
                    <a:lnTo>
                      <a:pt x="63500" y="31750"/>
                    </a:ln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327404" y="3124200"/>
              <a:ext cx="4726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archify 交互图</a:t>
              </a:r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 diagrams/aurase-adoption-architecture.html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1052512" y="3567112"/>
              <a:ext cx="142875" cy="142875"/>
              <a:chOff x="1052512" y="3567112"/>
              <a:chExt cx="142875" cy="14287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52512" y="3678237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63637" y="3567112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15875" y="31750"/>
                    </a:move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  <a:cubicBezTo>
                      <a:pt x="0" y="24643"/>
                      <a:pt x="7107" y="31750"/>
                      <a:pt x="15875" y="31750"/>
                    </a:cubicBez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68387" y="3582987"/>
                <a:ext cx="119062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1125">
                    <a:moveTo>
                      <a:pt x="47625" y="111125"/>
                    </a:moveTo>
                    <a:lnTo>
                      <a:pt x="91281" y="111125"/>
                    </a:lnTo>
                    <a:cubicBezTo>
                      <a:pt x="106624" y="111125"/>
                      <a:pt x="119062" y="98687"/>
                      <a:pt x="119062" y="83344"/>
                    </a:cubicBezTo>
                    <a:cubicBezTo>
                      <a:pt x="119062" y="68001"/>
                      <a:pt x="106624" y="55562"/>
                      <a:pt x="91281" y="55562"/>
                    </a:cubicBezTo>
                    <a:lnTo>
                      <a:pt x="27781" y="55562"/>
                    </a:lnTo>
                    <a:cubicBezTo>
                      <a:pt x="12438" y="55562"/>
                      <a:pt x="0" y="43124"/>
                      <a:pt x="0" y="27781"/>
                    </a:cubicBezTo>
                    <a:cubicBezTo>
                      <a:pt x="0" y="12438"/>
                      <a:pt x="12438" y="0"/>
                      <a:pt x="27781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327404" y="3543300"/>
              <a:ext cx="4501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drawio 结构图</a:t>
              </a:r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 diagrams/aurase-adoption-handover.drawio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052512" y="3994150"/>
              <a:ext cx="142875" cy="136525"/>
              <a:chOff x="1052512" y="3994150"/>
              <a:chExt cx="142875" cy="1365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52512" y="39941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60450" y="3994150"/>
                <a:ext cx="127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0">
                    <a:moveTo>
                      <a:pt x="0" y="0"/>
                    </a:moveTo>
                    <a:lnTo>
                      <a:pt x="0" y="79375"/>
                    </a:lnTo>
                    <a:cubicBezTo>
                      <a:pt x="0" y="88142"/>
                      <a:pt x="7107" y="95250"/>
                      <a:pt x="15875" y="95250"/>
                    </a:cubicBezTo>
                    <a:lnTo>
                      <a:pt x="111125" y="95250"/>
                    </a:lnTo>
                    <a:cubicBezTo>
                      <a:pt x="119892" y="95250"/>
                      <a:pt x="127000" y="88142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23950" y="40894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00137" y="412115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92200" y="40259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23812" y="7937"/>
                    </a:lnTo>
                    <a:lnTo>
                      <a:pt x="39687" y="23812"/>
                    </a:lnTo>
                    <a:lnTo>
                      <a:pt x="63500" y="0"/>
                    </a:lnTo>
                  </a:path>
                </a:pathLst>
              </a:custGeom>
              <a:noFill/>
              <a:ln w="15875">
                <a:solidFill>
                  <a:srgbClr val="8B95A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327404" y="3962400"/>
              <a:ext cx="4212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HTML 演示稿</a:t>
              </a:r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 ppt/laos-aurase-adoption-handover.html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2985" y="4489450"/>
              <a:ext cx="5038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规划与执行：plans/2026-10-09-aurase-adoption.md（已执行）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2985" y="4737100"/>
              <a:ext cx="4383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复现资产：Repro-ZCode repro/aurase_ipo.py（23 测）</a:t>
              </a:r>
            </a:p>
          </p:txBody>
        </p:sp>
      </p:grpSp>
      <p:grpSp>
        <p:nvGrpSpPr>
          <p:cNvPr id="64" name="card-commits"/>
          <p:cNvGrpSpPr/>
          <p:nvPr/>
        </p:nvGrpSpPr>
        <p:grpSpPr>
          <a:xfrm>
            <a:off x="6210300" y="1619250"/>
            <a:ext cx="5219700" cy="3543300"/>
            <a:chOff x="6210300" y="1619250"/>
            <a:chExt cx="5219700" cy="3543300"/>
          </a:xfrm>
        </p:grpSpPr>
        <p:sp>
          <p:nvSpPr>
            <p:cNvPr id="49" name="Rectangle 49"/>
            <p:cNvSpPr/>
            <p:nvPr/>
          </p:nvSpPr>
          <p:spPr>
            <a:xfrm>
              <a:off x="6210300" y="1619250"/>
              <a:ext cx="5219700" cy="3543300"/>
            </a:xfrm>
            <a:prstGeom prst="roundRect">
              <a:avLst>
                <a:gd name="adj" fmla="val 322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569868" y="1859756"/>
              <a:ext cx="61912" cy="185737"/>
              <a:chOff x="6569868" y="1859756"/>
              <a:chExt cx="61912" cy="18573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569868" y="1921668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30956"/>
                    </a:moveTo>
                    <a:cubicBezTo>
                      <a:pt x="0" y="48053"/>
                      <a:pt x="13860" y="61912"/>
                      <a:pt x="30956" y="61912"/>
                    </a:cubicBezTo>
                    <a:cubicBezTo>
                      <a:pt x="48053" y="61912"/>
                      <a:pt x="61912" y="48053"/>
                      <a:pt x="61912" y="30956"/>
                    </a:cubicBezTo>
                    <a:cubicBezTo>
                      <a:pt x="61912" y="13860"/>
                      <a:pt x="48053" y="0"/>
                      <a:pt x="30956" y="0"/>
                    </a:cubicBezTo>
                    <a:cubicBezTo>
                      <a:pt x="13860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00825" y="1859756"/>
                <a:ext cx="95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1912">
                    <a:moveTo>
                      <a:pt x="0" y="0"/>
                    </a:moveTo>
                    <a:lnTo>
                      <a:pt x="0" y="61912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600825" y="1983581"/>
                <a:ext cx="95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1912">
                    <a:moveTo>
                      <a:pt x="0" y="0"/>
                    </a:moveTo>
                    <a:lnTo>
                      <a:pt x="0" y="61912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829806" y="1803400"/>
              <a:ext cx="42857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 commit（master · 时间序）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70904" y="2260600"/>
              <a:ext cx="1819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baddb0c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 xml:space="preserve"> 调研 + 复现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0904" y="2546350"/>
              <a:ext cx="26017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ebec4c9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 xml:space="preserve"> 计划（三查修错四条）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0904" y="2832100"/>
              <a:ext cx="2991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55e787c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RewardSpec + aggregate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70904" y="3117850"/>
              <a:ext cx="2359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8a28b82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 xml:space="preserve"> 契约 + 审计条件键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70904" y="3403600"/>
              <a:ext cx="2683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2fdbb69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 xml:space="preserve"> drivers/README 立约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70904" y="3689350"/>
              <a:ext cx="2607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99af75d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 xml:space="preserve"> null/NaN 边界修复波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70904" y="3975100"/>
              <a:ext cx="3150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ec448f6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 xml:space="preserve"> 登记收尾 · </a:t>
              </a:r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b9a4dc1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 xml:space="preserve"> 交接包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70904" y="4260850"/>
              <a:ext cx="1882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d994bc2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 xml:space="preserve"> 分支状态修正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71285" y="4699000"/>
              <a:ext cx="4266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姊妹交接：rsi-evolve-handover.md（openevolve 波）</a:t>
              </a:r>
            </a:p>
          </p:txBody>
        </p:sp>
      </p:grpSp>
      <p:grpSp>
        <p:nvGrpSpPr>
          <p:cNvPr id="69" name="closing-band"/>
          <p:cNvGrpSpPr/>
          <p:nvPr/>
        </p:nvGrpSpPr>
        <p:grpSpPr>
          <a:xfrm>
            <a:off x="762000" y="5429250"/>
            <a:ext cx="10668000" cy="768731"/>
            <a:chOff x="762000" y="5429250"/>
            <a:chExt cx="10668000" cy="768731"/>
          </a:xfrm>
        </p:grpSpPr>
        <p:sp>
          <p:nvSpPr>
            <p:cNvPr id="65" name="Rectangle 65"/>
            <p:cNvSpPr/>
            <p:nvPr/>
          </p:nvSpPr>
          <p:spPr>
            <a:xfrm>
              <a:off x="762000" y="5429250"/>
              <a:ext cx="10668000" cy="704850"/>
            </a:xfrm>
            <a:prstGeom prst="roundRect">
              <a:avLst>
                <a:gd name="adj" fmla="val 16216"/>
              </a:avLst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62000" y="5429250"/>
              <a:ext cx="57150" cy="704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4994" y="5530850"/>
              <a:ext cx="40795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沿本页索引，1 分钟找到一切；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94994" y="5816600"/>
              <a:ext cx="26498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红线五条，不可碰。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851535" y="6451600"/>
            <a:ext cx="10488930" cy="220028"/>
            <a:chOff x="851535" y="6451600"/>
            <a:chExt cx="10488930" cy="220028"/>
          </a:xfrm>
        </p:grpSpPr>
        <p:sp>
          <p:nvSpPr>
            <p:cNvPr id="70" name="TextBox 70"/>
            <p:cNvSpPr txBox="1"/>
            <p:nvPr/>
          </p:nvSpPr>
          <p:spPr>
            <a:xfrm>
              <a:off x="851535" y="6451600"/>
              <a:ext cx="296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nanoLAOS · AuraSE 取长补短波次交接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93228" y="6451600"/>
              <a:ext cx="344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marL="120904" indent="-120904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v0.35.1 · 1121 tests（master，未推送）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urase-handover">
  <a:themeElements>
    <a:clrScheme name="aurase-handover">
      <a:dk1>
        <a:srgbClr val="E8ECF3"/>
      </a:dk1>
      <a:lt1>
        <a:srgbClr val="0B0E14"/>
      </a:lt1>
      <a:dk2>
        <a:srgbClr val="1F497D"/>
      </a:dk2>
      <a:lt2>
        <a:srgbClr val="151A24"/>
      </a:lt2>
      <a:accent1>
        <a:srgbClr val="6C9BD1"/>
      </a:accent1>
      <a:accent2>
        <a:srgbClr val="D4A24E"/>
      </a:accent2>
      <a:accent3>
        <a:srgbClr val="7CB98A"/>
      </a:accent3>
      <a:accent4>
        <a:srgbClr val="6C9BD1"/>
      </a:accent4>
      <a:accent5>
        <a:srgbClr val="8B95A7"/>
      </a:accent5>
      <a:accent6>
        <a:srgbClr val="2A3346"/>
      </a:accent6>
      <a:hlink>
        <a:srgbClr val="D4A24E"/>
      </a:hlink>
      <a:folHlink>
        <a:srgbClr val="7CB98A"/>
      </a:folHlink>
    </a:clrScheme>
    <a:fontScheme name="aurase-handove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rase-handov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urase-handover">
  <a:themeElements>
    <a:clrScheme name="aurase-handover">
      <a:dk1>
        <a:srgbClr val="E8ECF3"/>
      </a:dk1>
      <a:lt1>
        <a:srgbClr val="0B0E14"/>
      </a:lt1>
      <a:dk2>
        <a:srgbClr val="1F497D"/>
      </a:dk2>
      <a:lt2>
        <a:srgbClr val="151A24"/>
      </a:lt2>
      <a:accent1>
        <a:srgbClr val="6C9BD1"/>
      </a:accent1>
      <a:accent2>
        <a:srgbClr val="D4A24E"/>
      </a:accent2>
      <a:accent3>
        <a:srgbClr val="7CB98A"/>
      </a:accent3>
      <a:accent4>
        <a:srgbClr val="6C9BD1"/>
      </a:accent4>
      <a:accent5>
        <a:srgbClr val="8B95A7"/>
      </a:accent5>
      <a:accent6>
        <a:srgbClr val="2A3346"/>
      </a:accent6>
      <a:hlink>
        <a:srgbClr val="D4A24E"/>
      </a:hlink>
      <a:folHlink>
        <a:srgbClr val="7CB98A"/>
      </a:folHlink>
    </a:clrScheme>
    <a:fontScheme name="aurase-handove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rase-handov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2026-10-11T00:52:28Z</dcterms:created>
  <dcterms:modified xsi:type="dcterms:W3CDTF">2026-10-11T00:52:28Z</dcterms:modified>
  <cp:category/>
  <cp:contentStatus/>
</cp:coreProperties>
</file>