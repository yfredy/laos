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 autoCompressPictures="0">
  <p:sldMasterIdLst>
    <p:sldMasterId id="2147483648" r:id="rId1"/>
  </p:sldMasterIdLst>
  <p:notesMasterIdLst>
    <p:notesMasterId r:id="rId19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2000" cy="6858000" type="screen16x9"/>
  <p:notesSz cx="6858000" cy="9144000"/>
  <p:defaultTextStyle>
    <a:defPPr>
      <a:defRPr lang="zh-CN"/>
    </a:defPPr>
    <a:lvl1pPr marL="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  <Relationship Id="rId19" Type="http://schemas.openxmlformats.org/officeDocument/2006/relationships/notesMaster" Target="notesMasters/notesMaster1.xml"/>
</Relationships>
</file>

<file path=ppt/notesMasters/_rels/notesMaster1.xml.rels><?xml version="1.0" encoding="UTF-8" standalone="yes"?>
<Relationships xmlns="http://schemas.openxmlformats.org/package/2006/relationships">
  <Relationship Id="rId1" Type="http://schemas.openxmlformats.org/officeDocument/2006/relationships/theme" Target="../theme/theme2.xml"/>
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/>
  <p:notesStyle>
    <a:lvl1pPr marL="0" algn="l">
      <a:defRPr sz="1200" lang="zh-CN"/>
    </a:lvl1pPr>
  </p:notesStyle>
</p:notesMaster>
</file>

<file path=ppt/notesSlides/_rels/notesSlide1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.xml"/>
</Relationships>
</file>

<file path=ppt/notesSlides/_rels/notesSlide2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.xml"/>
</Relationships>
</file>

<file path=ppt/notesSlides/_rels/notesSlide3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3.xml"/>
</Relationships>
</file>

<file path=ppt/notesSlides/_rels/notesSlide4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4.xml"/>
</Relationships>
</file>

<file path=ppt/notesSlides/_rels/notesSlide5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5.xml"/>
</Relationships>
</file>

<file path=ppt/notesSlides/_rels/notesSlide6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6.xml"/>
</Relationships>
</file>

<file path=ppt/notesSlides/_rels/notesSlide7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7.xml"/>
</Relationships>
</file>

<file path=ppt/notesSlides/_rels/notesSlide8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8.xml"/>
</Relationships>
</file>

<file path=ppt/notesSlides/_rels/notesSlide9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9.xml"/>
</Relationships>
</file>

<file path=ppt/notesSlides/_rels/notesSlide10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0.xml"/>
</Relationships>
</file>

<file path=ppt/notesSlides/_rels/notesSlide11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1.xml"/>
</Relationships>
</file>

<file path=ppt/notesSlides/_rels/notesSlide12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2.xml"/>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这是 laos 递归自我改进驱动波次的交接。一个会自改写的负载，第一次以受治理的方式进入系统：进化循环在 venv 子进程里跑，治理常驻内核。请记住封面这句话——内核不自改写，负载可以，但每个自改写动作都过闸、留痕、可回滚。这是整个波次的题眼，后面每一页都在兑现它。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先用六十秒看全貌。本波从 RSI 方向调研起步，经过八任务计划、venv 安装 OpenEvolve 零点四点零的试跑，然后落地核心作业面、内核 syscall 和驱动三层代码，最后经终审修复波合并进 master，合并点是 565dec8。交付规模：主套件 1085 绿，新增三十一例离线测试，六个新文件，八个波次提交。试跑首跑与端到端两件事按预案收档，因为当时没有可用的模型后端，后面会专门讲。后续还有三件待执行。当前主库已经是一千一百二十一绿，那是录音回放波并入之后的数字，本页保持合并点口径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为什么这个架构值得信。它不是我们发明的立场，是行业自己的论证：Lilian Weng 二〇二六年七月的综述把"评估器与权限控制应放在进化循环之外"列为递归自我改进的五大瓶颈之一；AIDE² 的实证是 reward hacking 从百分之五十五降到百分之三十二，但仍有三十二且不是显式优化所得；ICLR 二六 workshop 一百一十篇里安全与评测类占比显著。laos 的对应动作是操作系统史的常识：当负载会自改写时，回应是 W 异或、不可变内核文本、代码签名。laos 不做改进算法，它做的是这套负载的 cgroup、seccomp 和 audit。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系统分三层，调用方向自上而下。第一层循环外是 laos 核心，纯标准库，包含作业面 evolve.py、内核的 evolve.run syscall、sentinel 判定和双行审计；红线是不进重依赖，也不被进化的 agent 触碰。第二层装配面是 drivers 目录，导入即登记，重依赖止步于此，核心对 openevolve 零感知。第三层循环内是 venv 子进程，跑官方命令行界面，产物落盘 checkpoints；注意模型后端当前是收档状态。三层的依赖纪律就是这套架构的全部：治理代码永远不被被优化的对象改写。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一次 evolve.run 调用要过九道闸。从能力闸开始：没有 evolve 点星授权的进程直接 EPERM；然后任务意图收窄、参数校验、次数预算；第五道 sentinel 六级判定序，人类确认席的后续就挂在它上面；第六道是最关键的工程决策——这是首个阻塞型内建，走 to thread 让出事件循环，三分钟的进化跑不会冻住其他 agent；然后 EvolveGate 路径闸、驱动侧 workdir 二道闸，最后双行审计，syscall 一行、evolve 一行带分数和哈希。琥珀色标的第五第六道是本波治理焦点的所在。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防线不是口头约定，每条都有名字和锁定它的测试。自改写防线——禁区永远不能经环境变量放行——由 TestEnvRoots 守着，覆盖扩根、禁区在环境变量下仍然被拒、深层跳目录逃逸三个形状。装配面的 ENODEV 不静默兜底由 TestEvolveSyscall 全链验证。事件循环让出由 TestEvolveRunYieldsLoop 证明：进化在途时另一个 syscall 先完成，如果把修复禁用，测试三秒内确定性失败。workdir 包容性有四种越界形状的 EPERM 加内根透传断言。双向模块顺序三十十一全部通过，终审把顺序依赖根治了。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要诚实地说清楚收档。二〇二六年十月九日实测，环境里唯一的密钥指向内网网关，公网不可解析，七个端点全部四零一或传输层握手失败，ollama 没有运行。所以没有端到端真跑数字，文档只写未跑未记，不引用任何宣称值。证据原文在 OBSERVATIONS 点 md 的后端一节。解锁路径任选其一：一个 OpenAI 兼容密钥，或者本地装一个小模型。解锁后一条命令补跑全链，自动留痕人类确认、验证事件循环让出、钉死 checkpoint 布局。探测模式可达返回零，不可达返回二，不会烧迭代。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日常改动走三条路径。装配：导入驱动模块，run_job 即有执行器，不导入就 ENODEV，装配面哲学和判断层一致。加作业：目标文件和评估器放进允许根目录，工作目录不传就自动分配带时间戳的子目录。环境变量五个，全部调用时读取可覆盖，其中 ROOTS 只扩允许根、禁区永远收不回来。底部是报错自查表：六类 errno 各对应一个动作，见到裸 traceback 先查驱动装配。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这七条是故意的边界，不是待修的缺陷。第一条最容易被"优化"掉：走官方命令行而不是库 API，因为库签名不进公开契约。第二是阻塞白名单只覆盖真正阻塞的内建。第三审计加锁是因为并发写让 GIL 原子假设作废。第四禁区对环境变量免疫，这是自改写防线的本体。第五 workdir 在驱动侧再闸一遍，防御纵深。第六 checkpoint 解析宁可报错不猜布局，因为布局还没有真跑实证。第七结果载荷做强转不严格校验，因为唯一执行器是受信驱动。每条都写了被否掉的方案——别把设计当 bug 重写。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接手后有三件事，计划已立、决策已预决。第一件把 evolve.run 收进 sentinel 的 always_ask，让递归自我改进的每次执行都坐一次人类确认席，这是审判席叙事的最后一块。第二件给审计轮转补写锁，保证纪元加序号的复合键全库唯一——那是前端去重的硬契约。第三件是端到端手册，探测与全跑一个脚本。注意琥珀色的排程红线：第二件与录音回放波改同一个内核文件，执行前先确认那个波次的落地状态；本波交接时它已经并入 master，动手前再核对一遍。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所有交接资产一页查全。四份文档是主线：L0 到 L4 的交接文档、RSI 调研的裁决全文、已执行与待执行两份计划。两张图在 diagrams 目录：archify 交互架构图带源码行号证据锚，drawio 结构源可以继续编辑。试跑证据在 var 目录但被 git 忽略，新机器按交接文档 L1 一节重建。底部是七个关键提交的链，从核心作业面一路到合并点。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最后只带走四条红线。conda 红线：唯一解释器不可污染，pip 只进虚拟环境。零依赖红线：核心纯标准库，重依赖进核心等于循环内外分离崩塌。目录纪律：产物只落 var，允许根由闸把守，别绕。来源诚实：评测数字一律实测，每个未字都有证据链撑着。其余细节会淡忘，但这句应该留下来——内核不自改写，负载可以，但每个自改写动作，都过闸、留痕、可回滚。</a:t>
            </a:r>
          </a:p>
        </p:txBody>
      </p:sp>
    </p:spTree>
  </p:cSld>
  <p:clrMapOvr>
    <a:masterClrMapping/>
  </p:clrMapOvr>
</p:note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p="http://schemas.openxmlformats.org/presentationml/2006/main" type="blank" preserve="1">
  <p:cSld name="laos-rsi-handover-master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zh-CN" smtClean="0"/>
              <a:t>1/27/13</a:t>
            </a:fld>
            <a:endParaRPr lang="zh-C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zh-CN" smtClean="0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Masters/_rels/slideMaster1.xml.rels><?xml version='1.0' encoding='UTF-8' standalone='yes'?>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laos-rsi-handover-master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zh-CN" smtClean="0"/>
              <a:t>1/27/13</a:t>
            </a:fld>
            <a:endParaRPr 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zh-CN" smtClean="0"/>
              <a:t>‹#›</a:t>
            </a:fld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3150" kern="1200" lang="zh-CN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1700" kern="1200" lang="zh-CN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1600" kern="1200" lang="zh-CN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450" kern="1200" lang="zh-CN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1350" kern="1200" lang="zh-CN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1250" kern="1200" lang="zh-CN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1100" kern="1200" lang="zh-CN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1000" kern="1200" lang="zh-CN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900" kern="1200" lang="zh-CN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700" kern="1200" lang="zh-CN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600" kern="1200" lang="zh-CN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450" kern="1200" lang="zh-CN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350" kern="1200" lang="zh-CN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250" kern="1200" lang="zh-CN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100" kern="1200" lang="zh-CN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000" kern="1200" lang="zh-CN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900" kern="1200" lang="zh-CN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1.xml"/>
</Relationships>
</file>

<file path=ppt/slides/_rels/slide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2.xml"/>
</Relationships>
</file>

<file path=ppt/slides/_rels/slide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3.xml"/>
</Relationships>
</file>

<file path=ppt/slides/_rels/slide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4.xml"/>
</Relationships>
</file>

<file path=ppt/slides/_rels/slide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5.xml"/>
</Relationships>
</file>

<file path=ppt/slides/_rels/slide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6.xml"/>
</Relationships>
</file>

<file path=ppt/slides/_rels/slide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7.xml"/>
</Relationships>
</file>

<file path=ppt/slides/_rels/slide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8.xml"/>
</Relationships>
</file>

<file path=ppt/slides/_rels/slide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9.xml"/>
</Relationships>
</file>

<file path=ppt/slides/_rels/slide1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10.xml"/>
</Relationships>
</file>

<file path=ppt/slides/_rels/slide1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11.xml"/>
</Relationships>
</file>

<file path=ppt/slides/_rels/slide1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12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rid"/>
          <p:cNvSpPr/>
          <p:nvPr/>
        </p:nvSpPr>
        <p:spPr>
          <a:xfrm>
            <a:off x="838200" y="914400"/>
            <a:ext cx="10668000" cy="5181600"/>
          </a:xfrm>
          <a:custGeom>
            <a:avLst/>
            <a:gdLst/>
            <a:ahLst/>
            <a:cxnLst/>
            <a:rect l="l" t="t" r="r" b="b"/>
            <a:pathLst>
              <a:path w="10668000" h="5181600">
                <a:moveTo>
                  <a:pt x="1181100" y="0"/>
                </a:moveTo>
                <a:lnTo>
                  <a:pt x="1181100" y="5181600"/>
                </a:lnTo>
                <a:moveTo>
                  <a:pt x="2514600" y="0"/>
                </a:moveTo>
                <a:lnTo>
                  <a:pt x="2514600" y="5181600"/>
                </a:lnTo>
                <a:moveTo>
                  <a:pt x="3848100" y="0"/>
                </a:moveTo>
                <a:lnTo>
                  <a:pt x="3848100" y="5181600"/>
                </a:lnTo>
                <a:moveTo>
                  <a:pt x="5181600" y="0"/>
                </a:moveTo>
                <a:lnTo>
                  <a:pt x="5181600" y="5181600"/>
                </a:lnTo>
                <a:moveTo>
                  <a:pt x="6515100" y="0"/>
                </a:moveTo>
                <a:lnTo>
                  <a:pt x="6515100" y="5181600"/>
                </a:lnTo>
                <a:moveTo>
                  <a:pt x="7848600" y="0"/>
                </a:moveTo>
                <a:lnTo>
                  <a:pt x="7848600" y="5181600"/>
                </a:lnTo>
                <a:moveTo>
                  <a:pt x="9182100" y="0"/>
                </a:moveTo>
                <a:lnTo>
                  <a:pt x="9182100" y="5181600"/>
                </a:lnTo>
                <a:moveTo>
                  <a:pt x="0" y="895350"/>
                </a:moveTo>
                <a:lnTo>
                  <a:pt x="10668000" y="895350"/>
                </a:lnTo>
                <a:moveTo>
                  <a:pt x="0" y="1847850"/>
                </a:moveTo>
                <a:lnTo>
                  <a:pt x="10668000" y="1847850"/>
                </a:lnTo>
                <a:moveTo>
                  <a:pt x="0" y="2800350"/>
                </a:moveTo>
                <a:lnTo>
                  <a:pt x="10668000" y="2800350"/>
                </a:lnTo>
                <a:moveTo>
                  <a:pt x="0" y="3752850"/>
                </a:moveTo>
                <a:lnTo>
                  <a:pt x="10668000" y="3752850"/>
                </a:lnTo>
                <a:moveTo>
                  <a:pt x="0" y="4705350"/>
                </a:moveTo>
                <a:lnTo>
                  <a:pt x="10668000" y="4705350"/>
                </a:lnTo>
              </a:path>
            </a:pathLst>
          </a:custGeom>
          <a:noFill/>
          <a:ln w="9525">
            <a:solidFill>
              <a:schemeClr val="accent6">
                <a:alpha val="40000"/>
              </a:schemeClr>
            </a:solidFill>
          </a:ln>
        </p:spPr>
      </p:sp>
      <p:grpSp>
        <p:nvGrpSpPr>
          <p:cNvPr id="5" name="header"/>
          <p:cNvGrpSpPr/>
          <p:nvPr/>
        </p:nvGrpSpPr>
        <p:grpSpPr>
          <a:xfrm>
            <a:off x="680085" y="412750"/>
            <a:ext cx="10831449" cy="220028"/>
            <a:chOff x="680085" y="412750"/>
            <a:chExt cx="10831449" cy="220028"/>
          </a:xfrm>
        </p:grpSpPr>
        <p:sp>
          <p:nvSpPr>
            <p:cNvPr id="3" name="TextBox 3"/>
            <p:cNvSpPr txBox="1"/>
            <p:nvPr/>
          </p:nvSpPr>
          <p:spPr>
            <a:xfrm>
              <a:off x="680085" y="412750"/>
              <a:ext cx="441268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spc="3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NANO LAOS · LAOS · LINUX AGENTOS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10176853" y="425450"/>
              <a:ext cx="133468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050" spc="75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FIELD NOTE 02</a:t>
              </a:r>
            </a:p>
          </p:txBody>
        </p:sp>
      </p:grpSp>
      <p:grpSp>
        <p:nvGrpSpPr>
          <p:cNvPr id="7" name="title"/>
          <p:cNvGrpSpPr/>
          <p:nvPr/>
        </p:nvGrpSpPr>
        <p:grpSpPr>
          <a:xfrm>
            <a:off x="666750" y="1282700"/>
            <a:ext cx="6661313" cy="1657350"/>
            <a:chOff x="666750" y="1282700"/>
            <a:chExt cx="6661313" cy="1657350"/>
          </a:xfrm>
        </p:grpSpPr>
        <p:sp>
          <p:nvSpPr>
            <p:cNvPr id="6" name="TextBox 6"/>
            <p:cNvSpPr txBox="1"/>
            <p:nvPr/>
          </p:nvSpPr>
          <p:spPr>
            <a:xfrm>
              <a:off x="666750" y="1282700"/>
              <a:ext cx="6661313" cy="1657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5700"/>
                </a:lnSpc>
              </a:pPr>
              <a:r>
                <a:rPr lang="en-US" sz="4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RSI/OpenEvolve</a:t>
              </a:r>
              <a:br>
                <a:rPr lang="en-US" sz="4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</a:br>
              <a:r>
                <a:rPr lang="zh-CN" sz="4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驱动落地 · 波次交接</a:t>
              </a:r>
            </a:p>
          </p:txBody>
        </p:sp>
      </p:grpSp>
      <p:grpSp>
        <p:nvGrpSpPr>
          <p:cNvPr id="9" name="subtitle"/>
          <p:cNvGrpSpPr/>
          <p:nvPr/>
        </p:nvGrpSpPr>
        <p:grpSpPr>
          <a:xfrm>
            <a:off x="674370" y="2838450"/>
            <a:ext cx="5451538" cy="840105"/>
            <a:chOff x="674370" y="2838450"/>
            <a:chExt cx="5451538" cy="840105"/>
          </a:xfrm>
        </p:grpSpPr>
        <p:sp>
          <p:nvSpPr>
            <p:cNvPr id="8" name="TextBox 8"/>
            <p:cNvSpPr txBox="1"/>
            <p:nvPr/>
          </p:nvSpPr>
          <p:spPr>
            <a:xfrm>
              <a:off x="674370" y="2838450"/>
              <a:ext cx="5451538" cy="84010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3150"/>
                </a:lnSpc>
              </a:pPr>
              <a:r>
                <a:rPr lang="zh-CN" sz="22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进化循环在 venv 子进程里跑</a:t>
              </a:r>
              <a:br>
                <a:rPr lang="zh-CN" sz="22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</a:br>
              <a:r>
                <a:rPr lang="zh-CN" sz="22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治理常驻内核——权限在进化循环之外</a:t>
              </a:r>
            </a:p>
          </p:txBody>
        </p:sp>
      </p:grpSp>
      <p:grpSp>
        <p:nvGrpSpPr>
          <p:cNvPr id="11" name="hook"/>
          <p:cNvGrpSpPr/>
          <p:nvPr/>
        </p:nvGrpSpPr>
        <p:grpSpPr>
          <a:xfrm>
            <a:off x="676656" y="3959225"/>
            <a:ext cx="5413248" cy="713994"/>
            <a:chOff x="676656" y="3959225"/>
            <a:chExt cx="5413248" cy="713994"/>
          </a:xfrm>
        </p:grpSpPr>
        <p:sp>
          <p:nvSpPr>
            <p:cNvPr id="10" name="TextBox 10"/>
            <p:cNvSpPr txBox="1"/>
            <p:nvPr/>
          </p:nvSpPr>
          <p:spPr>
            <a:xfrm>
              <a:off x="676656" y="3959225"/>
              <a:ext cx="5413248" cy="71399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850"/>
                </a:lnSpc>
              </a:pPr>
              <a:r>
                <a:rPr lang="zh-CN" sz="18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「内核不自改写，负载可以——</a:t>
              </a:r>
              <a:br>
                <a:rPr lang="zh-CN" sz="18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8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但每个自改写动作，都过闸、留痕、可回滚」</a:t>
              </a:r>
            </a:p>
          </p:txBody>
        </p:sp>
      </p:grpSp>
      <p:grpSp>
        <p:nvGrpSpPr>
          <p:cNvPr id="14" name="archive"/>
          <p:cNvGrpSpPr/>
          <p:nvPr/>
        </p:nvGrpSpPr>
        <p:grpSpPr>
          <a:xfrm>
            <a:off x="678942" y="4978400"/>
            <a:ext cx="3847509" cy="526796"/>
            <a:chOff x="678942" y="4978400"/>
            <a:chExt cx="3847509" cy="526796"/>
          </a:xfrm>
        </p:grpSpPr>
        <p:sp>
          <p:nvSpPr>
            <p:cNvPr id="12" name="TextBox 12"/>
            <p:cNvSpPr txBox="1"/>
            <p:nvPr/>
          </p:nvSpPr>
          <p:spPr>
            <a:xfrm>
              <a:off x="678942" y="4978400"/>
              <a:ext cx="384750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2026-10-09 · 合并点 565dec8 · 交接文档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79704" y="5270500"/>
              <a:ext cx="327614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docs/guide/rsi-evolve-handover.md</a:t>
              </a:r>
            </a:p>
          </p:txBody>
        </p:sp>
      </p:grpSp>
      <p:grpSp>
        <p:nvGrpSpPr>
          <p:cNvPr id="19" name="dimline"/>
          <p:cNvGrpSpPr/>
          <p:nvPr/>
        </p:nvGrpSpPr>
        <p:grpSpPr>
          <a:xfrm>
            <a:off x="685800" y="5645150"/>
            <a:ext cx="6562725" cy="260350"/>
            <a:chOff x="685800" y="5645150"/>
            <a:chExt cx="6562725" cy="260350"/>
          </a:xfrm>
        </p:grpSpPr>
        <p:sp>
          <p:nvSpPr>
            <p:cNvPr id="15" name="Line 15"/>
            <p:cNvSpPr/>
            <p:nvPr/>
          </p:nvSpPr>
          <p:spPr>
            <a:xfrm>
              <a:off x="685800" y="5829300"/>
              <a:ext cx="6553200" cy="9525"/>
            </a:xfrm>
            <a:custGeom>
              <a:avLst/>
              <a:gdLst/>
              <a:ahLst/>
              <a:cxnLst/>
              <a:rect l="l" t="t" r="r" b="b"/>
              <a:pathLst>
                <a:path w="6553200" h="9525">
                  <a:moveTo>
                    <a:pt x="0" y="0"/>
                  </a:moveTo>
                  <a:lnTo>
                    <a:pt x="65532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16" name="Line 16"/>
            <p:cNvSpPr/>
            <p:nvPr/>
          </p:nvSpPr>
          <p:spPr>
            <a:xfrm>
              <a:off x="685800" y="5753100"/>
              <a:ext cx="9525" cy="152400"/>
            </a:xfrm>
            <a:custGeom>
              <a:avLst/>
              <a:gdLst/>
              <a:ahLst/>
              <a:cxnLst/>
              <a:rect l="l" t="t" r="r" b="b"/>
              <a:pathLst>
                <a:path w="9525" h="152400">
                  <a:moveTo>
                    <a:pt x="0" y="0"/>
                  </a:moveTo>
                  <a:lnTo>
                    <a:pt x="0" y="15240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17" name="Line 17"/>
            <p:cNvSpPr/>
            <p:nvPr/>
          </p:nvSpPr>
          <p:spPr>
            <a:xfrm>
              <a:off x="7239000" y="5753100"/>
              <a:ext cx="9525" cy="152400"/>
            </a:xfrm>
            <a:custGeom>
              <a:avLst/>
              <a:gdLst/>
              <a:ahLst/>
              <a:cxnLst/>
              <a:rect l="l" t="t" r="r" b="b"/>
              <a:pathLst>
                <a:path w="9525" h="152400">
                  <a:moveTo>
                    <a:pt x="0" y="0"/>
                  </a:moveTo>
                  <a:lnTo>
                    <a:pt x="0" y="15240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3093091" y="5645150"/>
              <a:ext cx="173861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dirty="0">
                  <a:solidFill>
                    <a:schemeClr val="accent5"/>
                  </a:solidFill>
                  <a:latin typeface="Consolas"/>
                  <a:ea typeface="Consolas"/>
                  <a:cs typeface="Consolas"/>
                </a:rPr>
                <a:t>PPT 16:9 · 1280×720</a:t>
              </a:r>
            </a:p>
          </p:txBody>
        </p:sp>
      </p:grpSp>
      <p:grpSp>
        <p:nvGrpSpPr>
          <p:cNvPr id="36" name="schematic"/>
          <p:cNvGrpSpPr/>
          <p:nvPr/>
        </p:nvGrpSpPr>
        <p:grpSpPr>
          <a:xfrm>
            <a:off x="8286750" y="1428750"/>
            <a:ext cx="3143250" cy="2952750"/>
            <a:chOff x="8286750" y="1428750"/>
            <a:chExt cx="3143250" cy="2952750"/>
          </a:xfrm>
        </p:grpSpPr>
        <p:sp>
          <p:nvSpPr>
            <p:cNvPr id="20" name="Rectangle 20"/>
            <p:cNvSpPr/>
            <p:nvPr/>
          </p:nvSpPr>
          <p:spPr>
            <a:xfrm>
              <a:off x="8286750" y="1428750"/>
              <a:ext cx="3143250" cy="2952750"/>
            </a:xfrm>
            <a:prstGeom prst="rect">
              <a:avLst/>
            </a:prstGeom>
            <a:solidFill>
              <a:schemeClr val="lt2">
                <a:alpha val="50000"/>
              </a:schemeClr>
            </a:solidFill>
            <a:ln w="14288">
              <a:solidFill>
                <a:schemeClr val="accent1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8824789" y="1587500"/>
              <a:ext cx="206717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进化循环外 · 内核治理</a:t>
              </a:r>
            </a:p>
          </p:txBody>
        </p:sp>
        <p:grpSp>
          <p:nvGrpSpPr>
            <p:cNvPr id="30" name="schematic-chips"/>
            <p:cNvGrpSpPr/>
            <p:nvPr/>
          </p:nvGrpSpPr>
          <p:grpSpPr>
            <a:xfrm>
              <a:off x="8477250" y="1962150"/>
              <a:ext cx="1866900" cy="723900"/>
              <a:chOff x="8477250" y="1962150"/>
              <a:chExt cx="1866900" cy="723900"/>
            </a:xfrm>
          </p:grpSpPr>
          <p:sp>
            <p:nvSpPr>
              <p:cNvPr id="22" name="Rectangle 22"/>
              <p:cNvSpPr/>
              <p:nvPr/>
            </p:nvSpPr>
            <p:spPr>
              <a:xfrm>
                <a:off x="8477250" y="1962150"/>
                <a:ext cx="876300" cy="304800"/>
              </a:xfrm>
              <a:prstGeom prst="rect">
                <a:avLst/>
              </a:prstGeom>
              <a:noFill/>
              <a:ln w="9525">
                <a:solidFill>
                  <a:schemeClr val="accent1"/>
                </a:solidFill>
              </a:ln>
            </p:spPr>
          </p:sp>
          <p:sp>
            <p:nvSpPr>
              <p:cNvPr id="23" name="TextBox 23"/>
              <p:cNvSpPr txBox="1"/>
              <p:nvPr/>
            </p:nvSpPr>
            <p:spPr>
              <a:xfrm>
                <a:off x="8546962" y="2047875"/>
                <a:ext cx="736877" cy="19164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980" dirty="0">
                    <a:solidFill>
                      <a:schemeClr val="accent5"/>
                    </a:solidFill>
                    <a:latin typeface="Consolas"/>
                    <a:ea typeface="Consolas"/>
                    <a:cs typeface="Consolas"/>
                  </a:rPr>
                  <a:t>evolve.py</a:t>
                </a:r>
              </a:p>
            </p:txBody>
          </p:sp>
          <p:sp>
            <p:nvSpPr>
              <p:cNvPr id="24" name="Rectangle 24"/>
              <p:cNvSpPr/>
              <p:nvPr/>
            </p:nvSpPr>
            <p:spPr>
              <a:xfrm>
                <a:off x="9467850" y="1962150"/>
                <a:ext cx="876300" cy="304800"/>
              </a:xfrm>
              <a:prstGeom prst="rect">
                <a:avLst/>
              </a:prstGeom>
              <a:noFill/>
              <a:ln w="9525">
                <a:solidFill>
                  <a:schemeClr val="accent1"/>
                </a:solidFill>
              </a:ln>
            </p:spPr>
          </p:sp>
          <p:sp>
            <p:nvSpPr>
              <p:cNvPr id="25" name="TextBox 25"/>
              <p:cNvSpPr txBox="1"/>
              <p:nvPr/>
            </p:nvSpPr>
            <p:spPr>
              <a:xfrm>
                <a:off x="9658723" y="2047875"/>
                <a:ext cx="494553" cy="19164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980" dirty="0">
                    <a:solidFill>
                      <a:schemeClr val="accent5"/>
                    </a:solidFill>
                    <a:latin typeface="Consolas"/>
                    <a:ea typeface="Consolas"/>
                    <a:cs typeface="Consolas"/>
                  </a:rPr>
                  <a:t>kernel</a:t>
                </a:r>
              </a:p>
            </p:txBody>
          </p:sp>
          <p:sp>
            <p:nvSpPr>
              <p:cNvPr id="26" name="Rectangle 26"/>
              <p:cNvSpPr/>
              <p:nvPr/>
            </p:nvSpPr>
            <p:spPr>
              <a:xfrm>
                <a:off x="8477250" y="2381250"/>
                <a:ext cx="876300" cy="304800"/>
              </a:xfrm>
              <a:prstGeom prst="rect">
                <a:avLst/>
              </a:prstGeom>
              <a:noFill/>
              <a:ln w="9525">
                <a:solidFill>
                  <a:schemeClr val="accent1"/>
                </a:solidFill>
              </a:ln>
            </p:spPr>
          </p:sp>
          <p:sp>
            <p:nvSpPr>
              <p:cNvPr id="27" name="TextBox 27"/>
              <p:cNvSpPr txBox="1"/>
              <p:nvPr/>
            </p:nvSpPr>
            <p:spPr>
              <a:xfrm>
                <a:off x="8587349" y="2466975"/>
                <a:ext cx="656102" cy="19164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980" dirty="0">
                    <a:solidFill>
                      <a:schemeClr val="accent5"/>
                    </a:solidFill>
                    <a:latin typeface="Consolas"/>
                    <a:ea typeface="Consolas"/>
                    <a:cs typeface="Consolas"/>
                  </a:rPr>
                  <a:t>sentinel</a:t>
                </a:r>
              </a:p>
            </p:txBody>
          </p:sp>
          <p:sp>
            <p:nvSpPr>
              <p:cNvPr id="28" name="Rectangle 28"/>
              <p:cNvSpPr/>
              <p:nvPr/>
            </p:nvSpPr>
            <p:spPr>
              <a:xfrm>
                <a:off x="9467850" y="2381250"/>
                <a:ext cx="876300" cy="304800"/>
              </a:xfrm>
              <a:prstGeom prst="rect">
                <a:avLst/>
              </a:prstGeom>
              <a:noFill/>
              <a:ln w="9525">
                <a:solidFill>
                  <a:schemeClr val="accent1"/>
                </a:solidFill>
              </a:ln>
            </p:spPr>
          </p:sp>
          <p:sp>
            <p:nvSpPr>
              <p:cNvPr id="29" name="TextBox 29"/>
              <p:cNvSpPr txBox="1"/>
              <p:nvPr/>
            </p:nvSpPr>
            <p:spPr>
              <a:xfrm>
                <a:off x="9573842" y="2466975"/>
                <a:ext cx="664317" cy="19164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980" dirty="0">
                    <a:solidFill>
                      <a:schemeClr val="accent5"/>
                    </a:solidFill>
                    <a:latin typeface="Consolas"/>
                    <a:ea typeface="Consolas"/>
                    <a:cs typeface="Consolas"/>
                  </a:rPr>
                  <a:t>AuditLog</a:t>
                </a:r>
              </a:p>
            </p:txBody>
          </p:sp>
        </p:grpSp>
        <p:sp>
          <p:nvSpPr>
            <p:cNvPr id="31" name="Rectangle 31"/>
            <p:cNvSpPr/>
            <p:nvPr/>
          </p:nvSpPr>
          <p:spPr>
            <a:xfrm>
              <a:off x="8524875" y="2952750"/>
              <a:ext cx="2667000" cy="819150"/>
            </a:xfrm>
            <a:prstGeom prst="rect">
              <a:avLst/>
            </a:prstGeom>
            <a:noFill/>
            <a:ln w="14288">
              <a:solidFill>
                <a:schemeClr val="accent1"/>
              </a:solidFill>
              <a:custDash>
                <a:ds d="400000" sp="266667"/>
              </a:custDash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8936460" y="3073400"/>
              <a:ext cx="184383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进化循环内 · venv 子进程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9037976" y="3390900"/>
              <a:ext cx="1640799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openevolve-run → LLM</a:t>
              </a:r>
            </a:p>
          </p:txBody>
        </p:sp>
        <p:sp>
          <p:nvSpPr>
            <p:cNvPr id="34" name="Line 34"/>
            <p:cNvSpPr/>
            <p:nvPr/>
          </p:nvSpPr>
          <p:spPr>
            <a:xfrm>
              <a:off x="8858250" y="3771900"/>
              <a:ext cx="304800" cy="266700"/>
            </a:xfrm>
            <a:custGeom>
              <a:avLst/>
              <a:gdLst/>
              <a:ahLst/>
              <a:cxnLst/>
              <a:rect l="l" t="t" r="r" b="b"/>
              <a:pathLst>
                <a:path w="304800" h="266700">
                  <a:moveTo>
                    <a:pt x="0" y="0"/>
                  </a:moveTo>
                  <a:lnTo>
                    <a:pt x="304800" y="266700"/>
                  </a:lnTo>
                </a:path>
              </a:pathLst>
            </a:custGeom>
            <a:noFill/>
            <a:ln w="14288">
              <a:solidFill>
                <a:schemeClr val="accent2"/>
              </a:solidFill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9222867" y="4057650"/>
              <a:ext cx="127101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审判席在循环外</a:t>
              </a:r>
            </a:p>
          </p:txBody>
        </p:sp>
      </p:grpSp>
      <p:grpSp>
        <p:nvGrpSpPr>
          <p:cNvPr id="40" name="footer"/>
          <p:cNvGrpSpPr/>
          <p:nvPr/>
        </p:nvGrpSpPr>
        <p:grpSpPr>
          <a:xfrm>
            <a:off x="680466" y="6248400"/>
            <a:ext cx="10831068" cy="326009"/>
            <a:chOff x="680466" y="6248400"/>
            <a:chExt cx="10831068" cy="326009"/>
          </a:xfrm>
        </p:grpSpPr>
        <p:sp>
          <p:nvSpPr>
            <p:cNvPr id="37" name="Line 37"/>
            <p:cNvSpPr/>
            <p:nvPr/>
          </p:nvSpPr>
          <p:spPr>
            <a:xfrm>
              <a:off x="685800" y="624840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680466" y="6369050"/>
              <a:ext cx="281528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chemeClr val="accent5"/>
                  </a:solidFill>
                  <a:latin typeface="Consolas"/>
                  <a:ea typeface="Consolas"/>
                  <a:cs typeface="Consolas"/>
                </a:rPr>
                <a:t>github.com/Yfredy/LAOS · v0.35.1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9318193" y="6369050"/>
              <a:ext cx="219334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050" dirty="0">
                  <a:solidFill>
                    <a:schemeClr val="accent5"/>
                  </a:solidFill>
                  <a:latin typeface="Consolas"/>
                  <a:ea typeface="Consolas"/>
                  <a:cs typeface="Consolas"/>
                </a:rPr>
                <a:t>FIELD NOTE 02 · 26.10.09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rid"/>
          <p:cNvSpPr/>
          <p:nvPr/>
        </p:nvSpPr>
        <p:spPr>
          <a:xfrm>
            <a:off x="838200" y="914400"/>
            <a:ext cx="10668000" cy="5181600"/>
          </a:xfrm>
          <a:custGeom>
            <a:avLst/>
            <a:gdLst/>
            <a:ahLst/>
            <a:cxnLst/>
            <a:rect l="l" t="t" r="r" b="b"/>
            <a:pathLst>
              <a:path w="10668000" h="5181600">
                <a:moveTo>
                  <a:pt x="1181100" y="0"/>
                </a:moveTo>
                <a:lnTo>
                  <a:pt x="1181100" y="5181600"/>
                </a:lnTo>
                <a:moveTo>
                  <a:pt x="2514600" y="0"/>
                </a:moveTo>
                <a:lnTo>
                  <a:pt x="2514600" y="5181600"/>
                </a:lnTo>
                <a:moveTo>
                  <a:pt x="3848100" y="0"/>
                </a:moveTo>
                <a:lnTo>
                  <a:pt x="3848100" y="5181600"/>
                </a:lnTo>
                <a:moveTo>
                  <a:pt x="5181600" y="0"/>
                </a:moveTo>
                <a:lnTo>
                  <a:pt x="5181600" y="5181600"/>
                </a:lnTo>
                <a:moveTo>
                  <a:pt x="6515100" y="0"/>
                </a:moveTo>
                <a:lnTo>
                  <a:pt x="6515100" y="5181600"/>
                </a:lnTo>
                <a:moveTo>
                  <a:pt x="7848600" y="0"/>
                </a:moveTo>
                <a:lnTo>
                  <a:pt x="7848600" y="5181600"/>
                </a:lnTo>
                <a:moveTo>
                  <a:pt x="9182100" y="0"/>
                </a:moveTo>
                <a:lnTo>
                  <a:pt x="9182100" y="5181600"/>
                </a:lnTo>
                <a:moveTo>
                  <a:pt x="0" y="1847850"/>
                </a:moveTo>
                <a:lnTo>
                  <a:pt x="10668000" y="1847850"/>
                </a:lnTo>
                <a:moveTo>
                  <a:pt x="0" y="2800350"/>
                </a:moveTo>
                <a:lnTo>
                  <a:pt x="10668000" y="2800350"/>
                </a:lnTo>
                <a:moveTo>
                  <a:pt x="0" y="3752850"/>
                </a:moveTo>
                <a:lnTo>
                  <a:pt x="10668000" y="3752850"/>
                </a:lnTo>
                <a:moveTo>
                  <a:pt x="0" y="4705350"/>
                </a:moveTo>
                <a:lnTo>
                  <a:pt x="10668000" y="4705350"/>
                </a:lnTo>
              </a:path>
            </a:pathLst>
          </a:custGeom>
          <a:noFill/>
          <a:ln w="9525">
            <a:solidFill>
              <a:schemeClr val="accent6">
                <a:alpha val="40000"/>
              </a:schemeClr>
            </a:solidFill>
          </a:ln>
        </p:spPr>
      </p:sp>
      <p:grpSp>
        <p:nvGrpSpPr>
          <p:cNvPr id="6" name="header"/>
          <p:cNvGrpSpPr/>
          <p:nvPr/>
        </p:nvGrpSpPr>
        <p:grpSpPr>
          <a:xfrm>
            <a:off x="680466" y="368300"/>
            <a:ext cx="10831068" cy="346075"/>
            <a:chOff x="680466" y="368300"/>
            <a:chExt cx="10831068" cy="346075"/>
          </a:xfrm>
        </p:grpSpPr>
        <p:sp>
          <p:nvSpPr>
            <p:cNvPr id="3" name="TextBox 3"/>
            <p:cNvSpPr txBox="1"/>
            <p:nvPr/>
          </p:nvSpPr>
          <p:spPr>
            <a:xfrm>
              <a:off x="680466" y="368300"/>
              <a:ext cx="240357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spc="225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LAOS · LINUX AGENTOS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10198798" y="368300"/>
              <a:ext cx="131273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spc="75" dirty="0">
                  <a:solidFill>
                    <a:schemeClr val="accent5"/>
                  </a:solidFill>
                  <a:latin typeface="Consolas"/>
                  <a:ea typeface="Microsoft YaHei"/>
                  <a:cs typeface="Consolas"/>
                </a:rPr>
                <a:t>02 / 12 · 总览</a:t>
              </a:r>
            </a:p>
          </p:txBody>
        </p:sp>
        <p:sp>
          <p:nvSpPr>
            <p:cNvPr id="5" name="Line 5"/>
            <p:cNvSpPr/>
            <p:nvPr/>
          </p:nvSpPr>
          <p:spPr>
            <a:xfrm>
              <a:off x="685800" y="70485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</p:grpSp>
      <p:grpSp>
        <p:nvGrpSpPr>
          <p:cNvPr id="10" name="title"/>
          <p:cNvGrpSpPr/>
          <p:nvPr/>
        </p:nvGrpSpPr>
        <p:grpSpPr>
          <a:xfrm>
            <a:off x="669798" y="876300"/>
            <a:ext cx="10836402" cy="616077"/>
            <a:chOff x="669798" y="876300"/>
            <a:chExt cx="10836402" cy="616077"/>
          </a:xfrm>
        </p:grpSpPr>
        <p:sp>
          <p:nvSpPr>
            <p:cNvPr id="7" name="TextBox 7"/>
            <p:cNvSpPr txBox="1"/>
            <p:nvPr/>
          </p:nvSpPr>
          <p:spPr>
            <a:xfrm>
              <a:off x="669798" y="876300"/>
              <a:ext cx="3086226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60 秒看懂本波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1390650"/>
              <a:ext cx="533400" cy="28575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9" name="Line 9"/>
            <p:cNvSpPr/>
            <p:nvPr/>
          </p:nvSpPr>
          <p:spPr>
            <a:xfrm>
              <a:off x="1333500" y="1400175"/>
              <a:ext cx="10172700" cy="9525"/>
            </a:xfrm>
            <a:custGeom>
              <a:avLst/>
              <a:gdLst/>
              <a:ahLst/>
              <a:cxnLst/>
              <a:rect l="l" t="t" r="r" b="b"/>
              <a:pathLst>
                <a:path w="10172700" h="9525">
                  <a:moveTo>
                    <a:pt x="0" y="0"/>
                  </a:moveTo>
                  <a:lnTo>
                    <a:pt x="101727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</p:grpSp>
      <p:grpSp>
        <p:nvGrpSpPr>
          <p:cNvPr id="35" name="process"/>
          <p:cNvGrpSpPr/>
          <p:nvPr/>
        </p:nvGrpSpPr>
        <p:grpSpPr>
          <a:xfrm>
            <a:off x="1047750" y="1952625"/>
            <a:ext cx="10004688" cy="792734"/>
            <a:chOff x="1047750" y="1952625"/>
            <a:chExt cx="10004688" cy="792734"/>
          </a:xfrm>
        </p:grpSpPr>
        <p:sp>
          <p:nvSpPr>
            <p:cNvPr id="11" name="Line 11"/>
            <p:cNvSpPr/>
            <p:nvPr/>
          </p:nvSpPr>
          <p:spPr>
            <a:xfrm>
              <a:off x="1047750" y="2019300"/>
              <a:ext cx="9906000" cy="9525"/>
            </a:xfrm>
            <a:custGeom>
              <a:avLst/>
              <a:gdLst/>
              <a:ahLst/>
              <a:cxnLst/>
              <a:rect l="l" t="t" r="r" b="b"/>
              <a:pathLst>
                <a:path w="9906000" h="9525">
                  <a:moveTo>
                    <a:pt x="0" y="0"/>
                  </a:moveTo>
                  <a:lnTo>
                    <a:pt x="9906000" y="0"/>
                  </a:lnTo>
                </a:path>
              </a:pathLst>
            </a:custGeom>
            <a:noFill/>
            <a:ln w="14288">
              <a:solidFill>
                <a:schemeClr val="accent6"/>
              </a:solidFill>
            </a:ln>
          </p:spPr>
        </p:sp>
        <p:sp>
          <p:nvSpPr>
            <p:cNvPr id="12" name="Line 12"/>
            <p:cNvSpPr/>
            <p:nvPr/>
          </p:nvSpPr>
          <p:spPr>
            <a:xfrm>
              <a:off x="1695450" y="2019300"/>
              <a:ext cx="1543050" cy="1"/>
            </a:xfrm>
            <a:prstGeom prst="line">
              <a:avLst/>
            </a:prstGeom>
            <a:noFill/>
            <a:ln w="14288">
              <a:solidFill>
                <a:schemeClr val="accent1"/>
              </a:solidFill>
              <a:tailEnd type="triangle" w="lg" len="lg"/>
            </a:ln>
          </p:spPr>
        </p:sp>
        <p:sp>
          <p:nvSpPr>
            <p:cNvPr id="13" name="Line 13"/>
            <p:cNvSpPr/>
            <p:nvPr/>
          </p:nvSpPr>
          <p:spPr>
            <a:xfrm>
              <a:off x="3638550" y="2019300"/>
              <a:ext cx="1543050" cy="1"/>
            </a:xfrm>
            <a:prstGeom prst="line">
              <a:avLst/>
            </a:prstGeom>
            <a:noFill/>
            <a:ln w="14288">
              <a:solidFill>
                <a:schemeClr val="accent1"/>
              </a:solidFill>
              <a:tailEnd type="triangle" w="lg" len="lg"/>
            </a:ln>
          </p:spPr>
        </p:sp>
        <p:sp>
          <p:nvSpPr>
            <p:cNvPr id="14" name="Line 14"/>
            <p:cNvSpPr/>
            <p:nvPr/>
          </p:nvSpPr>
          <p:spPr>
            <a:xfrm>
              <a:off x="5581650" y="2019300"/>
              <a:ext cx="1543050" cy="1"/>
            </a:xfrm>
            <a:prstGeom prst="line">
              <a:avLst/>
            </a:prstGeom>
            <a:noFill/>
            <a:ln w="14288">
              <a:solidFill>
                <a:schemeClr val="accent1"/>
              </a:solidFill>
              <a:tailEnd type="triangle" w="lg" len="lg"/>
            </a:ln>
          </p:spPr>
        </p:sp>
        <p:sp>
          <p:nvSpPr>
            <p:cNvPr id="15" name="Line 15"/>
            <p:cNvSpPr/>
            <p:nvPr/>
          </p:nvSpPr>
          <p:spPr>
            <a:xfrm>
              <a:off x="7524750" y="2019300"/>
              <a:ext cx="1543050" cy="1"/>
            </a:xfrm>
            <a:prstGeom prst="line">
              <a:avLst/>
            </a:prstGeom>
            <a:noFill/>
            <a:ln w="14288">
              <a:solidFill>
                <a:schemeClr val="accent1"/>
              </a:solidFill>
              <a:tailEnd type="triangle" w="lg" len="lg"/>
            </a:ln>
          </p:spPr>
        </p:sp>
        <p:sp>
          <p:nvSpPr>
            <p:cNvPr id="16" name="Line 16"/>
            <p:cNvSpPr/>
            <p:nvPr/>
          </p:nvSpPr>
          <p:spPr>
            <a:xfrm>
              <a:off x="9467850" y="2019300"/>
              <a:ext cx="1085850" cy="1"/>
            </a:xfrm>
            <a:prstGeom prst="line">
              <a:avLst/>
            </a:prstGeom>
            <a:noFill/>
            <a:ln w="14288">
              <a:solidFill>
                <a:schemeClr val="accent1"/>
              </a:solidFill>
              <a:tailEnd type="triangle" w="lg" len="lg"/>
            </a:ln>
          </p:spPr>
        </p:sp>
        <p:sp>
          <p:nvSpPr>
            <p:cNvPr id="17" name="Ellipse 17"/>
            <p:cNvSpPr/>
            <p:nvPr/>
          </p:nvSpPr>
          <p:spPr>
            <a:xfrm>
              <a:off x="1457325" y="1952625"/>
              <a:ext cx="133350" cy="13335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8" name="Ellipse 18"/>
            <p:cNvSpPr/>
            <p:nvPr/>
          </p:nvSpPr>
          <p:spPr>
            <a:xfrm>
              <a:off x="3400425" y="1952625"/>
              <a:ext cx="133350" cy="13335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9" name="Ellipse 19"/>
            <p:cNvSpPr/>
            <p:nvPr/>
          </p:nvSpPr>
          <p:spPr>
            <a:xfrm>
              <a:off x="5343525" y="1952625"/>
              <a:ext cx="133350" cy="13335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0" name="Ellipse 20"/>
            <p:cNvSpPr/>
            <p:nvPr/>
          </p:nvSpPr>
          <p:spPr>
            <a:xfrm>
              <a:off x="7286625" y="1952625"/>
              <a:ext cx="133350" cy="13335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1" name="Ellipse 21"/>
            <p:cNvSpPr/>
            <p:nvPr/>
          </p:nvSpPr>
          <p:spPr>
            <a:xfrm>
              <a:off x="9229725" y="1952625"/>
              <a:ext cx="133350" cy="13335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2" name="Ellipse 22"/>
            <p:cNvSpPr/>
            <p:nvPr/>
          </p:nvSpPr>
          <p:spPr>
            <a:xfrm>
              <a:off x="10677525" y="1952625"/>
              <a:ext cx="133350" cy="1333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1291590" y="2222500"/>
              <a:ext cx="4648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调研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3234690" y="2222500"/>
              <a:ext cx="4648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计划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5177790" y="2222500"/>
              <a:ext cx="4648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试跑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7120890" y="2222500"/>
              <a:ext cx="4648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落地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9063990" y="2222500"/>
              <a:ext cx="4648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终审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0511790" y="2222500"/>
              <a:ext cx="4648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合并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220762" y="2540000"/>
              <a:ext cx="60647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RSI 全景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3237538" y="2540000"/>
              <a:ext cx="45912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8 任务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4705472" y="2540000"/>
              <a:ext cx="140945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dirty="0">
                  <a:solidFill>
                    <a:schemeClr val="accent5"/>
                  </a:solidFill>
                  <a:latin typeface="Consolas"/>
                  <a:ea typeface="Consolas"/>
                  <a:cs typeface="Consolas"/>
                </a:rPr>
                <a:t>OpenEvolve 0.4.0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6883775" y="2540000"/>
              <a:ext cx="93905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核心+syscall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8927287" y="2540000"/>
              <a:ext cx="73822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dirty="0">
                  <a:solidFill>
                    <a:schemeClr val="accent5"/>
                  </a:solidFill>
                  <a:latin typeface="Consolas"/>
                  <a:ea typeface="Consolas"/>
                  <a:cs typeface="Consolas"/>
                </a:rPr>
                <a:t>C1/I2/I3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10435961" y="2540000"/>
              <a:ext cx="61647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dirty="0">
                  <a:solidFill>
                    <a:schemeClr val="accent5"/>
                  </a:solidFill>
                  <a:latin typeface="Consolas"/>
                  <a:ea typeface="Consolas"/>
                  <a:cs typeface="Consolas"/>
                </a:rPr>
                <a:t>565dec8</a:t>
              </a:r>
            </a:p>
          </p:txBody>
        </p:sp>
      </p:grpSp>
      <p:grpSp>
        <p:nvGrpSpPr>
          <p:cNvPr id="39" name="kpi-1"/>
          <p:cNvGrpSpPr/>
          <p:nvPr/>
        </p:nvGrpSpPr>
        <p:grpSpPr>
          <a:xfrm>
            <a:off x="685800" y="3048000"/>
            <a:ext cx="3429000" cy="857250"/>
            <a:chOff x="685800" y="3048000"/>
            <a:chExt cx="3429000" cy="857250"/>
          </a:xfrm>
        </p:grpSpPr>
        <p:sp>
          <p:nvSpPr>
            <p:cNvPr id="36" name="Rectangle 36"/>
            <p:cNvSpPr/>
            <p:nvPr/>
          </p:nvSpPr>
          <p:spPr>
            <a:xfrm>
              <a:off x="685800" y="3048000"/>
              <a:ext cx="3429000" cy="857250"/>
            </a:xfrm>
            <a:prstGeom prst="rect">
              <a:avLst/>
            </a:prstGeom>
            <a:solidFill>
              <a:schemeClr val="lt2">
                <a:alpha val="40000"/>
              </a:schemeClr>
            </a:solidFill>
            <a:ln w="9525">
              <a:solidFill>
                <a:schemeClr val="accent1"/>
              </a:solidFill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1839070" y="3162300"/>
              <a:ext cx="1122460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31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1085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1265558" y="3625850"/>
              <a:ext cx="226948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主套件全绿 · 合并点实跑</a:t>
              </a:r>
            </a:p>
          </p:txBody>
        </p:sp>
      </p:grpSp>
      <p:grpSp>
        <p:nvGrpSpPr>
          <p:cNvPr id="43" name="kpi-2"/>
          <p:cNvGrpSpPr/>
          <p:nvPr/>
        </p:nvGrpSpPr>
        <p:grpSpPr>
          <a:xfrm>
            <a:off x="4381500" y="3048000"/>
            <a:ext cx="3429000" cy="857250"/>
            <a:chOff x="4381500" y="3048000"/>
            <a:chExt cx="3429000" cy="857250"/>
          </a:xfrm>
        </p:grpSpPr>
        <p:sp>
          <p:nvSpPr>
            <p:cNvPr id="40" name="Rectangle 40"/>
            <p:cNvSpPr/>
            <p:nvPr/>
          </p:nvSpPr>
          <p:spPr>
            <a:xfrm>
              <a:off x="4381500" y="3048000"/>
              <a:ext cx="3429000" cy="857250"/>
            </a:xfrm>
            <a:prstGeom prst="rect">
              <a:avLst/>
            </a:prstGeom>
            <a:solidFill>
              <a:schemeClr val="lt2">
                <a:alpha val="40000"/>
              </a:schemeClr>
            </a:solidFill>
            <a:ln w="9525">
              <a:solidFill>
                <a:schemeClr val="accent1"/>
              </a:solidFill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5671077" y="3162300"/>
              <a:ext cx="849846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31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+31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5062414" y="3625850"/>
              <a:ext cx="206717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本波新增测试 · 全离线</a:t>
              </a:r>
            </a:p>
          </p:txBody>
        </p:sp>
      </p:grpSp>
      <p:grpSp>
        <p:nvGrpSpPr>
          <p:cNvPr id="47" name="kpi-3"/>
          <p:cNvGrpSpPr/>
          <p:nvPr/>
        </p:nvGrpSpPr>
        <p:grpSpPr>
          <a:xfrm>
            <a:off x="8077200" y="3048000"/>
            <a:ext cx="3429000" cy="857250"/>
            <a:chOff x="8077200" y="3048000"/>
            <a:chExt cx="3429000" cy="857250"/>
          </a:xfrm>
        </p:grpSpPr>
        <p:sp>
          <p:nvSpPr>
            <p:cNvPr id="44" name="Rectangle 44"/>
            <p:cNvSpPr/>
            <p:nvPr/>
          </p:nvSpPr>
          <p:spPr>
            <a:xfrm>
              <a:off x="8077200" y="3048000"/>
              <a:ext cx="3429000" cy="857250"/>
            </a:xfrm>
            <a:prstGeom prst="rect">
              <a:avLst/>
            </a:prstGeom>
            <a:solidFill>
              <a:schemeClr val="lt2">
                <a:alpha val="40000"/>
              </a:schemeClr>
            </a:solidFill>
            <a:ln w="9525">
              <a:solidFill>
                <a:schemeClr val="accent1"/>
              </a:solidFill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9639391" y="3162300"/>
              <a:ext cx="304618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31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8530514" y="3625850"/>
              <a:ext cx="252237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新文件 · 核心2 驱动2 测试2</a:t>
              </a:r>
            </a:p>
          </p:txBody>
        </p:sp>
      </p:grpSp>
      <p:grpSp>
        <p:nvGrpSpPr>
          <p:cNvPr id="51" name="kpi-4"/>
          <p:cNvGrpSpPr/>
          <p:nvPr/>
        </p:nvGrpSpPr>
        <p:grpSpPr>
          <a:xfrm>
            <a:off x="685800" y="4133850"/>
            <a:ext cx="3429000" cy="857250"/>
            <a:chOff x="685800" y="4133850"/>
            <a:chExt cx="3429000" cy="857250"/>
          </a:xfrm>
        </p:grpSpPr>
        <p:sp>
          <p:nvSpPr>
            <p:cNvPr id="48" name="Rectangle 48"/>
            <p:cNvSpPr/>
            <p:nvPr/>
          </p:nvSpPr>
          <p:spPr>
            <a:xfrm>
              <a:off x="685800" y="4133850"/>
              <a:ext cx="3429000" cy="857250"/>
            </a:xfrm>
            <a:prstGeom prst="rect">
              <a:avLst/>
            </a:prstGeom>
            <a:solidFill>
              <a:schemeClr val="lt2">
                <a:alpha val="40000"/>
              </a:schemeClr>
            </a:solidFill>
            <a:ln w="9525">
              <a:solidFill>
                <a:schemeClr val="accent1"/>
              </a:solidFill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2247991" y="4248150"/>
              <a:ext cx="304618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31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1786509" y="4711700"/>
              <a:ext cx="122758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波次代码提交</a:t>
              </a:r>
            </a:p>
          </p:txBody>
        </p:sp>
      </p:grpSp>
      <p:grpSp>
        <p:nvGrpSpPr>
          <p:cNvPr id="55" name="kpi-5"/>
          <p:cNvGrpSpPr/>
          <p:nvPr/>
        </p:nvGrpSpPr>
        <p:grpSpPr>
          <a:xfrm>
            <a:off x="4381500" y="4133850"/>
            <a:ext cx="3429000" cy="857250"/>
            <a:chOff x="4381500" y="4133850"/>
            <a:chExt cx="3429000" cy="857250"/>
          </a:xfrm>
        </p:grpSpPr>
        <p:sp>
          <p:nvSpPr>
            <p:cNvPr id="52" name="Rectangle 52"/>
            <p:cNvSpPr/>
            <p:nvPr/>
          </p:nvSpPr>
          <p:spPr>
            <a:xfrm>
              <a:off x="4381500" y="4133850"/>
              <a:ext cx="3429000" cy="857250"/>
            </a:xfrm>
            <a:prstGeom prst="rect">
              <a:avLst/>
            </a:prstGeom>
            <a:solidFill>
              <a:schemeClr val="lt2">
                <a:alpha val="40000"/>
              </a:schemeClr>
            </a:solidFill>
            <a:ln w="9525">
              <a:solidFill>
                <a:schemeClr val="accent1"/>
              </a:solidFill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5943691" y="4248150"/>
              <a:ext cx="304618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31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4764005" y="4711700"/>
              <a:ext cx="26639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按预案收档 · 试跑首跑与 e2e</a:t>
              </a:r>
            </a:p>
          </p:txBody>
        </p:sp>
      </p:grpSp>
      <p:grpSp>
        <p:nvGrpSpPr>
          <p:cNvPr id="59" name="kpi-6"/>
          <p:cNvGrpSpPr/>
          <p:nvPr/>
        </p:nvGrpSpPr>
        <p:grpSpPr>
          <a:xfrm>
            <a:off x="8077200" y="4133850"/>
            <a:ext cx="3429000" cy="857250"/>
            <a:chOff x="8077200" y="4133850"/>
            <a:chExt cx="3429000" cy="857250"/>
          </a:xfrm>
        </p:grpSpPr>
        <p:sp>
          <p:nvSpPr>
            <p:cNvPr id="56" name="Rectangle 56"/>
            <p:cNvSpPr/>
            <p:nvPr/>
          </p:nvSpPr>
          <p:spPr>
            <a:xfrm>
              <a:off x="8077200" y="4133850"/>
              <a:ext cx="3429000" cy="857250"/>
            </a:xfrm>
            <a:prstGeom prst="rect">
              <a:avLst/>
            </a:prstGeom>
            <a:solidFill>
              <a:schemeClr val="lt2">
                <a:alpha val="40000"/>
              </a:schemeClr>
            </a:solidFill>
            <a:ln w="9525">
              <a:solidFill>
                <a:schemeClr val="accent1"/>
              </a:solidFill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9639391" y="4248150"/>
              <a:ext cx="304618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31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8692363" y="4711700"/>
              <a:ext cx="21986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后续待执行 · followups</a:t>
              </a:r>
            </a:p>
          </p:txBody>
        </p:sp>
      </p:grpSp>
      <p:grpSp>
        <p:nvGrpSpPr>
          <p:cNvPr id="64" name="note"/>
          <p:cNvGrpSpPr/>
          <p:nvPr/>
        </p:nvGrpSpPr>
        <p:grpSpPr>
          <a:xfrm>
            <a:off x="716756" y="5416550"/>
            <a:ext cx="7084924" cy="264033"/>
            <a:chOff x="716756" y="5416550"/>
            <a:chExt cx="7084924" cy="264033"/>
          </a:xfrm>
        </p:grpSpPr>
        <p:grpSp>
          <p:nvGrpSpPr>
            <p:cNvPr id="62" name="Group 62"/>
            <p:cNvGrpSpPr/>
            <p:nvPr/>
          </p:nvGrpSpPr>
          <p:grpSpPr>
            <a:xfrm>
              <a:off x="716756" y="5422106"/>
              <a:ext cx="185737" cy="185737"/>
              <a:chOff x="716756" y="5422106"/>
              <a:chExt cx="185737" cy="185737"/>
            </a:xfrm>
          </p:grpSpPr>
          <p:sp>
            <p:nvSpPr>
              <p:cNvPr id="60" name="Freeform 60"/>
              <p:cNvSpPr/>
              <p:nvPr/>
            </p:nvSpPr>
            <p:spPr>
              <a:xfrm>
                <a:off x="716756" y="5422106"/>
                <a:ext cx="185737" cy="185737"/>
              </a:xfrm>
              <a:custGeom>
                <a:avLst/>
                <a:gdLst/>
                <a:ahLst/>
                <a:cxnLst/>
                <a:rect l="l" t="t" r="r" b="b"/>
                <a:pathLst>
                  <a:path w="185737" h="185737">
                    <a:moveTo>
                      <a:pt x="0" y="92868"/>
                    </a:moveTo>
                    <a:cubicBezTo>
                      <a:pt x="0" y="144158"/>
                      <a:pt x="41579" y="185737"/>
                      <a:pt x="92868" y="185737"/>
                    </a:cubicBezTo>
                    <a:cubicBezTo>
                      <a:pt x="144158" y="185737"/>
                      <a:pt x="185737" y="144158"/>
                      <a:pt x="185737" y="92868"/>
                    </a:cubicBezTo>
                    <a:cubicBezTo>
                      <a:pt x="185737" y="41579"/>
                      <a:pt x="144158" y="0"/>
                      <a:pt x="92868" y="0"/>
                    </a:cubicBezTo>
                    <a:cubicBezTo>
                      <a:pt x="41579" y="0"/>
                      <a:pt x="0" y="41579"/>
                      <a:pt x="0" y="92868"/>
                    </a:cubicBezTo>
                  </a:path>
                </a:pathLst>
              </a:custGeom>
              <a:noFill/>
              <a:ln w="20637">
                <a:solidFill>
                  <a:schemeClr val="accent3"/>
                </a:solidFill>
              </a:ln>
            </p:spPr>
          </p:sp>
          <p:sp>
            <p:nvSpPr>
              <p:cNvPr id="61" name="Freeform 61"/>
              <p:cNvSpPr/>
              <p:nvPr/>
            </p:nvSpPr>
            <p:spPr>
              <a:xfrm>
                <a:off x="778668" y="5494337"/>
                <a:ext cx="61912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61912" h="41275">
                    <a:moveTo>
                      <a:pt x="0" y="20637"/>
                    </a:moveTo>
                    <a:lnTo>
                      <a:pt x="20637" y="41275"/>
                    </a:lnTo>
                    <a:lnTo>
                      <a:pt x="61912" y="0"/>
                    </a:lnTo>
                  </a:path>
                </a:pathLst>
              </a:custGeom>
              <a:noFill/>
              <a:ln w="20637">
                <a:solidFill>
                  <a:schemeClr val="accent3"/>
                </a:solidFill>
              </a:ln>
            </p:spPr>
          </p:sp>
        </p:grpSp>
        <p:sp>
          <p:nvSpPr>
            <p:cNvPr id="63" name="TextBox 63"/>
            <p:cNvSpPr txBox="1"/>
            <p:nvPr/>
          </p:nvSpPr>
          <p:spPr>
            <a:xfrm>
              <a:off x="1040892" y="5416550"/>
              <a:ext cx="676078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当前主库 1121 绿（aor-waves 并入后实测）——本页数字为波次合并点口径</a:t>
              </a:r>
            </a:p>
          </p:txBody>
        </p:sp>
      </p:grpSp>
      <p:grpSp>
        <p:nvGrpSpPr>
          <p:cNvPr id="68" name="footer"/>
          <p:cNvGrpSpPr/>
          <p:nvPr/>
        </p:nvGrpSpPr>
        <p:grpSpPr>
          <a:xfrm>
            <a:off x="680466" y="6248400"/>
            <a:ext cx="10831068" cy="326009"/>
            <a:chOff x="680466" y="6248400"/>
            <a:chExt cx="10831068" cy="326009"/>
          </a:xfrm>
        </p:grpSpPr>
        <p:sp>
          <p:nvSpPr>
            <p:cNvPr id="65" name="Line 65"/>
            <p:cNvSpPr/>
            <p:nvPr/>
          </p:nvSpPr>
          <p:spPr>
            <a:xfrm>
              <a:off x="685800" y="624840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66" name="TextBox 66"/>
            <p:cNvSpPr txBox="1"/>
            <p:nvPr/>
          </p:nvSpPr>
          <p:spPr>
            <a:xfrm>
              <a:off x="680466" y="6369050"/>
              <a:ext cx="281528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chemeClr val="accent5"/>
                  </a:solidFill>
                  <a:latin typeface="Consolas"/>
                  <a:ea typeface="Consolas"/>
                  <a:cs typeface="Consolas"/>
                </a:rPr>
                <a:t>github.com/Yfredy/LAOS · v0.35.1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9318193" y="6369050"/>
              <a:ext cx="219334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050" dirty="0">
                  <a:solidFill>
                    <a:schemeClr val="accent5"/>
                  </a:solidFill>
                  <a:latin typeface="Consolas"/>
                  <a:ea typeface="Consolas"/>
                  <a:cs typeface="Consolas"/>
                </a:rPr>
                <a:t>FIELD NOTE 02 · 26.10.09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rid"/>
          <p:cNvSpPr/>
          <p:nvPr/>
        </p:nvSpPr>
        <p:spPr>
          <a:xfrm>
            <a:off x="838200" y="914400"/>
            <a:ext cx="10668000" cy="5181600"/>
          </a:xfrm>
          <a:custGeom>
            <a:avLst/>
            <a:gdLst/>
            <a:ahLst/>
            <a:cxnLst/>
            <a:rect l="l" t="t" r="r" b="b"/>
            <a:pathLst>
              <a:path w="10668000" h="5181600">
                <a:moveTo>
                  <a:pt x="1181100" y="0"/>
                </a:moveTo>
                <a:lnTo>
                  <a:pt x="1181100" y="5181600"/>
                </a:lnTo>
                <a:moveTo>
                  <a:pt x="2514600" y="0"/>
                </a:moveTo>
                <a:lnTo>
                  <a:pt x="2514600" y="5181600"/>
                </a:lnTo>
                <a:moveTo>
                  <a:pt x="3848100" y="0"/>
                </a:moveTo>
                <a:lnTo>
                  <a:pt x="3848100" y="5181600"/>
                </a:lnTo>
                <a:moveTo>
                  <a:pt x="5181600" y="0"/>
                </a:moveTo>
                <a:lnTo>
                  <a:pt x="5181600" y="5181600"/>
                </a:lnTo>
                <a:moveTo>
                  <a:pt x="6515100" y="0"/>
                </a:moveTo>
                <a:lnTo>
                  <a:pt x="6515100" y="5181600"/>
                </a:lnTo>
                <a:moveTo>
                  <a:pt x="7848600" y="0"/>
                </a:moveTo>
                <a:lnTo>
                  <a:pt x="7848600" y="5181600"/>
                </a:lnTo>
                <a:moveTo>
                  <a:pt x="9182100" y="0"/>
                </a:moveTo>
                <a:lnTo>
                  <a:pt x="9182100" y="5181600"/>
                </a:lnTo>
                <a:moveTo>
                  <a:pt x="0" y="1847850"/>
                </a:moveTo>
                <a:lnTo>
                  <a:pt x="10668000" y="1847850"/>
                </a:lnTo>
                <a:moveTo>
                  <a:pt x="0" y="2800350"/>
                </a:moveTo>
                <a:lnTo>
                  <a:pt x="10668000" y="2800350"/>
                </a:lnTo>
                <a:moveTo>
                  <a:pt x="0" y="3752850"/>
                </a:moveTo>
                <a:lnTo>
                  <a:pt x="10668000" y="3752850"/>
                </a:lnTo>
                <a:moveTo>
                  <a:pt x="0" y="4705350"/>
                </a:moveTo>
                <a:lnTo>
                  <a:pt x="10668000" y="4705350"/>
                </a:lnTo>
              </a:path>
            </a:pathLst>
          </a:custGeom>
          <a:noFill/>
          <a:ln w="9525">
            <a:solidFill>
              <a:schemeClr val="accent6">
                <a:alpha val="40000"/>
              </a:schemeClr>
            </a:solidFill>
          </a:ln>
        </p:spPr>
      </p:sp>
      <p:grpSp>
        <p:nvGrpSpPr>
          <p:cNvPr id="6" name="header"/>
          <p:cNvGrpSpPr/>
          <p:nvPr/>
        </p:nvGrpSpPr>
        <p:grpSpPr>
          <a:xfrm>
            <a:off x="680466" y="368300"/>
            <a:ext cx="10831068" cy="346075"/>
            <a:chOff x="680466" y="368300"/>
            <a:chExt cx="10831068" cy="346075"/>
          </a:xfrm>
        </p:grpSpPr>
        <p:sp>
          <p:nvSpPr>
            <p:cNvPr id="3" name="TextBox 3"/>
            <p:cNvSpPr txBox="1"/>
            <p:nvPr/>
          </p:nvSpPr>
          <p:spPr>
            <a:xfrm>
              <a:off x="680466" y="368300"/>
              <a:ext cx="240357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spc="225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LAOS · LINUX AGENTOS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10198798" y="368300"/>
              <a:ext cx="131273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spc="75" dirty="0">
                  <a:solidFill>
                    <a:schemeClr val="accent5"/>
                  </a:solidFill>
                  <a:latin typeface="Consolas"/>
                  <a:ea typeface="Microsoft YaHei"/>
                  <a:cs typeface="Consolas"/>
                </a:rPr>
                <a:t>03 / 12 · 立场</a:t>
              </a:r>
            </a:p>
          </p:txBody>
        </p:sp>
        <p:sp>
          <p:nvSpPr>
            <p:cNvPr id="5" name="Line 5"/>
            <p:cNvSpPr/>
            <p:nvPr/>
          </p:nvSpPr>
          <p:spPr>
            <a:xfrm>
              <a:off x="685800" y="70485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</p:grpSp>
      <p:grpSp>
        <p:nvGrpSpPr>
          <p:cNvPr id="10" name="title"/>
          <p:cNvGrpSpPr/>
          <p:nvPr/>
        </p:nvGrpSpPr>
        <p:grpSpPr>
          <a:xfrm>
            <a:off x="669798" y="876300"/>
            <a:ext cx="10836402" cy="616077"/>
            <a:chOff x="669798" y="876300"/>
            <a:chExt cx="10836402" cy="616077"/>
          </a:xfrm>
        </p:grpSpPr>
        <p:sp>
          <p:nvSpPr>
            <p:cNvPr id="7" name="TextBox 7"/>
            <p:cNvSpPr txBox="1"/>
            <p:nvPr/>
          </p:nvSpPr>
          <p:spPr>
            <a:xfrm>
              <a:off x="669798" y="876300"/>
              <a:ext cx="5696712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为什么「审判席在循环外」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1390650"/>
              <a:ext cx="533400" cy="28575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9" name="Line 9"/>
            <p:cNvSpPr/>
            <p:nvPr/>
          </p:nvSpPr>
          <p:spPr>
            <a:xfrm>
              <a:off x="1333500" y="1400175"/>
              <a:ext cx="10172700" cy="9525"/>
            </a:xfrm>
            <a:custGeom>
              <a:avLst/>
              <a:gdLst/>
              <a:ahLst/>
              <a:cxnLst/>
              <a:rect l="l" t="t" r="r" b="b"/>
              <a:pathLst>
                <a:path w="10172700" h="9525">
                  <a:moveTo>
                    <a:pt x="0" y="0"/>
                  </a:moveTo>
                  <a:lnTo>
                    <a:pt x="101727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</p:grpSp>
      <p:grpSp>
        <p:nvGrpSpPr>
          <p:cNvPr id="27" name="card-industry"/>
          <p:cNvGrpSpPr/>
          <p:nvPr/>
        </p:nvGrpSpPr>
        <p:grpSpPr>
          <a:xfrm>
            <a:off x="685800" y="1638300"/>
            <a:ext cx="5143500" cy="3695700"/>
            <a:chOff x="685800" y="1638300"/>
            <a:chExt cx="5143500" cy="3695700"/>
          </a:xfrm>
        </p:grpSpPr>
        <p:sp>
          <p:nvSpPr>
            <p:cNvPr id="11" name="Rectangle 11"/>
            <p:cNvSpPr/>
            <p:nvPr/>
          </p:nvSpPr>
          <p:spPr>
            <a:xfrm>
              <a:off x="685800" y="1638300"/>
              <a:ext cx="5143500" cy="3695700"/>
            </a:xfrm>
            <a:prstGeom prst="rect">
              <a:avLst/>
            </a:prstGeom>
            <a:solidFill>
              <a:schemeClr val="lt2">
                <a:alpha val="40000"/>
              </a:schemeClr>
            </a:solidFill>
            <a:ln w="14288">
              <a:solidFill>
                <a:schemeClr val="accent1"/>
              </a:solidFill>
            </a:ln>
          </p:spPr>
        </p:sp>
        <p:grpSp>
          <p:nvGrpSpPr>
            <p:cNvPr id="17" name="Group 17"/>
            <p:cNvGrpSpPr/>
            <p:nvPr/>
          </p:nvGrpSpPr>
          <p:grpSpPr>
            <a:xfrm>
              <a:off x="1012031" y="1864519"/>
              <a:ext cx="166688" cy="214312"/>
              <a:chOff x="1012031" y="1864519"/>
              <a:chExt cx="166688" cy="214312"/>
            </a:xfrm>
          </p:grpSpPr>
          <p:sp>
            <p:nvSpPr>
              <p:cNvPr id="12" name="Freeform 12"/>
              <p:cNvSpPr/>
              <p:nvPr/>
            </p:nvSpPr>
            <p:spPr>
              <a:xfrm>
                <a:off x="1119188" y="1864519"/>
                <a:ext cx="59531" cy="59531"/>
              </a:xfrm>
              <a:custGeom>
                <a:avLst/>
                <a:gdLst/>
                <a:ahLst/>
                <a:cxnLst/>
                <a:rect l="l" t="t" r="r" b="b"/>
                <a:pathLst>
                  <a:path w="59531" h="59531">
                    <a:moveTo>
                      <a:pt x="0" y="0"/>
                    </a:moveTo>
                    <a:lnTo>
                      <a:pt x="0" y="47625"/>
                    </a:lnTo>
                    <a:cubicBezTo>
                      <a:pt x="0" y="54201"/>
                      <a:pt x="5331" y="59531"/>
                      <a:pt x="11906" y="59531"/>
                    </a:cubicBezTo>
                    <a:lnTo>
                      <a:pt x="59531" y="59531"/>
                    </a:lnTo>
                  </a:path>
                </a:pathLst>
              </a:custGeom>
              <a:noFill/>
              <a:ln w="23812">
                <a:solidFill>
                  <a:schemeClr val="accent1"/>
                </a:solidFill>
              </a:ln>
            </p:spPr>
          </p:sp>
          <p:sp>
            <p:nvSpPr>
              <p:cNvPr id="13" name="Freeform 13"/>
              <p:cNvSpPr/>
              <p:nvPr/>
            </p:nvSpPr>
            <p:spPr>
              <a:xfrm>
                <a:off x="1012031" y="1864519"/>
                <a:ext cx="166688" cy="214312"/>
              </a:xfrm>
              <a:custGeom>
                <a:avLst/>
                <a:gdLst/>
                <a:ahLst/>
                <a:cxnLst/>
                <a:rect l="l" t="t" r="r" b="b"/>
                <a:pathLst>
                  <a:path w="166688" h="214312">
                    <a:moveTo>
                      <a:pt x="142875" y="214312"/>
                    </a:moveTo>
                    <a:lnTo>
                      <a:pt x="23812" y="214312"/>
                    </a:lnTo>
                    <a:cubicBezTo>
                      <a:pt x="10661" y="214312"/>
                      <a:pt x="0" y="203651"/>
                      <a:pt x="0" y="190500"/>
                    </a:cubicBezTo>
                    <a:lnTo>
                      <a:pt x="0" y="23812"/>
                    </a:lnTo>
                    <a:cubicBezTo>
                      <a:pt x="0" y="10661"/>
                      <a:pt x="10661" y="0"/>
                      <a:pt x="23812" y="0"/>
                    </a:cubicBezTo>
                    <a:lnTo>
                      <a:pt x="107156" y="0"/>
                    </a:lnTo>
                    <a:lnTo>
                      <a:pt x="166688" y="59531"/>
                    </a:lnTo>
                    <a:lnTo>
                      <a:pt x="166688" y="190500"/>
                    </a:lnTo>
                    <a:cubicBezTo>
                      <a:pt x="166688" y="203651"/>
                      <a:pt x="156026" y="214312"/>
                      <a:pt x="142875" y="214312"/>
                    </a:cubicBezTo>
                  </a:path>
                </a:pathLst>
              </a:custGeom>
              <a:noFill/>
              <a:ln w="23812">
                <a:solidFill>
                  <a:schemeClr val="accent1"/>
                </a:solidFill>
              </a:ln>
            </p:spPr>
          </p:sp>
          <p:sp>
            <p:nvSpPr>
              <p:cNvPr id="14" name="Freeform 14"/>
              <p:cNvSpPr/>
              <p:nvPr/>
            </p:nvSpPr>
            <p:spPr>
              <a:xfrm>
                <a:off x="1059656" y="1935956"/>
                <a:ext cx="11906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1906" h="9525">
                    <a:moveTo>
                      <a:pt x="0" y="0"/>
                    </a:moveTo>
                    <a:lnTo>
                      <a:pt x="11906" y="0"/>
                    </a:lnTo>
                  </a:path>
                </a:pathLst>
              </a:custGeom>
              <a:noFill/>
              <a:ln w="23812">
                <a:solidFill>
                  <a:schemeClr val="accent1"/>
                </a:solidFill>
              </a:ln>
            </p:spPr>
          </p:sp>
          <p:sp>
            <p:nvSpPr>
              <p:cNvPr id="15" name="Freeform 15"/>
              <p:cNvSpPr/>
              <p:nvPr/>
            </p:nvSpPr>
            <p:spPr>
              <a:xfrm>
                <a:off x="1059656" y="1983581"/>
                <a:ext cx="7143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71438" h="9525">
                    <a:moveTo>
                      <a:pt x="0" y="0"/>
                    </a:moveTo>
                    <a:lnTo>
                      <a:pt x="71438" y="0"/>
                    </a:lnTo>
                  </a:path>
                </a:pathLst>
              </a:custGeom>
              <a:noFill/>
              <a:ln w="23812">
                <a:solidFill>
                  <a:schemeClr val="accent1"/>
                </a:solidFill>
              </a:ln>
            </p:spPr>
          </p:sp>
          <p:sp>
            <p:nvSpPr>
              <p:cNvPr id="16" name="Freeform 16"/>
              <p:cNvSpPr/>
              <p:nvPr/>
            </p:nvSpPr>
            <p:spPr>
              <a:xfrm>
                <a:off x="1059656" y="2031206"/>
                <a:ext cx="7143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71438" h="9525">
                    <a:moveTo>
                      <a:pt x="0" y="0"/>
                    </a:moveTo>
                    <a:lnTo>
                      <a:pt x="71438" y="0"/>
                    </a:lnTo>
                  </a:path>
                </a:pathLst>
              </a:custGeom>
              <a:noFill/>
              <a:ln w="23812">
                <a:solidFill>
                  <a:schemeClr val="accent1"/>
                </a:solidFill>
              </a:ln>
            </p:spPr>
          </p:sp>
        </p:grpSp>
        <p:sp>
          <p:nvSpPr>
            <p:cNvPr id="18" name="TextBox 18"/>
            <p:cNvSpPr txBox="1"/>
            <p:nvPr/>
          </p:nvSpPr>
          <p:spPr>
            <a:xfrm>
              <a:off x="1362456" y="1831975"/>
              <a:ext cx="190652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行业自己的论证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952500" y="2286000"/>
              <a:ext cx="4610100" cy="9525"/>
            </a:xfrm>
            <a:custGeom>
              <a:avLst/>
              <a:gdLst/>
              <a:ahLst/>
              <a:cxnLst/>
              <a:rect l="l" t="t" r="r" b="b"/>
              <a:pathLst>
                <a:path w="4610100" h="9525">
                  <a:moveTo>
                    <a:pt x="0" y="0"/>
                  </a:moveTo>
                  <a:lnTo>
                    <a:pt x="46101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944118" y="2482850"/>
              <a:ext cx="196302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Weng 七瓶颈之五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945642" y="2806700"/>
              <a:ext cx="365531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「评估器与权限控制应在进化循环之外」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947166" y="3092450"/>
              <a:ext cx="406957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Harness Engineering for Self-Improvement · 2026-07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944118" y="3492500"/>
              <a:ext cx="127523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AIDE² 实证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945642" y="3790950"/>
              <a:ext cx="2532488" cy="5116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0"/>
                </a:lnSpc>
              </a:pPr>
              <a:r>
                <a:rPr lang="en-US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reward hacking 55%→32%</a:t>
              </a:r>
              <a:br>
                <a:rPr lang="en-US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仍有 32% 且非显式优化所得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944118" y="4502150"/>
              <a:ext cx="259016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ICLR26 RSI Workshop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945642" y="4826000"/>
              <a:ext cx="327092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110 篇录用 · 安全与评测类占比显著</a:t>
              </a:r>
            </a:p>
          </p:txBody>
        </p:sp>
      </p:grpSp>
      <p:grpSp>
        <p:nvGrpSpPr>
          <p:cNvPr id="49" name="card-laos"/>
          <p:cNvGrpSpPr/>
          <p:nvPr/>
        </p:nvGrpSpPr>
        <p:grpSpPr>
          <a:xfrm>
            <a:off x="6362700" y="1638300"/>
            <a:ext cx="5143500" cy="3695700"/>
            <a:chOff x="6362700" y="1638300"/>
            <a:chExt cx="5143500" cy="3695700"/>
          </a:xfrm>
        </p:grpSpPr>
        <p:sp>
          <p:nvSpPr>
            <p:cNvPr id="28" name="Rectangle 28"/>
            <p:cNvSpPr/>
            <p:nvPr/>
          </p:nvSpPr>
          <p:spPr>
            <a:xfrm>
              <a:off x="6362700" y="1638300"/>
              <a:ext cx="5143500" cy="3695700"/>
            </a:xfrm>
            <a:prstGeom prst="rect">
              <a:avLst/>
            </a:prstGeom>
            <a:solidFill>
              <a:schemeClr val="lt2">
                <a:alpha val="40000"/>
              </a:schemeClr>
            </a:solidFill>
            <a:ln w="14288">
              <a:solidFill>
                <a:schemeClr val="accent1"/>
              </a:solidFill>
            </a:ln>
          </p:spPr>
        </p:sp>
        <p:grpSp>
          <p:nvGrpSpPr>
            <p:cNvPr id="39" name="Group 39"/>
            <p:cNvGrpSpPr/>
            <p:nvPr/>
          </p:nvGrpSpPr>
          <p:grpSpPr>
            <a:xfrm>
              <a:off x="6665119" y="1864519"/>
              <a:ext cx="214312" cy="214312"/>
              <a:chOff x="6665119" y="1864519"/>
              <a:chExt cx="214312" cy="214312"/>
            </a:xfrm>
          </p:grpSpPr>
          <p:sp>
            <p:nvSpPr>
              <p:cNvPr id="29" name="Freeform 29"/>
              <p:cNvSpPr/>
              <p:nvPr/>
            </p:nvSpPr>
            <p:spPr>
              <a:xfrm>
                <a:off x="6688931" y="1888331"/>
                <a:ext cx="166688" cy="166688"/>
              </a:xfrm>
              <a:custGeom>
                <a:avLst/>
                <a:gdLst/>
                <a:ahLst/>
                <a:cxnLst/>
                <a:rect l="l" t="t" r="r" b="b"/>
                <a:pathLst>
                  <a:path w="166688" h="166688">
                    <a:moveTo>
                      <a:pt x="0" y="11906"/>
                    </a:moveTo>
                    <a:cubicBezTo>
                      <a:pt x="0" y="5331"/>
                      <a:pt x="5331" y="0"/>
                      <a:pt x="11906" y="0"/>
                    </a:cubicBezTo>
                    <a:lnTo>
                      <a:pt x="154781" y="0"/>
                    </a:lnTo>
                    <a:cubicBezTo>
                      <a:pt x="161357" y="0"/>
                      <a:pt x="166688" y="5331"/>
                      <a:pt x="166688" y="11906"/>
                    </a:cubicBezTo>
                    <a:lnTo>
                      <a:pt x="166688" y="154781"/>
                    </a:lnTo>
                    <a:cubicBezTo>
                      <a:pt x="166688" y="161357"/>
                      <a:pt x="161357" y="166688"/>
                      <a:pt x="154781" y="166688"/>
                    </a:cubicBezTo>
                    <a:lnTo>
                      <a:pt x="11906" y="166688"/>
                    </a:lnTo>
                    <a:cubicBezTo>
                      <a:pt x="5331" y="166688"/>
                      <a:pt x="0" y="161357"/>
                      <a:pt x="0" y="154781"/>
                    </a:cubicBezTo>
                    <a:lnTo>
                      <a:pt x="0" y="11906"/>
                    </a:lnTo>
                  </a:path>
                </a:pathLst>
              </a:custGeom>
              <a:noFill/>
              <a:ln w="23812">
                <a:solidFill>
                  <a:schemeClr val="accent1"/>
                </a:solidFill>
              </a:ln>
            </p:spPr>
          </p:sp>
          <p:sp>
            <p:nvSpPr>
              <p:cNvPr id="30" name="Freeform 30"/>
              <p:cNvSpPr/>
              <p:nvPr/>
            </p:nvSpPr>
            <p:spPr>
              <a:xfrm>
                <a:off x="6736556" y="1935956"/>
                <a:ext cx="71438" cy="71438"/>
              </a:xfrm>
              <a:custGeom>
                <a:avLst/>
                <a:gdLst/>
                <a:ahLst/>
                <a:cxnLst/>
                <a:rect l="l" t="t" r="r" b="b"/>
                <a:pathLst>
                  <a:path w="71438" h="71438">
                    <a:moveTo>
                      <a:pt x="0" y="0"/>
                    </a:moveTo>
                    <a:lnTo>
                      <a:pt x="71438" y="0"/>
                    </a:lnTo>
                    <a:lnTo>
                      <a:pt x="71438" y="71438"/>
                    </a:lnTo>
                    <a:lnTo>
                      <a:pt x="0" y="71438"/>
                    </a:lnTo>
                    <a:lnTo>
                      <a:pt x="0" y="0"/>
                    </a:lnTo>
                  </a:path>
                </a:pathLst>
              </a:custGeom>
              <a:noFill/>
              <a:ln w="23812">
                <a:solidFill>
                  <a:schemeClr val="accent1"/>
                </a:solidFill>
              </a:ln>
            </p:spPr>
          </p:sp>
          <p:sp>
            <p:nvSpPr>
              <p:cNvPr id="31" name="Freeform 31"/>
              <p:cNvSpPr/>
              <p:nvPr/>
            </p:nvSpPr>
            <p:spPr>
              <a:xfrm>
                <a:off x="6665119" y="1947862"/>
                <a:ext cx="23812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3812" h="9525">
                    <a:moveTo>
                      <a:pt x="0" y="0"/>
                    </a:moveTo>
                    <a:lnTo>
                      <a:pt x="23812" y="0"/>
                    </a:lnTo>
                  </a:path>
                </a:pathLst>
              </a:custGeom>
              <a:noFill/>
              <a:ln w="23812">
                <a:solidFill>
                  <a:schemeClr val="accent1"/>
                </a:solidFill>
              </a:ln>
            </p:spPr>
          </p:sp>
          <p:sp>
            <p:nvSpPr>
              <p:cNvPr id="32" name="Freeform 32"/>
              <p:cNvSpPr/>
              <p:nvPr/>
            </p:nvSpPr>
            <p:spPr>
              <a:xfrm>
                <a:off x="6665119" y="1995488"/>
                <a:ext cx="23812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3812" h="9525">
                    <a:moveTo>
                      <a:pt x="0" y="0"/>
                    </a:moveTo>
                    <a:lnTo>
                      <a:pt x="23812" y="0"/>
                    </a:lnTo>
                  </a:path>
                </a:pathLst>
              </a:custGeom>
              <a:noFill/>
              <a:ln w="23812">
                <a:solidFill>
                  <a:schemeClr val="accent1"/>
                </a:solidFill>
              </a:ln>
            </p:spPr>
          </p:sp>
          <p:sp>
            <p:nvSpPr>
              <p:cNvPr id="33" name="Freeform 33"/>
              <p:cNvSpPr/>
              <p:nvPr/>
            </p:nvSpPr>
            <p:spPr>
              <a:xfrm>
                <a:off x="6748462" y="1864519"/>
                <a:ext cx="9525" cy="23812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23812">
                    <a:moveTo>
                      <a:pt x="0" y="0"/>
                    </a:moveTo>
                    <a:lnTo>
                      <a:pt x="0" y="23812"/>
                    </a:lnTo>
                  </a:path>
                </a:pathLst>
              </a:custGeom>
              <a:noFill/>
              <a:ln w="23812">
                <a:solidFill>
                  <a:schemeClr val="accent1"/>
                </a:solidFill>
              </a:ln>
            </p:spPr>
          </p:sp>
          <p:sp>
            <p:nvSpPr>
              <p:cNvPr id="34" name="Freeform 34"/>
              <p:cNvSpPr/>
              <p:nvPr/>
            </p:nvSpPr>
            <p:spPr>
              <a:xfrm>
                <a:off x="6796088" y="1864519"/>
                <a:ext cx="9525" cy="23812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23812">
                    <a:moveTo>
                      <a:pt x="0" y="0"/>
                    </a:moveTo>
                    <a:lnTo>
                      <a:pt x="0" y="23812"/>
                    </a:lnTo>
                  </a:path>
                </a:pathLst>
              </a:custGeom>
              <a:noFill/>
              <a:ln w="23812">
                <a:solidFill>
                  <a:schemeClr val="accent1"/>
                </a:solidFill>
              </a:ln>
            </p:spPr>
          </p:sp>
          <p:sp>
            <p:nvSpPr>
              <p:cNvPr id="35" name="Freeform 35"/>
              <p:cNvSpPr/>
              <p:nvPr/>
            </p:nvSpPr>
            <p:spPr>
              <a:xfrm>
                <a:off x="6855619" y="1947862"/>
                <a:ext cx="23812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3812" h="9525">
                    <a:moveTo>
                      <a:pt x="23812" y="0"/>
                    </a:moveTo>
                    <a:lnTo>
                      <a:pt x="0" y="0"/>
                    </a:lnTo>
                  </a:path>
                </a:pathLst>
              </a:custGeom>
              <a:noFill/>
              <a:ln w="23812">
                <a:solidFill>
                  <a:schemeClr val="accent1"/>
                </a:solidFill>
              </a:ln>
            </p:spPr>
          </p:sp>
          <p:sp>
            <p:nvSpPr>
              <p:cNvPr id="36" name="Freeform 36"/>
              <p:cNvSpPr/>
              <p:nvPr/>
            </p:nvSpPr>
            <p:spPr>
              <a:xfrm>
                <a:off x="6855619" y="1995488"/>
                <a:ext cx="23812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3812" h="9525">
                    <a:moveTo>
                      <a:pt x="23812" y="0"/>
                    </a:moveTo>
                    <a:lnTo>
                      <a:pt x="0" y="0"/>
                    </a:lnTo>
                  </a:path>
                </a:pathLst>
              </a:custGeom>
              <a:noFill/>
              <a:ln w="23812">
                <a:solidFill>
                  <a:schemeClr val="accent1"/>
                </a:solidFill>
              </a:ln>
            </p:spPr>
          </p:sp>
          <p:sp>
            <p:nvSpPr>
              <p:cNvPr id="37" name="Freeform 37"/>
              <p:cNvSpPr/>
              <p:nvPr/>
            </p:nvSpPr>
            <p:spPr>
              <a:xfrm>
                <a:off x="6796088" y="2055019"/>
                <a:ext cx="9525" cy="23812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23812">
                    <a:moveTo>
                      <a:pt x="0" y="23812"/>
                    </a:moveTo>
                    <a:lnTo>
                      <a:pt x="0" y="0"/>
                    </a:lnTo>
                  </a:path>
                </a:pathLst>
              </a:custGeom>
              <a:noFill/>
              <a:ln w="23812">
                <a:solidFill>
                  <a:schemeClr val="accent1"/>
                </a:solidFill>
              </a:ln>
            </p:spPr>
          </p:sp>
          <p:sp>
            <p:nvSpPr>
              <p:cNvPr id="38" name="Freeform 38"/>
              <p:cNvSpPr/>
              <p:nvPr/>
            </p:nvSpPr>
            <p:spPr>
              <a:xfrm>
                <a:off x="6748462" y="2055019"/>
                <a:ext cx="9525" cy="23812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23812">
                    <a:moveTo>
                      <a:pt x="0" y="23812"/>
                    </a:moveTo>
                    <a:lnTo>
                      <a:pt x="0" y="0"/>
                    </a:lnTo>
                  </a:path>
                </a:pathLst>
              </a:custGeom>
              <a:noFill/>
              <a:ln w="23812">
                <a:solidFill>
                  <a:schemeClr val="accent1"/>
                </a:solidFill>
              </a:ln>
            </p:spPr>
          </p:sp>
        </p:grpSp>
        <p:sp>
          <p:nvSpPr>
            <p:cNvPr id="40" name="TextBox 40"/>
            <p:cNvSpPr txBox="1"/>
            <p:nvPr/>
          </p:nvSpPr>
          <p:spPr>
            <a:xfrm>
              <a:off x="7039356" y="1831975"/>
              <a:ext cx="200430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laos 的对应动作</a:t>
              </a:r>
            </a:p>
          </p:txBody>
        </p:sp>
        <p:sp>
          <p:nvSpPr>
            <p:cNvPr id="41" name="Line 41"/>
            <p:cNvSpPr/>
            <p:nvPr/>
          </p:nvSpPr>
          <p:spPr>
            <a:xfrm>
              <a:off x="6629400" y="2286000"/>
              <a:ext cx="4610100" cy="9525"/>
            </a:xfrm>
            <a:custGeom>
              <a:avLst/>
              <a:gdLst/>
              <a:ahLst/>
              <a:cxnLst/>
              <a:rect l="l" t="t" r="r" b="b"/>
              <a:pathLst>
                <a:path w="4610100" h="9525">
                  <a:moveTo>
                    <a:pt x="0" y="0"/>
                  </a:moveTo>
                  <a:lnTo>
                    <a:pt x="46101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6621018" y="2482850"/>
              <a:ext cx="174764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会自改写的负载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6622542" y="2806700"/>
              <a:ext cx="351784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RSI 让 Agent 进化自身代码与 harness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6621018" y="3244850"/>
              <a:ext cx="144237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OS 史的回应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6622542" y="3568700"/>
              <a:ext cx="310958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W^X · 不可变内核文本 · 代码签名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6621018" y="4006850"/>
              <a:ext cx="134274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laos 的位置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6622542" y="4330700"/>
              <a:ext cx="205705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不做改进算法——是它的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6622542" y="4578350"/>
              <a:ext cx="268422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chemeClr val="accent5"/>
                  </a:solidFill>
                  <a:latin typeface="Consolas"/>
                  <a:ea typeface="Consolas"/>
                  <a:cs typeface="Consolas"/>
                </a:rPr>
                <a:t>cgroup / seccomp / audit</a:t>
              </a:r>
            </a:p>
          </p:txBody>
        </p:sp>
      </p:grpSp>
      <p:grpSp>
        <p:nvGrpSpPr>
          <p:cNvPr id="54" name="evidence-line"/>
          <p:cNvGrpSpPr/>
          <p:nvPr/>
        </p:nvGrpSpPr>
        <p:grpSpPr>
          <a:xfrm>
            <a:off x="685800" y="5568950"/>
            <a:ext cx="9991725" cy="260350"/>
            <a:chOff x="685800" y="5568950"/>
            <a:chExt cx="9991725" cy="260350"/>
          </a:xfrm>
        </p:grpSpPr>
        <p:sp>
          <p:nvSpPr>
            <p:cNvPr id="50" name="Line 50"/>
            <p:cNvSpPr/>
            <p:nvPr/>
          </p:nvSpPr>
          <p:spPr>
            <a:xfrm>
              <a:off x="685800" y="5753100"/>
              <a:ext cx="9982200" cy="9525"/>
            </a:xfrm>
            <a:custGeom>
              <a:avLst/>
              <a:gdLst/>
              <a:ahLst/>
              <a:cxnLst/>
              <a:rect l="l" t="t" r="r" b="b"/>
              <a:pathLst>
                <a:path w="9982200" h="9525">
                  <a:moveTo>
                    <a:pt x="0" y="0"/>
                  </a:moveTo>
                  <a:lnTo>
                    <a:pt x="99822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51" name="Line 51"/>
            <p:cNvSpPr/>
            <p:nvPr/>
          </p:nvSpPr>
          <p:spPr>
            <a:xfrm>
              <a:off x="685800" y="5676900"/>
              <a:ext cx="9525" cy="152400"/>
            </a:xfrm>
            <a:custGeom>
              <a:avLst/>
              <a:gdLst/>
              <a:ahLst/>
              <a:cxnLst/>
              <a:rect l="l" t="t" r="r" b="b"/>
              <a:pathLst>
                <a:path w="9525" h="152400">
                  <a:moveTo>
                    <a:pt x="0" y="0"/>
                  </a:moveTo>
                  <a:lnTo>
                    <a:pt x="0" y="15240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52" name="Line 52"/>
            <p:cNvSpPr/>
            <p:nvPr/>
          </p:nvSpPr>
          <p:spPr>
            <a:xfrm>
              <a:off x="10668000" y="5676900"/>
              <a:ext cx="9525" cy="152400"/>
            </a:xfrm>
            <a:custGeom>
              <a:avLst/>
              <a:gdLst/>
              <a:ahLst/>
              <a:cxnLst/>
              <a:rect l="l" t="t" r="r" b="b"/>
              <a:pathLst>
                <a:path w="9525" h="152400">
                  <a:moveTo>
                    <a:pt x="0" y="0"/>
                  </a:moveTo>
                  <a:lnTo>
                    <a:pt x="0" y="15240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3767595" y="5568950"/>
              <a:ext cx="38186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dirty="0">
                  <a:solidFill>
                    <a:schemeClr val="accent5"/>
                  </a:solidFill>
                  <a:latin typeface="Consolas"/>
                  <a:ea typeface="Consolas"/>
                  <a:cs typeface="Consolas"/>
                </a:rPr>
                <a:t>docs/research/2026-10-09-rsi-landscape.md §8</a:t>
              </a:r>
            </a:p>
          </p:txBody>
        </p:sp>
      </p:grpSp>
      <p:grpSp>
        <p:nvGrpSpPr>
          <p:cNvPr id="58" name="footer"/>
          <p:cNvGrpSpPr/>
          <p:nvPr/>
        </p:nvGrpSpPr>
        <p:grpSpPr>
          <a:xfrm>
            <a:off x="680466" y="6248400"/>
            <a:ext cx="10831068" cy="326009"/>
            <a:chOff x="680466" y="6248400"/>
            <a:chExt cx="10831068" cy="326009"/>
          </a:xfrm>
        </p:grpSpPr>
        <p:sp>
          <p:nvSpPr>
            <p:cNvPr id="55" name="Line 55"/>
            <p:cNvSpPr/>
            <p:nvPr/>
          </p:nvSpPr>
          <p:spPr>
            <a:xfrm>
              <a:off x="685800" y="624840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680466" y="6369050"/>
              <a:ext cx="281528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chemeClr val="accent5"/>
                  </a:solidFill>
                  <a:latin typeface="Consolas"/>
                  <a:ea typeface="Consolas"/>
                  <a:cs typeface="Consolas"/>
                </a:rPr>
                <a:t>github.com/Yfredy/LAOS · v0.35.1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9318193" y="6369050"/>
              <a:ext cx="219334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050" dirty="0">
                  <a:solidFill>
                    <a:schemeClr val="accent5"/>
                  </a:solidFill>
                  <a:latin typeface="Consolas"/>
                  <a:ea typeface="Consolas"/>
                  <a:cs typeface="Consolas"/>
                </a:rPr>
                <a:t>FIELD NOTE 02 · 26.10.09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rid"/>
          <p:cNvSpPr/>
          <p:nvPr/>
        </p:nvSpPr>
        <p:spPr>
          <a:xfrm>
            <a:off x="838200" y="914400"/>
            <a:ext cx="10668000" cy="5181600"/>
          </a:xfrm>
          <a:custGeom>
            <a:avLst/>
            <a:gdLst/>
            <a:ahLst/>
            <a:cxnLst/>
            <a:rect l="l" t="t" r="r" b="b"/>
            <a:pathLst>
              <a:path w="10668000" h="5181600">
                <a:moveTo>
                  <a:pt x="1181100" y="0"/>
                </a:moveTo>
                <a:lnTo>
                  <a:pt x="1181100" y="5181600"/>
                </a:lnTo>
                <a:moveTo>
                  <a:pt x="2514600" y="0"/>
                </a:moveTo>
                <a:lnTo>
                  <a:pt x="2514600" y="5181600"/>
                </a:lnTo>
                <a:moveTo>
                  <a:pt x="3848100" y="0"/>
                </a:moveTo>
                <a:lnTo>
                  <a:pt x="3848100" y="5181600"/>
                </a:lnTo>
                <a:moveTo>
                  <a:pt x="5181600" y="0"/>
                </a:moveTo>
                <a:lnTo>
                  <a:pt x="5181600" y="5181600"/>
                </a:lnTo>
                <a:moveTo>
                  <a:pt x="6515100" y="0"/>
                </a:moveTo>
                <a:lnTo>
                  <a:pt x="6515100" y="5181600"/>
                </a:lnTo>
                <a:moveTo>
                  <a:pt x="7848600" y="0"/>
                </a:moveTo>
                <a:lnTo>
                  <a:pt x="7848600" y="5181600"/>
                </a:lnTo>
                <a:moveTo>
                  <a:pt x="9182100" y="0"/>
                </a:moveTo>
                <a:lnTo>
                  <a:pt x="9182100" y="5181600"/>
                </a:lnTo>
                <a:moveTo>
                  <a:pt x="0" y="1847850"/>
                </a:moveTo>
                <a:lnTo>
                  <a:pt x="10668000" y="1847850"/>
                </a:lnTo>
                <a:moveTo>
                  <a:pt x="0" y="2800350"/>
                </a:moveTo>
                <a:lnTo>
                  <a:pt x="10668000" y="2800350"/>
                </a:lnTo>
                <a:moveTo>
                  <a:pt x="0" y="3752850"/>
                </a:moveTo>
                <a:lnTo>
                  <a:pt x="10668000" y="3752850"/>
                </a:lnTo>
                <a:moveTo>
                  <a:pt x="0" y="4705350"/>
                </a:moveTo>
                <a:lnTo>
                  <a:pt x="10668000" y="4705350"/>
                </a:lnTo>
              </a:path>
            </a:pathLst>
          </a:custGeom>
          <a:noFill/>
          <a:ln w="9525">
            <a:solidFill>
              <a:schemeClr val="accent6">
                <a:alpha val="40000"/>
              </a:schemeClr>
            </a:solidFill>
          </a:ln>
        </p:spPr>
      </p:sp>
      <p:grpSp>
        <p:nvGrpSpPr>
          <p:cNvPr id="6" name="header"/>
          <p:cNvGrpSpPr/>
          <p:nvPr/>
        </p:nvGrpSpPr>
        <p:grpSpPr>
          <a:xfrm>
            <a:off x="680466" y="368300"/>
            <a:ext cx="10831068" cy="346075"/>
            <a:chOff x="680466" y="368300"/>
            <a:chExt cx="10831068" cy="346075"/>
          </a:xfrm>
        </p:grpSpPr>
        <p:sp>
          <p:nvSpPr>
            <p:cNvPr id="3" name="TextBox 3"/>
            <p:cNvSpPr txBox="1"/>
            <p:nvPr/>
          </p:nvSpPr>
          <p:spPr>
            <a:xfrm>
              <a:off x="680466" y="368300"/>
              <a:ext cx="240357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spc="225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LAOS · LINUX AGENTOS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10198798" y="368300"/>
              <a:ext cx="131273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spc="75" dirty="0">
                  <a:solidFill>
                    <a:schemeClr val="accent5"/>
                  </a:solidFill>
                  <a:latin typeface="Consolas"/>
                  <a:ea typeface="Microsoft YaHei"/>
                  <a:cs typeface="Consolas"/>
                </a:rPr>
                <a:t>04 / 12 · 架构</a:t>
              </a:r>
            </a:p>
          </p:txBody>
        </p:sp>
        <p:sp>
          <p:nvSpPr>
            <p:cNvPr id="5" name="Line 5"/>
            <p:cNvSpPr/>
            <p:nvPr/>
          </p:nvSpPr>
          <p:spPr>
            <a:xfrm>
              <a:off x="685800" y="70485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</p:grpSp>
      <p:grpSp>
        <p:nvGrpSpPr>
          <p:cNvPr id="10" name="title"/>
          <p:cNvGrpSpPr/>
          <p:nvPr/>
        </p:nvGrpSpPr>
        <p:grpSpPr>
          <a:xfrm>
            <a:off x="669798" y="876300"/>
            <a:ext cx="10836402" cy="616077"/>
            <a:chOff x="669798" y="876300"/>
            <a:chExt cx="10836402" cy="616077"/>
          </a:xfrm>
        </p:grpSpPr>
        <p:sp>
          <p:nvSpPr>
            <p:cNvPr id="7" name="TextBox 7"/>
            <p:cNvSpPr txBox="1"/>
            <p:nvPr/>
          </p:nvSpPr>
          <p:spPr>
            <a:xfrm>
              <a:off x="669798" y="876300"/>
              <a:ext cx="5224653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三层分离：治理不进循环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1390650"/>
              <a:ext cx="533400" cy="28575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9" name="Line 9"/>
            <p:cNvSpPr/>
            <p:nvPr/>
          </p:nvSpPr>
          <p:spPr>
            <a:xfrm>
              <a:off x="1333500" y="1400175"/>
              <a:ext cx="10172700" cy="9525"/>
            </a:xfrm>
            <a:custGeom>
              <a:avLst/>
              <a:gdLst/>
              <a:ahLst/>
              <a:cxnLst/>
              <a:rect l="l" t="t" r="r" b="b"/>
              <a:pathLst>
                <a:path w="10172700" h="9525">
                  <a:moveTo>
                    <a:pt x="0" y="0"/>
                  </a:moveTo>
                  <a:lnTo>
                    <a:pt x="101727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</p:grpSp>
      <p:grpSp>
        <p:nvGrpSpPr>
          <p:cNvPr id="26" name="tier-1"/>
          <p:cNvGrpSpPr/>
          <p:nvPr/>
        </p:nvGrpSpPr>
        <p:grpSpPr>
          <a:xfrm>
            <a:off x="685800" y="1562100"/>
            <a:ext cx="10820400" cy="1390650"/>
            <a:chOff x="685800" y="1562100"/>
            <a:chExt cx="10820400" cy="1390650"/>
          </a:xfrm>
        </p:grpSpPr>
        <p:sp>
          <p:nvSpPr>
            <p:cNvPr id="11" name="Rectangle 11"/>
            <p:cNvSpPr/>
            <p:nvPr/>
          </p:nvSpPr>
          <p:spPr>
            <a:xfrm>
              <a:off x="685800" y="1562100"/>
              <a:ext cx="10820400" cy="1390650"/>
            </a:xfrm>
            <a:prstGeom prst="rect">
              <a:avLst/>
            </a:prstGeom>
            <a:solidFill>
              <a:schemeClr val="lt2">
                <a:alpha val="40000"/>
              </a:schemeClr>
            </a:solidFill>
            <a:ln w="14288">
              <a:solidFill>
                <a:schemeClr val="accent1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906018" y="1701800"/>
              <a:ext cx="235654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① 循环外 · laos 核心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909066" y="2044700"/>
              <a:ext cx="65581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纯 stdlib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2381250" y="1752600"/>
              <a:ext cx="1428750" cy="323850"/>
            </a:xfrm>
            <a:prstGeom prst="rect">
              <a:avLst/>
            </a:prstGeom>
            <a:noFill/>
            <a:ln w="9525">
              <a:solidFill>
                <a:schemeClr val="accent1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2700842" y="1835150"/>
              <a:ext cx="78956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evolve.py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3962400" y="1752600"/>
              <a:ext cx="1809750" cy="323850"/>
            </a:xfrm>
            <a:prstGeom prst="rect">
              <a:avLst/>
            </a:prstGeom>
            <a:noFill/>
            <a:ln w="9525">
              <a:solidFill>
                <a:schemeClr val="accent1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4126316" y="1835150"/>
              <a:ext cx="14819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kernel evolve.run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5924550" y="1752600"/>
              <a:ext cx="1143000" cy="323850"/>
            </a:xfrm>
            <a:prstGeom prst="rect">
              <a:avLst/>
            </a:prstGeom>
            <a:noFill/>
            <a:ln w="9525">
              <a:solidFill>
                <a:schemeClr val="accent1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6144539" y="1835150"/>
              <a:ext cx="7030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sentinel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2381250" y="2190750"/>
              <a:ext cx="1428750" cy="323850"/>
            </a:xfrm>
            <a:prstGeom prst="rect">
              <a:avLst/>
            </a:prstGeom>
            <a:noFill/>
            <a:ln w="9525">
              <a:solidFill>
                <a:schemeClr val="accent1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2739714" y="2273300"/>
              <a:ext cx="71182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AuditLog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3962400" y="2190750"/>
              <a:ext cx="1809750" cy="323850"/>
            </a:xfrm>
            <a:prstGeom prst="rect">
              <a:avLst/>
            </a:prstGeom>
            <a:noFill/>
            <a:ln w="9525">
              <a:solidFill>
                <a:schemeClr val="accent1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4145078" y="2273300"/>
              <a:ext cx="14443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chemeClr val="dk1"/>
                  </a:solidFill>
                  <a:latin typeface="Consolas"/>
                  <a:ea typeface="Microsoft YaHei"/>
                  <a:cs typeface="Consolas"/>
                </a:rPr>
                <a:t>EvolveGate 路径闸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8089392" y="1854200"/>
              <a:ext cx="4183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红线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8090154" y="2114550"/>
              <a:ext cx="1873453" cy="48234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0"/>
                </a:lnSpc>
              </a:pPr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不 import 重依赖</a:t>
              </a:r>
              <a:b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不被进化的 agent 触碰</a:t>
              </a:r>
            </a:p>
          </p:txBody>
        </p:sp>
      </p:grpSp>
      <p:grpSp>
        <p:nvGrpSpPr>
          <p:cNvPr id="37" name="tier-2"/>
          <p:cNvGrpSpPr/>
          <p:nvPr/>
        </p:nvGrpSpPr>
        <p:grpSpPr>
          <a:xfrm>
            <a:off x="685800" y="3067050"/>
            <a:ext cx="10820400" cy="1295400"/>
            <a:chOff x="685800" y="3067050"/>
            <a:chExt cx="10820400" cy="1295400"/>
          </a:xfrm>
        </p:grpSpPr>
        <p:sp>
          <p:nvSpPr>
            <p:cNvPr id="27" name="Rectangle 27"/>
            <p:cNvSpPr/>
            <p:nvPr/>
          </p:nvSpPr>
          <p:spPr>
            <a:xfrm>
              <a:off x="685800" y="3067050"/>
              <a:ext cx="10820400" cy="1295400"/>
            </a:xfrm>
            <a:prstGeom prst="rect">
              <a:avLst/>
            </a:prstGeom>
            <a:solidFill>
              <a:schemeClr val="lt2">
                <a:alpha val="40000"/>
              </a:schemeClr>
            </a:solidFill>
            <a:ln w="14288">
              <a:solidFill>
                <a:schemeClr val="accent1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906018" y="3206750"/>
              <a:ext cx="235531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② 装配面 · drivers/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909066" y="3549650"/>
              <a:ext cx="79743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重依赖止步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2381250" y="3257550"/>
              <a:ext cx="1809750" cy="323850"/>
            </a:xfrm>
            <a:prstGeom prst="rect">
              <a:avLst/>
            </a:prstGeom>
            <a:noFill/>
            <a:ln w="9525">
              <a:solidFill>
                <a:schemeClr val="accent1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2718254" y="3340100"/>
              <a:ext cx="113574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drv_evolve.py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4343400" y="3257550"/>
              <a:ext cx="1809750" cy="323850"/>
            </a:xfrm>
            <a:prstGeom prst="rect">
              <a:avLst/>
            </a:prstGeom>
            <a:noFill/>
            <a:ln w="9525">
              <a:solidFill>
                <a:schemeClr val="accent1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4637132" y="3340100"/>
              <a:ext cx="122228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openevolve_job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908304" y="3886200"/>
              <a:ext cx="55502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import 即登记（ENODEV 兜底）· 单行 JSON 契约 · workdir 二道闸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8089392" y="3359150"/>
              <a:ext cx="4183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红线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8090154" y="3619500"/>
              <a:ext cx="1909420" cy="48234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0"/>
                </a:lnSpc>
              </a:pPr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重依赖不出本层</a:t>
              </a:r>
              <a:b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核心零感知 openevolve</a:t>
              </a:r>
            </a:p>
          </p:txBody>
        </p:sp>
      </p:grpSp>
      <p:grpSp>
        <p:nvGrpSpPr>
          <p:cNvPr id="51" name="tier-3"/>
          <p:cNvGrpSpPr/>
          <p:nvPr/>
        </p:nvGrpSpPr>
        <p:grpSpPr>
          <a:xfrm>
            <a:off x="685800" y="4533900"/>
            <a:ext cx="10820400" cy="1295400"/>
            <a:chOff x="685800" y="4533900"/>
            <a:chExt cx="10820400" cy="1295400"/>
          </a:xfrm>
        </p:grpSpPr>
        <p:sp>
          <p:nvSpPr>
            <p:cNvPr id="38" name="Rectangle 38"/>
            <p:cNvSpPr/>
            <p:nvPr/>
          </p:nvSpPr>
          <p:spPr>
            <a:xfrm>
              <a:off x="685800" y="4533900"/>
              <a:ext cx="10820400" cy="1295400"/>
            </a:xfrm>
            <a:prstGeom prst="rect">
              <a:avLst/>
            </a:prstGeom>
            <a:solidFill>
              <a:schemeClr val="lt2">
                <a:alpha val="40000"/>
              </a:schemeClr>
            </a:solidFill>
            <a:ln w="14288">
              <a:solidFill>
                <a:schemeClr val="accent1"/>
              </a:solidFill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906018" y="4673600"/>
              <a:ext cx="266872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③ 循环内 · venv 子进程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909066" y="5016500"/>
              <a:ext cx="119081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gitignored var/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2381250" y="4724400"/>
              <a:ext cx="1809750" cy="323850"/>
            </a:xfrm>
            <a:prstGeom prst="rect">
              <a:avLst/>
            </a:prstGeom>
            <a:noFill/>
            <a:ln w="9525">
              <a:solidFill>
                <a:schemeClr val="accent1"/>
              </a:solidFill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2674982" y="4806950"/>
              <a:ext cx="122228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openevolve-run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4343400" y="4724400"/>
              <a:ext cx="1524000" cy="323850"/>
            </a:xfrm>
            <a:prstGeom prst="rect">
              <a:avLst/>
            </a:prstGeom>
            <a:noFill/>
            <a:ln w="9525">
              <a:solidFill>
                <a:schemeClr val="accent1"/>
              </a:solidFill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4624073" y="4806950"/>
              <a:ext cx="9626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checkpoints</a:t>
              </a:r>
            </a:p>
          </p:txBody>
        </p:sp>
        <p:sp>
          <p:nvSpPr>
            <p:cNvPr id="45" name="Rectangle 45"/>
            <p:cNvSpPr/>
            <p:nvPr/>
          </p:nvSpPr>
          <p:spPr>
            <a:xfrm>
              <a:off x="6019800" y="4724400"/>
              <a:ext cx="1428750" cy="323850"/>
            </a:xfrm>
            <a:prstGeom prst="rect">
              <a:avLst/>
            </a:prstGeom>
            <a:noFill/>
            <a:ln w="9525">
              <a:solidFill>
                <a:schemeClr val="accent1"/>
              </a:solidFill>
              <a:custDash>
                <a:ds d="500000" sp="400000"/>
              </a:custDash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6228645" y="4806950"/>
              <a:ext cx="101106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dirty="0">
                  <a:solidFill>
                    <a:schemeClr val="accent5"/>
                  </a:solidFill>
                  <a:latin typeface="Consolas"/>
                  <a:ea typeface="Consolas"/>
                  <a:cs typeface="Consolas"/>
                </a:rPr>
                <a:t>LLM BLOCKED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908304" y="5353050"/>
              <a:ext cx="618073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官方 CLI 稳定面 · checkpoints 落盘 best+metrics · 允许根 var/rsi/jobs/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8089392" y="4826000"/>
              <a:ext cx="4183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红线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8090154" y="5124450"/>
              <a:ext cx="127101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产物不出允许根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8090154" y="5372100"/>
              <a:ext cx="127101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外部代码零信任</a:t>
              </a:r>
            </a:p>
          </p:txBody>
        </p:sp>
      </p:grpSp>
      <p:grpSp>
        <p:nvGrpSpPr>
          <p:cNvPr id="55" name="footer"/>
          <p:cNvGrpSpPr/>
          <p:nvPr/>
        </p:nvGrpSpPr>
        <p:grpSpPr>
          <a:xfrm>
            <a:off x="680466" y="6248400"/>
            <a:ext cx="10831068" cy="326009"/>
            <a:chOff x="680466" y="6248400"/>
            <a:chExt cx="10831068" cy="326009"/>
          </a:xfrm>
        </p:grpSpPr>
        <p:sp>
          <p:nvSpPr>
            <p:cNvPr id="52" name="Line 52"/>
            <p:cNvSpPr/>
            <p:nvPr/>
          </p:nvSpPr>
          <p:spPr>
            <a:xfrm>
              <a:off x="685800" y="624840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680466" y="6369050"/>
              <a:ext cx="281528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chemeClr val="accent5"/>
                  </a:solidFill>
                  <a:latin typeface="Consolas"/>
                  <a:ea typeface="Consolas"/>
                  <a:cs typeface="Consolas"/>
                </a:rPr>
                <a:t>github.com/Yfredy/LAOS · v0.35.1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9318193" y="6369050"/>
              <a:ext cx="219334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050" dirty="0">
                  <a:solidFill>
                    <a:schemeClr val="accent5"/>
                  </a:solidFill>
                  <a:latin typeface="Consolas"/>
                  <a:ea typeface="Consolas"/>
                  <a:cs typeface="Consolas"/>
                </a:rPr>
                <a:t>FIELD NOTE 02 · 26.10.09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rid"/>
          <p:cNvSpPr/>
          <p:nvPr/>
        </p:nvSpPr>
        <p:spPr>
          <a:xfrm>
            <a:off x="838200" y="914400"/>
            <a:ext cx="10668000" cy="5181600"/>
          </a:xfrm>
          <a:custGeom>
            <a:avLst/>
            <a:gdLst/>
            <a:ahLst/>
            <a:cxnLst/>
            <a:rect l="l" t="t" r="r" b="b"/>
            <a:pathLst>
              <a:path w="10668000" h="5181600">
                <a:moveTo>
                  <a:pt x="1181100" y="0"/>
                </a:moveTo>
                <a:lnTo>
                  <a:pt x="1181100" y="5181600"/>
                </a:lnTo>
                <a:moveTo>
                  <a:pt x="2514600" y="0"/>
                </a:moveTo>
                <a:lnTo>
                  <a:pt x="2514600" y="5181600"/>
                </a:lnTo>
                <a:moveTo>
                  <a:pt x="3848100" y="0"/>
                </a:moveTo>
                <a:lnTo>
                  <a:pt x="3848100" y="5181600"/>
                </a:lnTo>
                <a:moveTo>
                  <a:pt x="5181600" y="0"/>
                </a:moveTo>
                <a:lnTo>
                  <a:pt x="5181600" y="5181600"/>
                </a:lnTo>
                <a:moveTo>
                  <a:pt x="6515100" y="0"/>
                </a:moveTo>
                <a:lnTo>
                  <a:pt x="6515100" y="5181600"/>
                </a:lnTo>
                <a:moveTo>
                  <a:pt x="7848600" y="0"/>
                </a:moveTo>
                <a:lnTo>
                  <a:pt x="7848600" y="5181600"/>
                </a:lnTo>
                <a:moveTo>
                  <a:pt x="9182100" y="0"/>
                </a:moveTo>
                <a:lnTo>
                  <a:pt x="9182100" y="5181600"/>
                </a:lnTo>
                <a:moveTo>
                  <a:pt x="0" y="1847850"/>
                </a:moveTo>
                <a:lnTo>
                  <a:pt x="10668000" y="1847850"/>
                </a:lnTo>
                <a:moveTo>
                  <a:pt x="0" y="2800350"/>
                </a:moveTo>
                <a:lnTo>
                  <a:pt x="10668000" y="2800350"/>
                </a:lnTo>
                <a:moveTo>
                  <a:pt x="0" y="3752850"/>
                </a:moveTo>
                <a:lnTo>
                  <a:pt x="10668000" y="3752850"/>
                </a:lnTo>
                <a:moveTo>
                  <a:pt x="0" y="4705350"/>
                </a:moveTo>
                <a:lnTo>
                  <a:pt x="10668000" y="4705350"/>
                </a:lnTo>
              </a:path>
            </a:pathLst>
          </a:custGeom>
          <a:noFill/>
          <a:ln w="9525">
            <a:solidFill>
              <a:schemeClr val="accent6">
                <a:alpha val="40000"/>
              </a:schemeClr>
            </a:solidFill>
          </a:ln>
        </p:spPr>
      </p:sp>
      <p:grpSp>
        <p:nvGrpSpPr>
          <p:cNvPr id="6" name="header"/>
          <p:cNvGrpSpPr/>
          <p:nvPr/>
        </p:nvGrpSpPr>
        <p:grpSpPr>
          <a:xfrm>
            <a:off x="680466" y="368300"/>
            <a:ext cx="10831068" cy="346075"/>
            <a:chOff x="680466" y="368300"/>
            <a:chExt cx="10831068" cy="346075"/>
          </a:xfrm>
        </p:grpSpPr>
        <p:sp>
          <p:nvSpPr>
            <p:cNvPr id="3" name="TextBox 3"/>
            <p:cNvSpPr txBox="1"/>
            <p:nvPr/>
          </p:nvSpPr>
          <p:spPr>
            <a:xfrm>
              <a:off x="680466" y="368300"/>
              <a:ext cx="240357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spc="225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LAOS · LINUX AGENTOS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10198798" y="368300"/>
              <a:ext cx="131273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spc="75" dirty="0">
                  <a:solidFill>
                    <a:schemeClr val="accent5"/>
                  </a:solidFill>
                  <a:latin typeface="Consolas"/>
                  <a:ea typeface="Microsoft YaHei"/>
                  <a:cs typeface="Consolas"/>
                </a:rPr>
                <a:t>05 / 12 · 闸门</a:t>
              </a:r>
            </a:p>
          </p:txBody>
        </p:sp>
        <p:sp>
          <p:nvSpPr>
            <p:cNvPr id="5" name="Line 5"/>
            <p:cNvSpPr/>
            <p:nvPr/>
          </p:nvSpPr>
          <p:spPr>
            <a:xfrm>
              <a:off x="685800" y="70485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</p:grpSp>
      <p:grpSp>
        <p:nvGrpSpPr>
          <p:cNvPr id="10" name="title"/>
          <p:cNvGrpSpPr/>
          <p:nvPr/>
        </p:nvGrpSpPr>
        <p:grpSpPr>
          <a:xfrm>
            <a:off x="669798" y="876300"/>
            <a:ext cx="10836402" cy="616077"/>
            <a:chOff x="669798" y="876300"/>
            <a:chExt cx="10836402" cy="616077"/>
          </a:xfrm>
        </p:grpSpPr>
        <p:sp>
          <p:nvSpPr>
            <p:cNvPr id="7" name="TextBox 7"/>
            <p:cNvSpPr txBox="1"/>
            <p:nvPr/>
          </p:nvSpPr>
          <p:spPr>
            <a:xfrm>
              <a:off x="669798" y="876300"/>
              <a:ext cx="5763980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一次 evolve.run 的九道闸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1390650"/>
              <a:ext cx="533400" cy="28575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9" name="Line 9"/>
            <p:cNvSpPr/>
            <p:nvPr/>
          </p:nvSpPr>
          <p:spPr>
            <a:xfrm>
              <a:off x="1333500" y="1400175"/>
              <a:ext cx="10172700" cy="9525"/>
            </a:xfrm>
            <a:custGeom>
              <a:avLst/>
              <a:gdLst/>
              <a:ahLst/>
              <a:cxnLst/>
              <a:rect l="l" t="t" r="r" b="b"/>
              <a:pathLst>
                <a:path w="10172700" h="9525">
                  <a:moveTo>
                    <a:pt x="0" y="0"/>
                  </a:moveTo>
                  <a:lnTo>
                    <a:pt x="101727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</p:grpSp>
      <p:grpSp>
        <p:nvGrpSpPr>
          <p:cNvPr id="55" name="gate-chain"/>
          <p:cNvGrpSpPr/>
          <p:nvPr/>
        </p:nvGrpSpPr>
        <p:grpSpPr>
          <a:xfrm>
            <a:off x="685800" y="1562100"/>
            <a:ext cx="10820400" cy="4371975"/>
            <a:chOff x="685800" y="1562100"/>
            <a:chExt cx="10820400" cy="4371975"/>
          </a:xfrm>
        </p:grpSpPr>
        <p:sp>
          <p:nvSpPr>
            <p:cNvPr id="11" name="Rectangle 11"/>
            <p:cNvSpPr/>
            <p:nvPr/>
          </p:nvSpPr>
          <p:spPr>
            <a:xfrm>
              <a:off x="685800" y="1562100"/>
              <a:ext cx="10820400" cy="4191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2" name="Rectangle 12"/>
            <p:cNvSpPr/>
            <p:nvPr/>
          </p:nvSpPr>
          <p:spPr>
            <a:xfrm>
              <a:off x="685800" y="3733800"/>
              <a:ext cx="38100" cy="43815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3" name="Rectangle 13"/>
            <p:cNvSpPr/>
            <p:nvPr/>
          </p:nvSpPr>
          <p:spPr>
            <a:xfrm>
              <a:off x="685800" y="4171950"/>
              <a:ext cx="38100" cy="43815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830580" y="1660525"/>
              <a:ext cx="4648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环节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2792730" y="1660525"/>
              <a:ext cx="4648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作用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8126730" y="1660525"/>
              <a:ext cx="4648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锚点</a:t>
              </a:r>
            </a:p>
          </p:txBody>
        </p:sp>
        <p:grpSp>
          <p:nvGrpSpPr>
            <p:cNvPr id="44" name="gate-rows"/>
            <p:cNvGrpSpPr/>
            <p:nvPr/>
          </p:nvGrpSpPr>
          <p:grpSpPr>
            <a:xfrm>
              <a:off x="831342" y="2089150"/>
              <a:ext cx="8990533" cy="3798570"/>
              <a:chOff x="831342" y="2089150"/>
              <a:chExt cx="8990533" cy="3798570"/>
            </a:xfrm>
          </p:grpSpPr>
          <p:sp>
            <p:nvSpPr>
              <p:cNvPr id="17" name="TextBox 17"/>
              <p:cNvSpPr txBox="1"/>
              <p:nvPr/>
            </p:nvSpPr>
            <p:spPr>
              <a:xfrm>
                <a:off x="831342" y="2101850"/>
                <a:ext cx="1399546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chemeClr val="dk1"/>
                    </a:solidFill>
                    <a:latin typeface="Consolas"/>
                    <a:ea typeface="Microsoft YaHei"/>
                    <a:cs typeface="Consolas"/>
                  </a:rPr>
                  <a:t>① caps 能力闸</a:t>
                </a:r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2792730" y="2089150"/>
                <a:ext cx="2525078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未授 evolve.* 即 EPERM</a:t>
                </a:r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8128254" y="2127250"/>
                <a:ext cx="1297991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00" dirty="0">
                    <a:solidFill>
                      <a:schemeClr val="accent5"/>
                    </a:solidFill>
                    <a:latin typeface="Consolas"/>
                    <a:ea typeface="Consolas"/>
                    <a:cs typeface="Consolas"/>
                  </a:rPr>
                  <a:t>kernel.py:546</a:t>
                </a:r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831342" y="2540000"/>
                <a:ext cx="1864862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chemeClr val="dk1"/>
                    </a:solidFill>
                    <a:latin typeface="Consolas"/>
                    <a:ea typeface="Microsoft YaHei"/>
                    <a:cs typeface="Consolas"/>
                  </a:rPr>
                  <a:t>② task_scope 收窄</a:t>
                </a:r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2792730" y="2527300"/>
                <a:ext cx="1588770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任务意图白名单</a:t>
                </a:r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8128254" y="2565400"/>
                <a:ext cx="1297991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00" dirty="0">
                    <a:solidFill>
                      <a:schemeClr val="accent5"/>
                    </a:solidFill>
                    <a:latin typeface="Consolas"/>
                    <a:ea typeface="Consolas"/>
                    <a:cs typeface="Consolas"/>
                  </a:rPr>
                  <a:t>kernel.py:559</a:t>
                </a:r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831342" y="2978150"/>
                <a:ext cx="2046942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chemeClr val="dk1"/>
                    </a:solidFill>
                    <a:latin typeface="Consolas"/>
                    <a:ea typeface="Microsoft YaHei"/>
                    <a:cs typeface="Consolas"/>
                  </a:rPr>
                  <a:t>③ validate 参数校验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2792730" y="2965450"/>
                <a:ext cx="2544128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三参必填 · iterations≥1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8128254" y="3003550"/>
                <a:ext cx="1297991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00" dirty="0">
                    <a:solidFill>
                      <a:schemeClr val="accent5"/>
                    </a:solidFill>
                    <a:latin typeface="Consolas"/>
                    <a:ea typeface="Consolas"/>
                    <a:cs typeface="Consolas"/>
                  </a:rPr>
                  <a:t>kernel.py:381</a:t>
                </a:r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831342" y="3416300"/>
                <a:ext cx="1470698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chemeClr val="dk1"/>
                    </a:solidFill>
                    <a:latin typeface="Consolas"/>
                    <a:ea typeface="Microsoft YaHei"/>
                    <a:cs typeface="Consolas"/>
                  </a:rPr>
                  <a:t>④ EDQUOT 预算</a:t>
                </a:r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2792730" y="3403600"/>
                <a:ext cx="2184464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syscall 次数耗尽即拒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8128254" y="3441700"/>
                <a:ext cx="1297991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00" dirty="0">
                    <a:solidFill>
                      <a:schemeClr val="accent5"/>
                    </a:solidFill>
                    <a:latin typeface="Consolas"/>
                    <a:ea typeface="Consolas"/>
                    <a:cs typeface="Consolas"/>
                  </a:rPr>
                  <a:t>kernel.py:616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831342" y="3854450"/>
                <a:ext cx="1642320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chemeClr val="accent2"/>
                    </a:solidFill>
                    <a:latin typeface="Consolas"/>
                    <a:ea typeface="Microsoft YaHei"/>
                    <a:cs typeface="Consolas"/>
                  </a:rPr>
                  <a:t>⑤ sentinel 判定</a:t>
                </a: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2792730" y="3841750"/>
                <a:ext cx="3436811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六级判定序（always_ask 待 T1）</a:t>
                </a: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8128254" y="3879850"/>
                <a:ext cx="1495806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00" dirty="0">
                    <a:solidFill>
                      <a:schemeClr val="accent5"/>
                    </a:solidFill>
                    <a:latin typeface="Consolas"/>
                    <a:ea typeface="Consolas"/>
                    <a:cs typeface="Consolas"/>
                  </a:rPr>
                  <a:t>sentinel.py:144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831342" y="4292600"/>
                <a:ext cx="1753591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chemeClr val="accent2"/>
                    </a:solidFill>
                    <a:latin typeface="Consolas"/>
                    <a:ea typeface="Microsoft YaHei"/>
                    <a:cs typeface="Consolas"/>
                  </a:rPr>
                  <a:t>⑥ to_thread 派发</a:t>
                </a: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2792730" y="4279900"/>
                <a:ext cx="2937510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首个阻塞型内建让出事件循环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8128254" y="4318000"/>
                <a:ext cx="1693621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00" dirty="0">
                    <a:solidFill>
                      <a:schemeClr val="accent5"/>
                    </a:solidFill>
                    <a:latin typeface="Consolas"/>
                    <a:ea typeface="Consolas"/>
                    <a:cs typeface="Consolas"/>
                  </a:rPr>
                  <a:t>kernel.py:252/703</a:t>
                </a:r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831342" y="4730750"/>
                <a:ext cx="2081883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chemeClr val="dk1"/>
                    </a:solidFill>
                    <a:latin typeface="Consolas"/>
                    <a:ea typeface="Microsoft YaHei"/>
                    <a:cs typeface="Consolas"/>
                  </a:rPr>
                  <a:t>⑦ EvolveGate 路径闸</a:t>
                </a:r>
              </a:p>
            </p:txBody>
          </p:sp>
          <p:sp>
            <p:nvSpPr>
              <p:cNvPr id="36" name="TextBox 36"/>
              <p:cNvSpPr txBox="1"/>
              <p:nvPr/>
            </p:nvSpPr>
            <p:spPr>
              <a:xfrm>
                <a:off x="2792730" y="4718050"/>
                <a:ext cx="3510724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允许根 var/rsi/jobs · 禁区不可破</a:t>
                </a:r>
              </a:p>
            </p:txBody>
          </p:sp>
          <p:sp>
            <p:nvSpPr>
              <p:cNvPr id="37" name="TextBox 37"/>
              <p:cNvSpPr txBox="1"/>
              <p:nvPr/>
            </p:nvSpPr>
            <p:spPr>
              <a:xfrm>
                <a:off x="8128254" y="4756150"/>
                <a:ext cx="1199083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00" dirty="0">
                    <a:solidFill>
                      <a:schemeClr val="accent5"/>
                    </a:solidFill>
                    <a:latin typeface="Consolas"/>
                    <a:ea typeface="Consolas"/>
                    <a:cs typeface="Consolas"/>
                  </a:rPr>
                  <a:t>evolve.py:72</a:t>
                </a:r>
              </a:p>
            </p:txBody>
          </p:sp>
          <p:sp>
            <p:nvSpPr>
              <p:cNvPr id="38" name="TextBox 38"/>
              <p:cNvSpPr txBox="1"/>
              <p:nvPr/>
            </p:nvSpPr>
            <p:spPr>
              <a:xfrm>
                <a:off x="831342" y="5168900"/>
                <a:ext cx="1733360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chemeClr val="dk1"/>
                    </a:solidFill>
                    <a:latin typeface="Consolas"/>
                    <a:ea typeface="Microsoft YaHei"/>
                    <a:cs typeface="Consolas"/>
                  </a:rPr>
                  <a:t>⑧ workdir 二道闸</a:t>
                </a:r>
              </a:p>
            </p:txBody>
          </p:sp>
          <p:sp>
            <p:nvSpPr>
              <p:cNvPr id="39" name="TextBox 39"/>
              <p:cNvSpPr txBox="1"/>
              <p:nvPr/>
            </p:nvSpPr>
            <p:spPr>
              <a:xfrm>
                <a:off x="2792730" y="5156200"/>
                <a:ext cx="1813560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驱动侧再验允许根</a:t>
                </a:r>
              </a:p>
            </p:txBody>
          </p:sp>
          <p:sp>
            <p:nvSpPr>
              <p:cNvPr id="40" name="TextBox 40"/>
              <p:cNvSpPr txBox="1"/>
              <p:nvPr/>
            </p:nvSpPr>
            <p:spPr>
              <a:xfrm>
                <a:off x="8128254" y="5194300"/>
                <a:ext cx="1693621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00" dirty="0">
                    <a:solidFill>
                      <a:schemeClr val="accent5"/>
                    </a:solidFill>
                    <a:latin typeface="Consolas"/>
                    <a:ea typeface="Consolas"/>
                    <a:cs typeface="Consolas"/>
                  </a:rPr>
                  <a:t>drv_evolve.py:121</a:t>
                </a:r>
              </a:p>
            </p:txBody>
          </p:sp>
          <p:sp>
            <p:nvSpPr>
              <p:cNvPr id="41" name="TextBox 41"/>
              <p:cNvSpPr txBox="1"/>
              <p:nvPr/>
            </p:nvSpPr>
            <p:spPr>
              <a:xfrm>
                <a:off x="831342" y="5607050"/>
                <a:ext cx="1045502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chemeClr val="dk1"/>
                    </a:solidFill>
                    <a:latin typeface="Consolas"/>
                    <a:ea typeface="Microsoft YaHei"/>
                    <a:cs typeface="Consolas"/>
                  </a:rPr>
                  <a:t>⑨ 双行审计</a:t>
                </a:r>
              </a:p>
            </p:txBody>
          </p:sp>
          <p:sp>
            <p:nvSpPr>
              <p:cNvPr id="42" name="TextBox 42"/>
              <p:cNvSpPr txBox="1"/>
              <p:nvPr/>
            </p:nvSpPr>
            <p:spPr>
              <a:xfrm>
                <a:off x="2792730" y="5594350"/>
                <a:ext cx="3196018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5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event:syscall + event:evolve</a:t>
                </a:r>
              </a:p>
            </p:txBody>
          </p:sp>
          <p:sp>
            <p:nvSpPr>
              <p:cNvPr id="43" name="TextBox 43"/>
              <p:cNvSpPr txBox="1"/>
              <p:nvPr/>
            </p:nvSpPr>
            <p:spPr>
              <a:xfrm>
                <a:off x="8128254" y="5632450"/>
                <a:ext cx="1297991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00" dirty="0">
                    <a:solidFill>
                      <a:schemeClr val="accent5"/>
                    </a:solidFill>
                    <a:latin typeface="Consolas"/>
                    <a:ea typeface="Consolas"/>
                    <a:cs typeface="Consolas"/>
                  </a:rPr>
                  <a:t>kernel.py:990</a:t>
                </a:r>
              </a:p>
            </p:txBody>
          </p:sp>
        </p:grpSp>
        <p:sp>
          <p:nvSpPr>
            <p:cNvPr id="45" name="Line 45"/>
            <p:cNvSpPr/>
            <p:nvPr/>
          </p:nvSpPr>
          <p:spPr>
            <a:xfrm>
              <a:off x="685800" y="198120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46" name="Line 46"/>
            <p:cNvSpPr/>
            <p:nvPr/>
          </p:nvSpPr>
          <p:spPr>
            <a:xfrm>
              <a:off x="685800" y="241935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47" name="Line 47"/>
            <p:cNvSpPr/>
            <p:nvPr/>
          </p:nvSpPr>
          <p:spPr>
            <a:xfrm>
              <a:off x="685800" y="285750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48" name="Line 48"/>
            <p:cNvSpPr/>
            <p:nvPr/>
          </p:nvSpPr>
          <p:spPr>
            <a:xfrm>
              <a:off x="685800" y="329565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49" name="Line 49"/>
            <p:cNvSpPr/>
            <p:nvPr/>
          </p:nvSpPr>
          <p:spPr>
            <a:xfrm>
              <a:off x="685800" y="373380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50" name="Line 50"/>
            <p:cNvSpPr/>
            <p:nvPr/>
          </p:nvSpPr>
          <p:spPr>
            <a:xfrm>
              <a:off x="685800" y="417195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51" name="Line 51"/>
            <p:cNvSpPr/>
            <p:nvPr/>
          </p:nvSpPr>
          <p:spPr>
            <a:xfrm>
              <a:off x="685800" y="461010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52" name="Line 52"/>
            <p:cNvSpPr/>
            <p:nvPr/>
          </p:nvSpPr>
          <p:spPr>
            <a:xfrm>
              <a:off x="685800" y="504825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53" name="Line 53"/>
            <p:cNvSpPr/>
            <p:nvPr/>
          </p:nvSpPr>
          <p:spPr>
            <a:xfrm>
              <a:off x="685800" y="548640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54" name="Line 54"/>
            <p:cNvSpPr/>
            <p:nvPr/>
          </p:nvSpPr>
          <p:spPr>
            <a:xfrm>
              <a:off x="685800" y="592455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14288">
              <a:solidFill>
                <a:schemeClr val="accent6"/>
              </a:solidFill>
            </a:ln>
          </p:spPr>
        </p:sp>
      </p:grpSp>
      <p:grpSp>
        <p:nvGrpSpPr>
          <p:cNvPr id="59" name="footer"/>
          <p:cNvGrpSpPr/>
          <p:nvPr/>
        </p:nvGrpSpPr>
        <p:grpSpPr>
          <a:xfrm>
            <a:off x="680466" y="6248400"/>
            <a:ext cx="10831068" cy="326009"/>
            <a:chOff x="680466" y="6248400"/>
            <a:chExt cx="10831068" cy="326009"/>
          </a:xfrm>
        </p:grpSpPr>
        <p:sp>
          <p:nvSpPr>
            <p:cNvPr id="56" name="Line 56"/>
            <p:cNvSpPr/>
            <p:nvPr/>
          </p:nvSpPr>
          <p:spPr>
            <a:xfrm>
              <a:off x="685800" y="624840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680466" y="6369050"/>
              <a:ext cx="281528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chemeClr val="accent5"/>
                  </a:solidFill>
                  <a:latin typeface="Consolas"/>
                  <a:ea typeface="Consolas"/>
                  <a:cs typeface="Consolas"/>
                </a:rPr>
                <a:t>github.com/Yfredy/LAOS · v0.35.1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9318193" y="6369050"/>
              <a:ext cx="219334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050" dirty="0">
                  <a:solidFill>
                    <a:schemeClr val="accent5"/>
                  </a:solidFill>
                  <a:latin typeface="Consolas"/>
                  <a:ea typeface="Consolas"/>
                  <a:cs typeface="Consolas"/>
                </a:rPr>
                <a:t>FIELD NOTE 02 · 26.10.09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rid"/>
          <p:cNvSpPr/>
          <p:nvPr/>
        </p:nvSpPr>
        <p:spPr>
          <a:xfrm>
            <a:off x="838200" y="914400"/>
            <a:ext cx="10668000" cy="5181600"/>
          </a:xfrm>
          <a:custGeom>
            <a:avLst/>
            <a:gdLst/>
            <a:ahLst/>
            <a:cxnLst/>
            <a:rect l="l" t="t" r="r" b="b"/>
            <a:pathLst>
              <a:path w="10668000" h="5181600">
                <a:moveTo>
                  <a:pt x="1181100" y="0"/>
                </a:moveTo>
                <a:lnTo>
                  <a:pt x="1181100" y="5181600"/>
                </a:lnTo>
                <a:moveTo>
                  <a:pt x="2514600" y="0"/>
                </a:moveTo>
                <a:lnTo>
                  <a:pt x="2514600" y="5181600"/>
                </a:lnTo>
                <a:moveTo>
                  <a:pt x="3848100" y="0"/>
                </a:moveTo>
                <a:lnTo>
                  <a:pt x="3848100" y="5181600"/>
                </a:lnTo>
                <a:moveTo>
                  <a:pt x="5181600" y="0"/>
                </a:moveTo>
                <a:lnTo>
                  <a:pt x="5181600" y="5181600"/>
                </a:lnTo>
                <a:moveTo>
                  <a:pt x="6515100" y="0"/>
                </a:moveTo>
                <a:lnTo>
                  <a:pt x="6515100" y="5181600"/>
                </a:lnTo>
                <a:moveTo>
                  <a:pt x="7848600" y="0"/>
                </a:moveTo>
                <a:lnTo>
                  <a:pt x="7848600" y="5181600"/>
                </a:lnTo>
                <a:moveTo>
                  <a:pt x="9182100" y="0"/>
                </a:moveTo>
                <a:lnTo>
                  <a:pt x="9182100" y="5181600"/>
                </a:lnTo>
                <a:moveTo>
                  <a:pt x="0" y="1847850"/>
                </a:moveTo>
                <a:lnTo>
                  <a:pt x="10668000" y="1847850"/>
                </a:lnTo>
                <a:moveTo>
                  <a:pt x="0" y="2800350"/>
                </a:moveTo>
                <a:lnTo>
                  <a:pt x="10668000" y="2800350"/>
                </a:lnTo>
                <a:moveTo>
                  <a:pt x="0" y="3752850"/>
                </a:moveTo>
                <a:lnTo>
                  <a:pt x="10668000" y="3752850"/>
                </a:lnTo>
                <a:moveTo>
                  <a:pt x="0" y="4705350"/>
                </a:moveTo>
                <a:lnTo>
                  <a:pt x="10668000" y="4705350"/>
                </a:lnTo>
              </a:path>
            </a:pathLst>
          </a:custGeom>
          <a:noFill/>
          <a:ln w="9525">
            <a:solidFill>
              <a:schemeClr val="accent6">
                <a:alpha val="40000"/>
              </a:schemeClr>
            </a:solidFill>
          </a:ln>
        </p:spPr>
      </p:sp>
      <p:grpSp>
        <p:nvGrpSpPr>
          <p:cNvPr id="6" name="header"/>
          <p:cNvGrpSpPr/>
          <p:nvPr/>
        </p:nvGrpSpPr>
        <p:grpSpPr>
          <a:xfrm>
            <a:off x="680466" y="368300"/>
            <a:ext cx="10831068" cy="346075"/>
            <a:chOff x="680466" y="368300"/>
            <a:chExt cx="10831068" cy="346075"/>
          </a:xfrm>
        </p:grpSpPr>
        <p:sp>
          <p:nvSpPr>
            <p:cNvPr id="3" name="TextBox 3"/>
            <p:cNvSpPr txBox="1"/>
            <p:nvPr/>
          </p:nvSpPr>
          <p:spPr>
            <a:xfrm>
              <a:off x="680466" y="368300"/>
              <a:ext cx="240357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spc="225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LAOS · LINUX AGENTOS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10198798" y="368300"/>
              <a:ext cx="131273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spc="75" dirty="0">
                  <a:solidFill>
                    <a:schemeClr val="accent5"/>
                  </a:solidFill>
                  <a:latin typeface="Consolas"/>
                  <a:ea typeface="Microsoft YaHei"/>
                  <a:cs typeface="Consolas"/>
                </a:rPr>
                <a:t>06 / 12 · 防线</a:t>
              </a:r>
            </a:p>
          </p:txBody>
        </p:sp>
        <p:sp>
          <p:nvSpPr>
            <p:cNvPr id="5" name="Line 5"/>
            <p:cNvSpPr/>
            <p:nvPr/>
          </p:nvSpPr>
          <p:spPr>
            <a:xfrm>
              <a:off x="685800" y="70485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</p:grpSp>
      <p:grpSp>
        <p:nvGrpSpPr>
          <p:cNvPr id="10" name="title"/>
          <p:cNvGrpSpPr/>
          <p:nvPr/>
        </p:nvGrpSpPr>
        <p:grpSpPr>
          <a:xfrm>
            <a:off x="669798" y="876300"/>
            <a:ext cx="10836402" cy="616077"/>
            <a:chOff x="669798" y="876300"/>
            <a:chExt cx="10836402" cy="616077"/>
          </a:xfrm>
        </p:grpSpPr>
        <p:sp>
          <p:nvSpPr>
            <p:cNvPr id="7" name="TextBox 7"/>
            <p:cNvSpPr txBox="1"/>
            <p:nvPr/>
          </p:nvSpPr>
          <p:spPr>
            <a:xfrm>
              <a:off x="669798" y="876300"/>
              <a:ext cx="3336417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防线由测试锁定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1390650"/>
              <a:ext cx="533400" cy="28575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9" name="Line 9"/>
            <p:cNvSpPr/>
            <p:nvPr/>
          </p:nvSpPr>
          <p:spPr>
            <a:xfrm>
              <a:off x="1333500" y="1400175"/>
              <a:ext cx="10172700" cy="9525"/>
            </a:xfrm>
            <a:custGeom>
              <a:avLst/>
              <a:gdLst/>
              <a:ahLst/>
              <a:cxnLst/>
              <a:rect l="l" t="t" r="r" b="b"/>
              <a:pathLst>
                <a:path w="10172700" h="9525">
                  <a:moveTo>
                    <a:pt x="0" y="0"/>
                  </a:moveTo>
                  <a:lnTo>
                    <a:pt x="101727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</p:grpSp>
      <p:grpSp>
        <p:nvGrpSpPr>
          <p:cNvPr id="21" name="defense-1"/>
          <p:cNvGrpSpPr/>
          <p:nvPr/>
        </p:nvGrpSpPr>
        <p:grpSpPr>
          <a:xfrm>
            <a:off x="685800" y="1562100"/>
            <a:ext cx="8596274" cy="876300"/>
            <a:chOff x="685800" y="1562100"/>
            <a:chExt cx="8596274" cy="876300"/>
          </a:xfrm>
        </p:grpSpPr>
        <p:sp>
          <p:nvSpPr>
            <p:cNvPr id="11" name="Rectangle 11"/>
            <p:cNvSpPr/>
            <p:nvPr/>
          </p:nvSpPr>
          <p:spPr>
            <a:xfrm>
              <a:off x="685800" y="1562100"/>
              <a:ext cx="5048250" cy="876300"/>
            </a:xfrm>
            <a:prstGeom prst="rect">
              <a:avLst/>
            </a:prstGeom>
            <a:solidFill>
              <a:schemeClr val="lt2">
                <a:alpha val="40000"/>
              </a:schemeClr>
            </a:solidFill>
            <a:ln w="9525">
              <a:solidFill>
                <a:schemeClr val="accent1"/>
              </a:solidFill>
            </a:ln>
          </p:spPr>
        </p:sp>
        <p:grpSp>
          <p:nvGrpSpPr>
            <p:cNvPr id="15" name="Group 15"/>
            <p:cNvGrpSpPr/>
            <p:nvPr/>
          </p:nvGrpSpPr>
          <p:grpSpPr>
            <a:xfrm>
              <a:off x="924060" y="1785938"/>
              <a:ext cx="209281" cy="200026"/>
              <a:chOff x="924060" y="1785938"/>
              <a:chExt cx="209281" cy="200026"/>
            </a:xfrm>
          </p:grpSpPr>
          <p:sp>
            <p:nvSpPr>
              <p:cNvPr id="12" name="Freeform 12"/>
              <p:cNvSpPr/>
              <p:nvPr/>
            </p:nvSpPr>
            <p:spPr>
              <a:xfrm>
                <a:off x="924060" y="1785938"/>
                <a:ext cx="209281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9281" h="200026">
                    <a:moveTo>
                      <a:pt x="104641" y="0"/>
                    </a:moveTo>
                    <a:cubicBezTo>
                      <a:pt x="130598" y="22965"/>
                      <a:pt x="164476" y="34922"/>
                      <a:pt x="199097" y="33338"/>
                    </a:cubicBezTo>
                    <a:cubicBezTo>
                      <a:pt x="209281" y="67981"/>
                      <a:pt x="204980" y="105274"/>
                      <a:pt x="187178" y="136690"/>
                    </a:cubicBezTo>
                    <a:cubicBezTo>
                      <a:pt x="169375" y="168106"/>
                      <a:pt x="139593" y="190959"/>
                      <a:pt x="104641" y="200026"/>
                    </a:cubicBezTo>
                    <a:cubicBezTo>
                      <a:pt x="69688" y="190959"/>
                      <a:pt x="39906" y="168106"/>
                      <a:pt x="22103" y="136690"/>
                    </a:cubicBezTo>
                    <a:cubicBezTo>
                      <a:pt x="4301" y="105274"/>
                      <a:pt x="0" y="67981"/>
                      <a:pt x="10184" y="33338"/>
                    </a:cubicBezTo>
                    <a:cubicBezTo>
                      <a:pt x="44805" y="34922"/>
                      <a:pt x="78684" y="22965"/>
                      <a:pt x="104641" y="0"/>
                    </a:cubicBezTo>
                  </a:path>
                </a:pathLst>
              </a:custGeom>
              <a:noFill/>
              <a:ln w="22225">
                <a:solidFill>
                  <a:schemeClr val="accent1"/>
                </a:solidFill>
              </a:ln>
            </p:spPr>
          </p:sp>
          <p:sp>
            <p:nvSpPr>
              <p:cNvPr id="13" name="Freeform 13"/>
              <p:cNvSpPr/>
              <p:nvPr/>
            </p:nvSpPr>
            <p:spPr>
              <a:xfrm>
                <a:off x="1017588" y="1863725"/>
                <a:ext cx="22225" cy="22225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22225">
                    <a:moveTo>
                      <a:pt x="0" y="11113"/>
                    </a:moveTo>
                    <a:cubicBezTo>
                      <a:pt x="0" y="17250"/>
                      <a:pt x="4975" y="22225"/>
                      <a:pt x="11113" y="22225"/>
                    </a:cubicBezTo>
                    <a:cubicBezTo>
                      <a:pt x="17250" y="22225"/>
                      <a:pt x="22225" y="17250"/>
                      <a:pt x="22225" y="11113"/>
                    </a:cubicBezTo>
                    <a:cubicBezTo>
                      <a:pt x="22225" y="4975"/>
                      <a:pt x="17250" y="0"/>
                      <a:pt x="11113" y="0"/>
                    </a:cubicBezTo>
                    <a:cubicBezTo>
                      <a:pt x="4975" y="0"/>
                      <a:pt x="0" y="4975"/>
                      <a:pt x="0" y="11113"/>
                    </a:cubicBezTo>
                  </a:path>
                </a:pathLst>
              </a:custGeom>
              <a:noFill/>
              <a:ln w="22225">
                <a:solidFill>
                  <a:schemeClr val="accent1"/>
                </a:solidFill>
              </a:ln>
            </p:spPr>
          </p:sp>
          <p:sp>
            <p:nvSpPr>
              <p:cNvPr id="14" name="Freeform 14"/>
              <p:cNvSpPr/>
              <p:nvPr/>
            </p:nvSpPr>
            <p:spPr>
              <a:xfrm>
                <a:off x="1028700" y="1885950"/>
                <a:ext cx="9525" cy="27781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27781">
                    <a:moveTo>
                      <a:pt x="0" y="0"/>
                    </a:moveTo>
                    <a:lnTo>
                      <a:pt x="0" y="27781"/>
                    </a:lnTo>
                  </a:path>
                </a:pathLst>
              </a:custGeom>
              <a:noFill/>
              <a:ln w="22225">
                <a:solidFill>
                  <a:schemeClr val="accent1"/>
                </a:solidFill>
              </a:ln>
            </p:spPr>
          </p:sp>
        </p:grpSp>
        <p:sp>
          <p:nvSpPr>
            <p:cNvPr id="16" name="TextBox 16"/>
            <p:cNvSpPr txBox="1"/>
            <p:nvPr/>
          </p:nvSpPr>
          <p:spPr>
            <a:xfrm>
              <a:off x="1287018" y="1701800"/>
              <a:ext cx="125310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自改写防线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289304" y="2057400"/>
              <a:ext cx="185547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禁区永不可经 env 放行</a:t>
              </a:r>
            </a:p>
          </p:txBody>
        </p:sp>
        <p:sp>
          <p:nvSpPr>
            <p:cNvPr id="18" name="Line 18"/>
            <p:cNvSpPr/>
            <p:nvPr/>
          </p:nvSpPr>
          <p:spPr>
            <a:xfrm>
              <a:off x="5734050" y="2000250"/>
              <a:ext cx="495300" cy="9525"/>
            </a:xfrm>
            <a:custGeom>
              <a:avLst/>
              <a:gdLst/>
              <a:ahLst/>
              <a:cxnLst/>
              <a:rect l="l" t="t" r="r" b="b"/>
              <a:pathLst>
                <a:path w="495300" h="9525">
                  <a:moveTo>
                    <a:pt x="0" y="0"/>
                  </a:moveTo>
                  <a:lnTo>
                    <a:pt x="4953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  <a:prstDash val="dash"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6355842" y="1739900"/>
              <a:ext cx="136594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TestEnvRoots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6356604" y="2038350"/>
              <a:ext cx="292547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扩根 ✓ · 禁区仍拒 ✓ · 深层逃逸 ✓</a:t>
              </a:r>
            </a:p>
          </p:txBody>
        </p:sp>
      </p:grpSp>
      <p:grpSp>
        <p:nvGrpSpPr>
          <p:cNvPr id="35" name="defense-2"/>
          <p:cNvGrpSpPr/>
          <p:nvPr/>
        </p:nvGrpSpPr>
        <p:grpSpPr>
          <a:xfrm>
            <a:off x="685800" y="2609850"/>
            <a:ext cx="8846145" cy="876300"/>
            <a:chOff x="685800" y="2609850"/>
            <a:chExt cx="8846145" cy="876300"/>
          </a:xfrm>
        </p:grpSpPr>
        <p:sp>
          <p:nvSpPr>
            <p:cNvPr id="22" name="Rectangle 22"/>
            <p:cNvSpPr/>
            <p:nvPr/>
          </p:nvSpPr>
          <p:spPr>
            <a:xfrm>
              <a:off x="685800" y="2609850"/>
              <a:ext cx="5048250" cy="876300"/>
            </a:xfrm>
            <a:prstGeom prst="rect">
              <a:avLst/>
            </a:prstGeom>
            <a:solidFill>
              <a:schemeClr val="lt2">
                <a:alpha val="40000"/>
              </a:schemeClr>
            </a:solidFill>
            <a:ln w="9525">
              <a:solidFill>
                <a:schemeClr val="accent1"/>
              </a:solidFill>
            </a:ln>
          </p:spPr>
        </p:sp>
        <p:grpSp>
          <p:nvGrpSpPr>
            <p:cNvPr id="29" name="Group 29"/>
            <p:cNvGrpSpPr/>
            <p:nvPr/>
          </p:nvGrpSpPr>
          <p:grpSpPr>
            <a:xfrm>
              <a:off x="950913" y="2844800"/>
              <a:ext cx="166687" cy="177801"/>
              <a:chOff x="950913" y="2844800"/>
              <a:chExt cx="166687" cy="177801"/>
            </a:xfrm>
          </p:grpSpPr>
          <p:sp>
            <p:nvSpPr>
              <p:cNvPr id="23" name="Freeform 23"/>
              <p:cNvSpPr/>
              <p:nvPr/>
            </p:nvSpPr>
            <p:spPr>
              <a:xfrm>
                <a:off x="950913" y="2978151"/>
                <a:ext cx="44450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44450" h="44450">
                    <a:moveTo>
                      <a:pt x="0" y="22225"/>
                    </a:moveTo>
                    <a:cubicBezTo>
                      <a:pt x="0" y="34500"/>
                      <a:pt x="9950" y="44450"/>
                      <a:pt x="22225" y="44450"/>
                    </a:cubicBezTo>
                    <a:cubicBezTo>
                      <a:pt x="34500" y="44450"/>
                      <a:pt x="44450" y="34500"/>
                      <a:pt x="44450" y="22225"/>
                    </a:cubicBezTo>
                    <a:cubicBezTo>
                      <a:pt x="44450" y="9950"/>
                      <a:pt x="34500" y="0"/>
                      <a:pt x="22225" y="0"/>
                    </a:cubicBezTo>
                    <a:cubicBezTo>
                      <a:pt x="9950" y="0"/>
                      <a:pt x="0" y="9950"/>
                      <a:pt x="0" y="22225"/>
                    </a:cubicBezTo>
                  </a:path>
                </a:pathLst>
              </a:custGeom>
              <a:noFill/>
              <a:ln w="22225">
                <a:solidFill>
                  <a:schemeClr val="accent1"/>
                </a:solidFill>
              </a:ln>
            </p:spPr>
          </p:sp>
          <p:sp>
            <p:nvSpPr>
              <p:cNvPr id="24" name="Freeform 24"/>
              <p:cNvSpPr/>
              <p:nvPr/>
            </p:nvSpPr>
            <p:spPr>
              <a:xfrm>
                <a:off x="950913" y="2844800"/>
                <a:ext cx="44450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44450" h="44450">
                    <a:moveTo>
                      <a:pt x="0" y="22225"/>
                    </a:moveTo>
                    <a:cubicBezTo>
                      <a:pt x="0" y="34500"/>
                      <a:pt x="9950" y="44450"/>
                      <a:pt x="22225" y="44450"/>
                    </a:cubicBezTo>
                    <a:cubicBezTo>
                      <a:pt x="34500" y="44450"/>
                      <a:pt x="44450" y="34500"/>
                      <a:pt x="44450" y="22225"/>
                    </a:cubicBezTo>
                    <a:cubicBezTo>
                      <a:pt x="44450" y="9950"/>
                      <a:pt x="34500" y="0"/>
                      <a:pt x="22225" y="0"/>
                    </a:cubicBezTo>
                    <a:cubicBezTo>
                      <a:pt x="9950" y="0"/>
                      <a:pt x="0" y="9950"/>
                      <a:pt x="0" y="22225"/>
                    </a:cubicBezTo>
                  </a:path>
                </a:pathLst>
              </a:custGeom>
              <a:noFill/>
              <a:ln w="22225">
                <a:solidFill>
                  <a:schemeClr val="accent1"/>
                </a:solidFill>
              </a:ln>
            </p:spPr>
          </p:sp>
          <p:sp>
            <p:nvSpPr>
              <p:cNvPr id="25" name="Freeform 25"/>
              <p:cNvSpPr/>
              <p:nvPr/>
            </p:nvSpPr>
            <p:spPr>
              <a:xfrm>
                <a:off x="1062038" y="2844800"/>
                <a:ext cx="44450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44450" h="44450">
                    <a:moveTo>
                      <a:pt x="0" y="22225"/>
                    </a:moveTo>
                    <a:cubicBezTo>
                      <a:pt x="0" y="34500"/>
                      <a:pt x="9950" y="44450"/>
                      <a:pt x="22225" y="44450"/>
                    </a:cubicBezTo>
                    <a:cubicBezTo>
                      <a:pt x="34500" y="44450"/>
                      <a:pt x="44450" y="34500"/>
                      <a:pt x="44450" y="22225"/>
                    </a:cubicBezTo>
                    <a:cubicBezTo>
                      <a:pt x="44450" y="9950"/>
                      <a:pt x="34500" y="0"/>
                      <a:pt x="22225" y="0"/>
                    </a:cubicBezTo>
                    <a:cubicBezTo>
                      <a:pt x="9950" y="0"/>
                      <a:pt x="0" y="9950"/>
                      <a:pt x="0" y="22225"/>
                    </a:cubicBezTo>
                  </a:path>
                </a:pathLst>
              </a:custGeom>
              <a:noFill/>
              <a:ln w="22225">
                <a:solidFill>
                  <a:schemeClr val="accent1"/>
                </a:solidFill>
              </a:ln>
            </p:spPr>
          </p:sp>
          <p:sp>
            <p:nvSpPr>
              <p:cNvPr id="26" name="Freeform 26"/>
              <p:cNvSpPr/>
              <p:nvPr/>
            </p:nvSpPr>
            <p:spPr>
              <a:xfrm>
                <a:off x="973138" y="2889250"/>
                <a:ext cx="9525" cy="889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88900">
                    <a:moveTo>
                      <a:pt x="0" y="0"/>
                    </a:moveTo>
                    <a:lnTo>
                      <a:pt x="0" y="88900"/>
                    </a:lnTo>
                  </a:path>
                </a:pathLst>
              </a:custGeom>
              <a:noFill/>
              <a:ln w="22225">
                <a:solidFill>
                  <a:schemeClr val="accent1"/>
                </a:solidFill>
              </a:ln>
            </p:spPr>
          </p:sp>
          <p:sp>
            <p:nvSpPr>
              <p:cNvPr id="27" name="Freeform 27"/>
              <p:cNvSpPr/>
              <p:nvPr/>
            </p:nvSpPr>
            <p:spPr>
              <a:xfrm>
                <a:off x="995363" y="2922588"/>
                <a:ext cx="88900" cy="77788"/>
              </a:xfrm>
              <a:custGeom>
                <a:avLst/>
                <a:gdLst/>
                <a:ahLst/>
                <a:cxnLst/>
                <a:rect l="l" t="t" r="r" b="b"/>
                <a:pathLst>
                  <a:path w="88900" h="77788">
                    <a:moveTo>
                      <a:pt x="0" y="77788"/>
                    </a:moveTo>
                    <a:lnTo>
                      <a:pt x="66675" y="77788"/>
                    </a:lnTo>
                    <a:cubicBezTo>
                      <a:pt x="78950" y="77788"/>
                      <a:pt x="88900" y="67837"/>
                      <a:pt x="88900" y="55563"/>
                    </a:cubicBezTo>
                    <a:lnTo>
                      <a:pt x="88900" y="0"/>
                    </a:lnTo>
                  </a:path>
                </a:pathLst>
              </a:custGeom>
              <a:noFill/>
              <a:ln w="22225">
                <a:solidFill>
                  <a:schemeClr val="accent1"/>
                </a:solidFill>
              </a:ln>
            </p:spPr>
          </p:sp>
          <p:sp>
            <p:nvSpPr>
              <p:cNvPr id="28" name="Freeform 28"/>
              <p:cNvSpPr/>
              <p:nvPr/>
            </p:nvSpPr>
            <p:spPr>
              <a:xfrm>
                <a:off x="1050925" y="2922588"/>
                <a:ext cx="66675" cy="33338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33338">
                    <a:moveTo>
                      <a:pt x="0" y="33338"/>
                    </a:moveTo>
                    <a:lnTo>
                      <a:pt x="33338" y="0"/>
                    </a:lnTo>
                    <a:lnTo>
                      <a:pt x="66675" y="33338"/>
                    </a:lnTo>
                  </a:path>
                </a:pathLst>
              </a:custGeom>
              <a:noFill/>
              <a:ln w="22225">
                <a:solidFill>
                  <a:schemeClr val="accent1"/>
                </a:solidFill>
              </a:ln>
            </p:spPr>
          </p:sp>
        </p:grpSp>
        <p:sp>
          <p:nvSpPr>
            <p:cNvPr id="30" name="TextBox 30"/>
            <p:cNvSpPr txBox="1"/>
            <p:nvPr/>
          </p:nvSpPr>
          <p:spPr>
            <a:xfrm>
              <a:off x="1287018" y="2749550"/>
              <a:ext cx="192691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装配面 fail-loud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1289304" y="3105150"/>
              <a:ext cx="162946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ENODEV 不静默兜底</a:t>
              </a:r>
            </a:p>
          </p:txBody>
        </p:sp>
        <p:sp>
          <p:nvSpPr>
            <p:cNvPr id="32" name="Line 32"/>
            <p:cNvSpPr/>
            <p:nvPr/>
          </p:nvSpPr>
          <p:spPr>
            <a:xfrm>
              <a:off x="5734050" y="3048000"/>
              <a:ext cx="495300" cy="9525"/>
            </a:xfrm>
            <a:custGeom>
              <a:avLst/>
              <a:gdLst/>
              <a:ahLst/>
              <a:cxnLst/>
              <a:rect l="l" t="t" r="r" b="b"/>
              <a:pathLst>
                <a:path w="495300" h="9525">
                  <a:moveTo>
                    <a:pt x="0" y="0"/>
                  </a:moveTo>
                  <a:lnTo>
                    <a:pt x="4953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  <a:prstDash val="dash"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6355842" y="2787650"/>
              <a:ext cx="192229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TestEvolveSyscall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356604" y="3086100"/>
              <a:ext cx="31753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无 cap EPERM · ENODEV · 全链 · 不崩</a:t>
              </a:r>
            </a:p>
          </p:txBody>
        </p:sp>
      </p:grpSp>
      <p:grpSp>
        <p:nvGrpSpPr>
          <p:cNvPr id="53" name="defense-3"/>
          <p:cNvGrpSpPr/>
          <p:nvPr/>
        </p:nvGrpSpPr>
        <p:grpSpPr>
          <a:xfrm>
            <a:off x="685800" y="3657600"/>
            <a:ext cx="9342577" cy="876300"/>
            <a:chOff x="685800" y="3657600"/>
            <a:chExt cx="9342577" cy="876300"/>
          </a:xfrm>
        </p:grpSpPr>
        <p:sp>
          <p:nvSpPr>
            <p:cNvPr id="36" name="Rectangle 36"/>
            <p:cNvSpPr/>
            <p:nvPr/>
          </p:nvSpPr>
          <p:spPr>
            <a:xfrm>
              <a:off x="685800" y="3657600"/>
              <a:ext cx="5048250" cy="876300"/>
            </a:xfrm>
            <a:prstGeom prst="rect">
              <a:avLst/>
            </a:prstGeom>
            <a:solidFill>
              <a:schemeClr val="lt2">
                <a:alpha val="40000"/>
              </a:schemeClr>
            </a:solidFill>
            <a:ln w="9525">
              <a:solidFill>
                <a:schemeClr val="accent1"/>
              </a:solidFill>
            </a:ln>
          </p:spPr>
        </p:sp>
        <p:grpSp>
          <p:nvGrpSpPr>
            <p:cNvPr id="47" name="Group 47"/>
            <p:cNvGrpSpPr/>
            <p:nvPr/>
          </p:nvGrpSpPr>
          <p:grpSpPr>
            <a:xfrm>
              <a:off x="928688" y="3881438"/>
              <a:ext cx="200025" cy="200025"/>
              <a:chOff x="928688" y="3881438"/>
              <a:chExt cx="200025" cy="200025"/>
            </a:xfrm>
          </p:grpSpPr>
          <p:sp>
            <p:nvSpPr>
              <p:cNvPr id="37" name="Freeform 37"/>
              <p:cNvSpPr/>
              <p:nvPr/>
            </p:nvSpPr>
            <p:spPr>
              <a:xfrm>
                <a:off x="950913" y="3903663"/>
                <a:ext cx="155575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55575" h="155575">
                    <a:moveTo>
                      <a:pt x="0" y="11113"/>
                    </a:moveTo>
                    <a:cubicBezTo>
                      <a:pt x="0" y="4975"/>
                      <a:pt x="4975" y="0"/>
                      <a:pt x="11113" y="0"/>
                    </a:cubicBezTo>
                    <a:lnTo>
                      <a:pt x="144463" y="0"/>
                    </a:lnTo>
                    <a:cubicBezTo>
                      <a:pt x="150600" y="0"/>
                      <a:pt x="155575" y="4975"/>
                      <a:pt x="155575" y="11113"/>
                    </a:cubicBezTo>
                    <a:lnTo>
                      <a:pt x="155575" y="144463"/>
                    </a:lnTo>
                    <a:cubicBezTo>
                      <a:pt x="155575" y="150600"/>
                      <a:pt x="150600" y="155575"/>
                      <a:pt x="144463" y="155575"/>
                    </a:cubicBezTo>
                    <a:lnTo>
                      <a:pt x="11113" y="155575"/>
                    </a:lnTo>
                    <a:cubicBezTo>
                      <a:pt x="4975" y="155575"/>
                      <a:pt x="0" y="150600"/>
                      <a:pt x="0" y="144463"/>
                    </a:cubicBezTo>
                    <a:lnTo>
                      <a:pt x="0" y="11113"/>
                    </a:lnTo>
                  </a:path>
                </a:pathLst>
              </a:custGeom>
              <a:noFill/>
              <a:ln w="22225">
                <a:solidFill>
                  <a:schemeClr val="accent2"/>
                </a:solidFill>
              </a:ln>
            </p:spPr>
          </p:sp>
          <p:sp>
            <p:nvSpPr>
              <p:cNvPr id="38" name="Freeform 38"/>
              <p:cNvSpPr/>
              <p:nvPr/>
            </p:nvSpPr>
            <p:spPr>
              <a:xfrm>
                <a:off x="995363" y="3948113"/>
                <a:ext cx="66675" cy="66675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66675">
                    <a:moveTo>
                      <a:pt x="0" y="0"/>
                    </a:moveTo>
                    <a:lnTo>
                      <a:pt x="66675" y="0"/>
                    </a:lnTo>
                    <a:lnTo>
                      <a:pt x="66675" y="66675"/>
                    </a:lnTo>
                    <a:lnTo>
                      <a:pt x="0" y="66675"/>
                    </a:lnTo>
                    <a:lnTo>
                      <a:pt x="0" y="0"/>
                    </a:lnTo>
                  </a:path>
                </a:pathLst>
              </a:custGeom>
              <a:noFill/>
              <a:ln w="22225">
                <a:solidFill>
                  <a:schemeClr val="accent2"/>
                </a:solidFill>
              </a:ln>
            </p:spPr>
          </p:sp>
          <p:sp>
            <p:nvSpPr>
              <p:cNvPr id="39" name="Freeform 39"/>
              <p:cNvSpPr/>
              <p:nvPr/>
            </p:nvSpPr>
            <p:spPr>
              <a:xfrm>
                <a:off x="928688" y="3959225"/>
                <a:ext cx="222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9525">
                    <a:moveTo>
                      <a:pt x="0" y="0"/>
                    </a:moveTo>
                    <a:lnTo>
                      <a:pt x="22225" y="0"/>
                    </a:lnTo>
                  </a:path>
                </a:pathLst>
              </a:custGeom>
              <a:noFill/>
              <a:ln w="22225">
                <a:solidFill>
                  <a:schemeClr val="accent2"/>
                </a:solidFill>
              </a:ln>
            </p:spPr>
          </p:sp>
          <p:sp>
            <p:nvSpPr>
              <p:cNvPr id="40" name="Freeform 40"/>
              <p:cNvSpPr/>
              <p:nvPr/>
            </p:nvSpPr>
            <p:spPr>
              <a:xfrm>
                <a:off x="928688" y="4003675"/>
                <a:ext cx="222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9525">
                    <a:moveTo>
                      <a:pt x="0" y="0"/>
                    </a:moveTo>
                    <a:lnTo>
                      <a:pt x="22225" y="0"/>
                    </a:lnTo>
                  </a:path>
                </a:pathLst>
              </a:custGeom>
              <a:noFill/>
              <a:ln w="22225">
                <a:solidFill>
                  <a:schemeClr val="accent2"/>
                </a:solidFill>
              </a:ln>
            </p:spPr>
          </p:sp>
          <p:sp>
            <p:nvSpPr>
              <p:cNvPr id="41" name="Freeform 41"/>
              <p:cNvSpPr/>
              <p:nvPr/>
            </p:nvSpPr>
            <p:spPr>
              <a:xfrm>
                <a:off x="1006475" y="3881438"/>
                <a:ext cx="9525" cy="222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22225">
                <a:solidFill>
                  <a:schemeClr val="accent2"/>
                </a:solidFill>
              </a:ln>
            </p:spPr>
          </p:sp>
          <p:sp>
            <p:nvSpPr>
              <p:cNvPr id="42" name="Freeform 42"/>
              <p:cNvSpPr/>
              <p:nvPr/>
            </p:nvSpPr>
            <p:spPr>
              <a:xfrm>
                <a:off x="1050925" y="3881438"/>
                <a:ext cx="9525" cy="222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22225">
                <a:solidFill>
                  <a:schemeClr val="accent2"/>
                </a:solidFill>
              </a:ln>
            </p:spPr>
          </p:sp>
          <p:sp>
            <p:nvSpPr>
              <p:cNvPr id="43" name="Freeform 43"/>
              <p:cNvSpPr/>
              <p:nvPr/>
            </p:nvSpPr>
            <p:spPr>
              <a:xfrm>
                <a:off x="1106488" y="3959225"/>
                <a:ext cx="222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9525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22225">
                <a:solidFill>
                  <a:schemeClr val="accent2"/>
                </a:solidFill>
              </a:ln>
            </p:spPr>
          </p:sp>
          <p:sp>
            <p:nvSpPr>
              <p:cNvPr id="44" name="Freeform 44"/>
              <p:cNvSpPr/>
              <p:nvPr/>
            </p:nvSpPr>
            <p:spPr>
              <a:xfrm>
                <a:off x="1106488" y="4003675"/>
                <a:ext cx="222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9525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22225">
                <a:solidFill>
                  <a:schemeClr val="accent2"/>
                </a:solidFill>
              </a:ln>
            </p:spPr>
          </p:sp>
          <p:sp>
            <p:nvSpPr>
              <p:cNvPr id="45" name="Freeform 45"/>
              <p:cNvSpPr/>
              <p:nvPr/>
            </p:nvSpPr>
            <p:spPr>
              <a:xfrm>
                <a:off x="1050925" y="4059238"/>
                <a:ext cx="9525" cy="222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22225">
                    <a:moveTo>
                      <a:pt x="0" y="22225"/>
                    </a:moveTo>
                    <a:lnTo>
                      <a:pt x="0" y="0"/>
                    </a:lnTo>
                  </a:path>
                </a:pathLst>
              </a:custGeom>
              <a:noFill/>
              <a:ln w="22225">
                <a:solidFill>
                  <a:schemeClr val="accent2"/>
                </a:solidFill>
              </a:ln>
            </p:spPr>
          </p:sp>
          <p:sp>
            <p:nvSpPr>
              <p:cNvPr id="46" name="Freeform 46"/>
              <p:cNvSpPr/>
              <p:nvPr/>
            </p:nvSpPr>
            <p:spPr>
              <a:xfrm>
                <a:off x="1006475" y="4059238"/>
                <a:ext cx="9525" cy="222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22225">
                    <a:moveTo>
                      <a:pt x="0" y="22225"/>
                    </a:moveTo>
                    <a:lnTo>
                      <a:pt x="0" y="0"/>
                    </a:lnTo>
                  </a:path>
                </a:pathLst>
              </a:custGeom>
              <a:noFill/>
              <a:ln w="22225">
                <a:solidFill>
                  <a:schemeClr val="accent2"/>
                </a:solidFill>
              </a:ln>
            </p:spPr>
          </p:sp>
        </p:grpSp>
        <p:sp>
          <p:nvSpPr>
            <p:cNvPr id="48" name="TextBox 48"/>
            <p:cNvSpPr txBox="1"/>
            <p:nvPr/>
          </p:nvSpPr>
          <p:spPr>
            <a:xfrm>
              <a:off x="1287018" y="3797300"/>
              <a:ext cx="150037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事件循环让出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1289304" y="4152900"/>
              <a:ext cx="167563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to_thread 不卡调度</a:t>
              </a:r>
            </a:p>
          </p:txBody>
        </p:sp>
        <p:sp>
          <p:nvSpPr>
            <p:cNvPr id="50" name="Line 50"/>
            <p:cNvSpPr/>
            <p:nvPr/>
          </p:nvSpPr>
          <p:spPr>
            <a:xfrm>
              <a:off x="5734050" y="4095750"/>
              <a:ext cx="495300" cy="9525"/>
            </a:xfrm>
            <a:custGeom>
              <a:avLst/>
              <a:gdLst/>
              <a:ahLst/>
              <a:cxnLst/>
              <a:rect l="l" t="t" r="r" b="b"/>
              <a:pathLst>
                <a:path w="495300" h="9525">
                  <a:moveTo>
                    <a:pt x="0" y="0"/>
                  </a:moveTo>
                  <a:lnTo>
                    <a:pt x="4953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  <a:prstDash val="dash"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6355842" y="3835400"/>
              <a:ext cx="260123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TestEvolveRunYieldsLoop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6356604" y="4133850"/>
              <a:ext cx="367177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在途并发 syscall 先完成 · 禁用修复 ~3s 失败</a:t>
              </a:r>
            </a:p>
          </p:txBody>
        </p:sp>
      </p:grpSp>
      <p:grpSp>
        <p:nvGrpSpPr>
          <p:cNvPr id="64" name="defense-4"/>
          <p:cNvGrpSpPr/>
          <p:nvPr/>
        </p:nvGrpSpPr>
        <p:grpSpPr>
          <a:xfrm>
            <a:off x="685800" y="4705350"/>
            <a:ext cx="7773314" cy="876300"/>
            <a:chOff x="685800" y="4705350"/>
            <a:chExt cx="7773314" cy="876300"/>
          </a:xfrm>
        </p:grpSpPr>
        <p:sp>
          <p:nvSpPr>
            <p:cNvPr id="54" name="Rectangle 54"/>
            <p:cNvSpPr/>
            <p:nvPr/>
          </p:nvSpPr>
          <p:spPr>
            <a:xfrm>
              <a:off x="685800" y="4705350"/>
              <a:ext cx="5048250" cy="876300"/>
            </a:xfrm>
            <a:prstGeom prst="rect">
              <a:avLst/>
            </a:prstGeom>
            <a:solidFill>
              <a:schemeClr val="lt2">
                <a:alpha val="40000"/>
              </a:schemeClr>
            </a:solidFill>
            <a:ln w="9525">
              <a:solidFill>
                <a:schemeClr val="accent1"/>
              </a:solidFill>
            </a:ln>
          </p:spPr>
        </p:sp>
        <p:grpSp>
          <p:nvGrpSpPr>
            <p:cNvPr id="58" name="Group 58"/>
            <p:cNvGrpSpPr/>
            <p:nvPr/>
          </p:nvGrpSpPr>
          <p:grpSpPr>
            <a:xfrm>
              <a:off x="939800" y="4929188"/>
              <a:ext cx="177801" cy="200025"/>
              <a:chOff x="939800" y="4929188"/>
              <a:chExt cx="177801" cy="200025"/>
            </a:xfrm>
          </p:grpSpPr>
          <p:sp>
            <p:nvSpPr>
              <p:cNvPr id="55" name="Freeform 55"/>
              <p:cNvSpPr/>
              <p:nvPr/>
            </p:nvSpPr>
            <p:spPr>
              <a:xfrm>
                <a:off x="939800" y="4929188"/>
                <a:ext cx="177801" cy="66675"/>
              </a:xfrm>
              <a:custGeom>
                <a:avLst/>
                <a:gdLst/>
                <a:ahLst/>
                <a:cxnLst/>
                <a:rect l="l" t="t" r="r" b="b"/>
                <a:pathLst>
                  <a:path w="177801" h="66675">
                    <a:moveTo>
                      <a:pt x="0" y="33338"/>
                    </a:moveTo>
                    <a:cubicBezTo>
                      <a:pt x="0" y="51749"/>
                      <a:pt x="39802" y="66675"/>
                      <a:pt x="88900" y="66675"/>
                    </a:cubicBezTo>
                    <a:cubicBezTo>
                      <a:pt x="137999" y="66675"/>
                      <a:pt x="177801" y="51749"/>
                      <a:pt x="177801" y="33338"/>
                    </a:cubicBezTo>
                    <a:cubicBezTo>
                      <a:pt x="177801" y="14926"/>
                      <a:pt x="137999" y="0"/>
                      <a:pt x="88900" y="0"/>
                    </a:cubicBezTo>
                    <a:cubicBezTo>
                      <a:pt x="39802" y="0"/>
                      <a:pt x="0" y="14926"/>
                      <a:pt x="0" y="33338"/>
                    </a:cubicBezTo>
                  </a:path>
                </a:pathLst>
              </a:custGeom>
              <a:noFill/>
              <a:ln w="22225">
                <a:solidFill>
                  <a:schemeClr val="accent1"/>
                </a:solidFill>
              </a:ln>
            </p:spPr>
          </p:sp>
          <p:sp>
            <p:nvSpPr>
              <p:cNvPr id="56" name="Freeform 56"/>
              <p:cNvSpPr/>
              <p:nvPr/>
            </p:nvSpPr>
            <p:spPr>
              <a:xfrm>
                <a:off x="939800" y="4962525"/>
                <a:ext cx="177801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177801" h="100013">
                    <a:moveTo>
                      <a:pt x="0" y="0"/>
                    </a:moveTo>
                    <a:lnTo>
                      <a:pt x="0" y="66675"/>
                    </a:lnTo>
                    <a:cubicBezTo>
                      <a:pt x="0" y="85087"/>
                      <a:pt x="39802" y="100013"/>
                      <a:pt x="88900" y="100013"/>
                    </a:cubicBezTo>
                    <a:cubicBezTo>
                      <a:pt x="137999" y="100013"/>
                      <a:pt x="177801" y="85087"/>
                      <a:pt x="177801" y="66675"/>
                    </a:cubicBezTo>
                    <a:lnTo>
                      <a:pt x="177801" y="0"/>
                    </a:lnTo>
                  </a:path>
                </a:pathLst>
              </a:custGeom>
              <a:noFill/>
              <a:ln w="22225">
                <a:solidFill>
                  <a:schemeClr val="accent1"/>
                </a:solidFill>
              </a:ln>
            </p:spPr>
          </p:sp>
          <p:sp>
            <p:nvSpPr>
              <p:cNvPr id="57" name="Freeform 57"/>
              <p:cNvSpPr/>
              <p:nvPr/>
            </p:nvSpPr>
            <p:spPr>
              <a:xfrm>
                <a:off x="939800" y="5029200"/>
                <a:ext cx="177801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177801" h="100013">
                    <a:moveTo>
                      <a:pt x="0" y="0"/>
                    </a:moveTo>
                    <a:lnTo>
                      <a:pt x="0" y="66675"/>
                    </a:lnTo>
                    <a:cubicBezTo>
                      <a:pt x="0" y="85087"/>
                      <a:pt x="39802" y="100013"/>
                      <a:pt x="88900" y="100013"/>
                    </a:cubicBezTo>
                    <a:cubicBezTo>
                      <a:pt x="137999" y="100013"/>
                      <a:pt x="177801" y="85087"/>
                      <a:pt x="177801" y="66675"/>
                    </a:cubicBezTo>
                    <a:lnTo>
                      <a:pt x="177801" y="0"/>
                    </a:lnTo>
                  </a:path>
                </a:pathLst>
              </a:custGeom>
              <a:noFill/>
              <a:ln w="22225">
                <a:solidFill>
                  <a:schemeClr val="accent1"/>
                </a:solidFill>
              </a:ln>
            </p:spPr>
          </p:sp>
        </p:grpSp>
        <p:sp>
          <p:nvSpPr>
            <p:cNvPr id="59" name="TextBox 59"/>
            <p:cNvSpPr txBox="1"/>
            <p:nvPr/>
          </p:nvSpPr>
          <p:spPr>
            <a:xfrm>
              <a:off x="1287018" y="4845050"/>
              <a:ext cx="263905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workdir containment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1289304" y="5200650"/>
              <a:ext cx="127101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驱动侧允许根闸</a:t>
              </a:r>
            </a:p>
          </p:txBody>
        </p:sp>
        <p:sp>
          <p:nvSpPr>
            <p:cNvPr id="61" name="Line 61"/>
            <p:cNvSpPr/>
            <p:nvPr/>
          </p:nvSpPr>
          <p:spPr>
            <a:xfrm>
              <a:off x="5734050" y="5143500"/>
              <a:ext cx="495300" cy="9525"/>
            </a:xfrm>
            <a:custGeom>
              <a:avLst/>
              <a:gdLst/>
              <a:ahLst/>
              <a:cxnLst/>
              <a:rect l="l" t="t" r="r" b="b"/>
              <a:pathLst>
                <a:path w="495300" h="9525">
                  <a:moveTo>
                    <a:pt x="0" y="0"/>
                  </a:moveTo>
                  <a:lnTo>
                    <a:pt x="4953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  <a:prstDash val="dash"/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6355842" y="4883150"/>
              <a:ext cx="169975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TestWorkdirGate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6356604" y="5181600"/>
              <a:ext cx="210251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四形状 EPERM + 内根透传</a:t>
              </a:r>
            </a:p>
          </p:txBody>
        </p:sp>
      </p:grpSp>
      <p:grpSp>
        <p:nvGrpSpPr>
          <p:cNvPr id="69" name="note"/>
          <p:cNvGrpSpPr/>
          <p:nvPr/>
        </p:nvGrpSpPr>
        <p:grpSpPr>
          <a:xfrm>
            <a:off x="714375" y="5759450"/>
            <a:ext cx="5000549" cy="264033"/>
            <a:chOff x="714375" y="5759450"/>
            <a:chExt cx="5000549" cy="264033"/>
          </a:xfrm>
        </p:grpSpPr>
        <p:grpSp>
          <p:nvGrpSpPr>
            <p:cNvPr id="67" name="Group 67"/>
            <p:cNvGrpSpPr/>
            <p:nvPr/>
          </p:nvGrpSpPr>
          <p:grpSpPr>
            <a:xfrm>
              <a:off x="714375" y="5781675"/>
              <a:ext cx="171450" cy="171450"/>
              <a:chOff x="714375" y="5781675"/>
              <a:chExt cx="171450" cy="171450"/>
            </a:xfrm>
          </p:grpSpPr>
          <p:sp>
            <p:nvSpPr>
              <p:cNvPr id="65" name="Freeform 65"/>
              <p:cNvSpPr/>
              <p:nvPr/>
            </p:nvSpPr>
            <p:spPr>
              <a:xfrm>
                <a:off x="714375" y="5781675"/>
                <a:ext cx="171450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171450" h="171450">
                    <a:moveTo>
                      <a:pt x="0" y="85725"/>
                    </a:moveTo>
                    <a:cubicBezTo>
                      <a:pt x="0" y="133070"/>
                      <a:pt x="38380" y="171450"/>
                      <a:pt x="85725" y="171450"/>
                    </a:cubicBezTo>
                    <a:cubicBezTo>
                      <a:pt x="133070" y="171450"/>
                      <a:pt x="171450" y="133070"/>
                      <a:pt x="171450" y="85725"/>
                    </a:cubicBezTo>
                    <a:cubicBezTo>
                      <a:pt x="171450" y="38380"/>
                      <a:pt x="133070" y="0"/>
                      <a:pt x="85725" y="0"/>
                    </a:cubicBezTo>
                    <a:cubicBezTo>
                      <a:pt x="38380" y="0"/>
                      <a:pt x="0" y="38380"/>
                      <a:pt x="0" y="85725"/>
                    </a:cubicBezTo>
                  </a:path>
                </a:pathLst>
              </a:custGeom>
              <a:noFill/>
              <a:ln w="19050">
                <a:solidFill>
                  <a:schemeClr val="accent3"/>
                </a:solidFill>
              </a:ln>
            </p:spPr>
          </p:sp>
          <p:sp>
            <p:nvSpPr>
              <p:cNvPr id="66" name="Freeform 66"/>
              <p:cNvSpPr/>
              <p:nvPr/>
            </p:nvSpPr>
            <p:spPr>
              <a:xfrm>
                <a:off x="771525" y="5848350"/>
                <a:ext cx="57150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57150" h="38100">
                    <a:moveTo>
                      <a:pt x="0" y="19050"/>
                    </a:moveTo>
                    <a:lnTo>
                      <a:pt x="19050" y="38100"/>
                    </a:lnTo>
                    <a:lnTo>
                      <a:pt x="57150" y="0"/>
                    </a:lnTo>
                  </a:path>
                </a:pathLst>
              </a:custGeom>
              <a:noFill/>
              <a:ln w="19050">
                <a:solidFill>
                  <a:schemeClr val="accent3"/>
                </a:solidFill>
              </a:ln>
            </p:spPr>
          </p:sp>
        </p:grpSp>
        <p:sp>
          <p:nvSpPr>
            <p:cNvPr id="68" name="TextBox 68"/>
            <p:cNvSpPr txBox="1"/>
            <p:nvPr/>
          </p:nvSpPr>
          <p:spPr>
            <a:xfrm>
              <a:off x="1002792" y="5759450"/>
              <a:ext cx="471213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双向模块顺序 31/31（终审 I2 根治）· 全量 1121 绿</a:t>
              </a:r>
            </a:p>
          </p:txBody>
        </p:sp>
      </p:grpSp>
      <p:grpSp>
        <p:nvGrpSpPr>
          <p:cNvPr id="73" name="footer"/>
          <p:cNvGrpSpPr/>
          <p:nvPr/>
        </p:nvGrpSpPr>
        <p:grpSpPr>
          <a:xfrm>
            <a:off x="680466" y="6248400"/>
            <a:ext cx="10831068" cy="326009"/>
            <a:chOff x="680466" y="6248400"/>
            <a:chExt cx="10831068" cy="326009"/>
          </a:xfrm>
        </p:grpSpPr>
        <p:sp>
          <p:nvSpPr>
            <p:cNvPr id="70" name="Line 70"/>
            <p:cNvSpPr/>
            <p:nvPr/>
          </p:nvSpPr>
          <p:spPr>
            <a:xfrm>
              <a:off x="685800" y="624840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71" name="TextBox 71"/>
            <p:cNvSpPr txBox="1"/>
            <p:nvPr/>
          </p:nvSpPr>
          <p:spPr>
            <a:xfrm>
              <a:off x="680466" y="6369050"/>
              <a:ext cx="281528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chemeClr val="accent5"/>
                  </a:solidFill>
                  <a:latin typeface="Consolas"/>
                  <a:ea typeface="Consolas"/>
                  <a:cs typeface="Consolas"/>
                </a:rPr>
                <a:t>github.com/Yfredy/LAOS · v0.35.1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9318193" y="6369050"/>
              <a:ext cx="219334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050" dirty="0">
                  <a:solidFill>
                    <a:schemeClr val="accent5"/>
                  </a:solidFill>
                  <a:latin typeface="Consolas"/>
                  <a:ea typeface="Consolas"/>
                  <a:cs typeface="Consolas"/>
                </a:rPr>
                <a:t>FIELD NOTE 02 · 26.10.09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rid"/>
          <p:cNvSpPr/>
          <p:nvPr/>
        </p:nvSpPr>
        <p:spPr>
          <a:xfrm>
            <a:off x="838200" y="914400"/>
            <a:ext cx="10668000" cy="5181600"/>
          </a:xfrm>
          <a:custGeom>
            <a:avLst/>
            <a:gdLst/>
            <a:ahLst/>
            <a:cxnLst/>
            <a:rect l="l" t="t" r="r" b="b"/>
            <a:pathLst>
              <a:path w="10668000" h="5181600">
                <a:moveTo>
                  <a:pt x="1181100" y="0"/>
                </a:moveTo>
                <a:lnTo>
                  <a:pt x="1181100" y="5181600"/>
                </a:lnTo>
                <a:moveTo>
                  <a:pt x="2514600" y="0"/>
                </a:moveTo>
                <a:lnTo>
                  <a:pt x="2514600" y="5181600"/>
                </a:lnTo>
                <a:moveTo>
                  <a:pt x="3848100" y="0"/>
                </a:moveTo>
                <a:lnTo>
                  <a:pt x="3848100" y="5181600"/>
                </a:lnTo>
                <a:moveTo>
                  <a:pt x="5181600" y="0"/>
                </a:moveTo>
                <a:lnTo>
                  <a:pt x="5181600" y="5181600"/>
                </a:lnTo>
                <a:moveTo>
                  <a:pt x="6515100" y="0"/>
                </a:moveTo>
                <a:lnTo>
                  <a:pt x="6515100" y="5181600"/>
                </a:lnTo>
                <a:moveTo>
                  <a:pt x="7848600" y="0"/>
                </a:moveTo>
                <a:lnTo>
                  <a:pt x="7848600" y="5181600"/>
                </a:lnTo>
                <a:moveTo>
                  <a:pt x="9182100" y="0"/>
                </a:moveTo>
                <a:lnTo>
                  <a:pt x="9182100" y="5181600"/>
                </a:lnTo>
                <a:moveTo>
                  <a:pt x="0" y="1847850"/>
                </a:moveTo>
                <a:lnTo>
                  <a:pt x="10668000" y="1847850"/>
                </a:lnTo>
                <a:moveTo>
                  <a:pt x="0" y="2800350"/>
                </a:moveTo>
                <a:lnTo>
                  <a:pt x="10668000" y="2800350"/>
                </a:lnTo>
                <a:moveTo>
                  <a:pt x="0" y="3752850"/>
                </a:moveTo>
                <a:lnTo>
                  <a:pt x="10668000" y="3752850"/>
                </a:lnTo>
                <a:moveTo>
                  <a:pt x="0" y="4705350"/>
                </a:moveTo>
                <a:lnTo>
                  <a:pt x="10668000" y="4705350"/>
                </a:lnTo>
              </a:path>
            </a:pathLst>
          </a:custGeom>
          <a:noFill/>
          <a:ln w="9525">
            <a:solidFill>
              <a:schemeClr val="accent6">
                <a:alpha val="40000"/>
              </a:schemeClr>
            </a:solidFill>
          </a:ln>
        </p:spPr>
      </p:sp>
      <p:grpSp>
        <p:nvGrpSpPr>
          <p:cNvPr id="6" name="header"/>
          <p:cNvGrpSpPr/>
          <p:nvPr/>
        </p:nvGrpSpPr>
        <p:grpSpPr>
          <a:xfrm>
            <a:off x="680466" y="368300"/>
            <a:ext cx="10831068" cy="346075"/>
            <a:chOff x="680466" y="368300"/>
            <a:chExt cx="10831068" cy="346075"/>
          </a:xfrm>
        </p:grpSpPr>
        <p:sp>
          <p:nvSpPr>
            <p:cNvPr id="3" name="TextBox 3"/>
            <p:cNvSpPr txBox="1"/>
            <p:nvPr/>
          </p:nvSpPr>
          <p:spPr>
            <a:xfrm>
              <a:off x="680466" y="368300"/>
              <a:ext cx="240357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spc="225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LAOS · LINUX AGENTOS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10198798" y="368300"/>
              <a:ext cx="131273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spc="75" dirty="0">
                  <a:solidFill>
                    <a:schemeClr val="accent5"/>
                  </a:solidFill>
                  <a:latin typeface="Consolas"/>
                  <a:ea typeface="Microsoft YaHei"/>
                  <a:cs typeface="Consolas"/>
                </a:rPr>
                <a:t>07 / 12 · 收档</a:t>
              </a:r>
            </a:p>
          </p:txBody>
        </p:sp>
        <p:sp>
          <p:nvSpPr>
            <p:cNvPr id="5" name="Line 5"/>
            <p:cNvSpPr/>
            <p:nvPr/>
          </p:nvSpPr>
          <p:spPr>
            <a:xfrm>
              <a:off x="685800" y="70485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</p:grpSp>
      <p:grpSp>
        <p:nvGrpSpPr>
          <p:cNvPr id="10" name="title"/>
          <p:cNvGrpSpPr/>
          <p:nvPr/>
        </p:nvGrpSpPr>
        <p:grpSpPr>
          <a:xfrm>
            <a:off x="669798" y="876300"/>
            <a:ext cx="10836402" cy="616077"/>
            <a:chOff x="669798" y="876300"/>
            <a:chExt cx="10836402" cy="616077"/>
          </a:xfrm>
        </p:grpSpPr>
        <p:sp>
          <p:nvSpPr>
            <p:cNvPr id="7" name="TextBox 7"/>
            <p:cNvSpPr txBox="1"/>
            <p:nvPr/>
          </p:nvSpPr>
          <p:spPr>
            <a:xfrm>
              <a:off x="669798" y="876300"/>
              <a:ext cx="5445921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BLOCKED：收档而非失败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1390650"/>
              <a:ext cx="533400" cy="28575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9" name="Line 9"/>
            <p:cNvSpPr/>
            <p:nvPr/>
          </p:nvSpPr>
          <p:spPr>
            <a:xfrm>
              <a:off x="1333500" y="1400175"/>
              <a:ext cx="10172700" cy="9525"/>
            </a:xfrm>
            <a:custGeom>
              <a:avLst/>
              <a:gdLst/>
              <a:ahLst/>
              <a:cxnLst/>
              <a:rect l="l" t="t" r="r" b="b"/>
              <a:pathLst>
                <a:path w="10172700" h="9525">
                  <a:moveTo>
                    <a:pt x="0" y="0"/>
                  </a:moveTo>
                  <a:lnTo>
                    <a:pt x="101727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</p:grpSp>
      <p:grpSp>
        <p:nvGrpSpPr>
          <p:cNvPr id="27" name="card-status"/>
          <p:cNvGrpSpPr/>
          <p:nvPr/>
        </p:nvGrpSpPr>
        <p:grpSpPr>
          <a:xfrm>
            <a:off x="685800" y="1638300"/>
            <a:ext cx="5143500" cy="3505200"/>
            <a:chOff x="685800" y="1638300"/>
            <a:chExt cx="5143500" cy="3505200"/>
          </a:xfrm>
        </p:grpSpPr>
        <p:sp>
          <p:nvSpPr>
            <p:cNvPr id="11" name="Rectangle 11"/>
            <p:cNvSpPr/>
            <p:nvPr/>
          </p:nvSpPr>
          <p:spPr>
            <a:xfrm>
              <a:off x="685800" y="1638300"/>
              <a:ext cx="5143500" cy="3505200"/>
            </a:xfrm>
            <a:prstGeom prst="rect">
              <a:avLst/>
            </a:prstGeom>
            <a:solidFill>
              <a:schemeClr val="lt2">
                <a:alpha val="40000"/>
              </a:schemeClr>
            </a:solidFill>
            <a:ln w="14288">
              <a:solidFill>
                <a:schemeClr val="accent1"/>
              </a:solidFill>
            </a:ln>
          </p:spPr>
        </p:sp>
        <p:grpSp>
          <p:nvGrpSpPr>
            <p:cNvPr id="17" name="Group 17"/>
            <p:cNvGrpSpPr/>
            <p:nvPr/>
          </p:nvGrpSpPr>
          <p:grpSpPr>
            <a:xfrm>
              <a:off x="1012031" y="1864519"/>
              <a:ext cx="166688" cy="214312"/>
              <a:chOff x="1012031" y="1864519"/>
              <a:chExt cx="166688" cy="214312"/>
            </a:xfrm>
          </p:grpSpPr>
          <p:sp>
            <p:nvSpPr>
              <p:cNvPr id="12" name="Freeform 12"/>
              <p:cNvSpPr/>
              <p:nvPr/>
            </p:nvSpPr>
            <p:spPr>
              <a:xfrm>
                <a:off x="1119188" y="1864519"/>
                <a:ext cx="59531" cy="59531"/>
              </a:xfrm>
              <a:custGeom>
                <a:avLst/>
                <a:gdLst/>
                <a:ahLst/>
                <a:cxnLst/>
                <a:rect l="l" t="t" r="r" b="b"/>
                <a:pathLst>
                  <a:path w="59531" h="59531">
                    <a:moveTo>
                      <a:pt x="0" y="0"/>
                    </a:moveTo>
                    <a:lnTo>
                      <a:pt x="0" y="47625"/>
                    </a:lnTo>
                    <a:cubicBezTo>
                      <a:pt x="0" y="54201"/>
                      <a:pt x="5331" y="59531"/>
                      <a:pt x="11906" y="59531"/>
                    </a:cubicBezTo>
                    <a:lnTo>
                      <a:pt x="59531" y="59531"/>
                    </a:lnTo>
                  </a:path>
                </a:pathLst>
              </a:custGeom>
              <a:noFill/>
              <a:ln w="23812">
                <a:solidFill>
                  <a:schemeClr val="accent1"/>
                </a:solidFill>
              </a:ln>
            </p:spPr>
          </p:sp>
          <p:sp>
            <p:nvSpPr>
              <p:cNvPr id="13" name="Freeform 13"/>
              <p:cNvSpPr/>
              <p:nvPr/>
            </p:nvSpPr>
            <p:spPr>
              <a:xfrm>
                <a:off x="1012031" y="1864519"/>
                <a:ext cx="166688" cy="214312"/>
              </a:xfrm>
              <a:custGeom>
                <a:avLst/>
                <a:gdLst/>
                <a:ahLst/>
                <a:cxnLst/>
                <a:rect l="l" t="t" r="r" b="b"/>
                <a:pathLst>
                  <a:path w="166688" h="214312">
                    <a:moveTo>
                      <a:pt x="142875" y="214312"/>
                    </a:moveTo>
                    <a:lnTo>
                      <a:pt x="23812" y="214312"/>
                    </a:lnTo>
                    <a:cubicBezTo>
                      <a:pt x="10661" y="214312"/>
                      <a:pt x="0" y="203651"/>
                      <a:pt x="0" y="190500"/>
                    </a:cubicBezTo>
                    <a:lnTo>
                      <a:pt x="0" y="23812"/>
                    </a:lnTo>
                    <a:cubicBezTo>
                      <a:pt x="0" y="10661"/>
                      <a:pt x="10661" y="0"/>
                      <a:pt x="23812" y="0"/>
                    </a:cubicBezTo>
                    <a:lnTo>
                      <a:pt x="107156" y="0"/>
                    </a:lnTo>
                    <a:lnTo>
                      <a:pt x="166688" y="59531"/>
                    </a:lnTo>
                    <a:lnTo>
                      <a:pt x="166688" y="190500"/>
                    </a:lnTo>
                    <a:cubicBezTo>
                      <a:pt x="166688" y="203651"/>
                      <a:pt x="156026" y="214312"/>
                      <a:pt x="142875" y="214312"/>
                    </a:cubicBezTo>
                  </a:path>
                </a:pathLst>
              </a:custGeom>
              <a:noFill/>
              <a:ln w="23812">
                <a:solidFill>
                  <a:schemeClr val="accent1"/>
                </a:solidFill>
              </a:ln>
            </p:spPr>
          </p:sp>
          <p:sp>
            <p:nvSpPr>
              <p:cNvPr id="14" name="Freeform 14"/>
              <p:cNvSpPr/>
              <p:nvPr/>
            </p:nvSpPr>
            <p:spPr>
              <a:xfrm>
                <a:off x="1059656" y="1935956"/>
                <a:ext cx="11906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1906" h="9525">
                    <a:moveTo>
                      <a:pt x="0" y="0"/>
                    </a:moveTo>
                    <a:lnTo>
                      <a:pt x="11906" y="0"/>
                    </a:lnTo>
                  </a:path>
                </a:pathLst>
              </a:custGeom>
              <a:noFill/>
              <a:ln w="23812">
                <a:solidFill>
                  <a:schemeClr val="accent1"/>
                </a:solidFill>
              </a:ln>
            </p:spPr>
          </p:sp>
          <p:sp>
            <p:nvSpPr>
              <p:cNvPr id="15" name="Freeform 15"/>
              <p:cNvSpPr/>
              <p:nvPr/>
            </p:nvSpPr>
            <p:spPr>
              <a:xfrm>
                <a:off x="1059656" y="1983581"/>
                <a:ext cx="7143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71438" h="9525">
                    <a:moveTo>
                      <a:pt x="0" y="0"/>
                    </a:moveTo>
                    <a:lnTo>
                      <a:pt x="71438" y="0"/>
                    </a:lnTo>
                  </a:path>
                </a:pathLst>
              </a:custGeom>
              <a:noFill/>
              <a:ln w="23812">
                <a:solidFill>
                  <a:schemeClr val="accent1"/>
                </a:solidFill>
              </a:ln>
            </p:spPr>
          </p:sp>
          <p:sp>
            <p:nvSpPr>
              <p:cNvPr id="16" name="Freeform 16"/>
              <p:cNvSpPr/>
              <p:nvPr/>
            </p:nvSpPr>
            <p:spPr>
              <a:xfrm>
                <a:off x="1059656" y="2031206"/>
                <a:ext cx="7143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71438" h="9525">
                    <a:moveTo>
                      <a:pt x="0" y="0"/>
                    </a:moveTo>
                    <a:lnTo>
                      <a:pt x="71438" y="0"/>
                    </a:lnTo>
                  </a:path>
                </a:pathLst>
              </a:custGeom>
              <a:noFill/>
              <a:ln w="23812">
                <a:solidFill>
                  <a:schemeClr val="accent1"/>
                </a:solidFill>
              </a:ln>
            </p:spPr>
          </p:sp>
        </p:grpSp>
        <p:sp>
          <p:nvSpPr>
            <p:cNvPr id="18" name="TextBox 18"/>
            <p:cNvSpPr txBox="1"/>
            <p:nvPr/>
          </p:nvSpPr>
          <p:spPr>
            <a:xfrm>
              <a:off x="1362456" y="1831975"/>
              <a:ext cx="340902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现状 · 为什么没有 e2e 数字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952500" y="2286000"/>
              <a:ext cx="4610100" cy="9525"/>
            </a:xfrm>
            <a:custGeom>
              <a:avLst/>
              <a:gdLst/>
              <a:ahLst/>
              <a:cxnLst/>
              <a:rect l="l" t="t" r="r" b="b"/>
              <a:pathLst>
                <a:path w="4610100" h="9525">
                  <a:moveTo>
                    <a:pt x="0" y="0"/>
                  </a:moveTo>
                  <a:lnTo>
                    <a:pt x="46101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944880" y="2508250"/>
              <a:ext cx="299483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唯一 key = 内网网关会话密钥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946404" y="2813050"/>
              <a:ext cx="30876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Consolas"/>
                  <a:ea typeface="Microsoft YaHei"/>
                  <a:cs typeface="Consolas"/>
                </a:rPr>
                <a:t>api.mimo-v2.com · 公网 NXDOMAIN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944880" y="3213100"/>
              <a:ext cx="389165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七端点 401 / TLS 断 · ollama 未运行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944880" y="3651250"/>
              <a:ext cx="9144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证据原文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946404" y="3956050"/>
              <a:ext cx="344344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accent5"/>
                  </a:solidFill>
                  <a:latin typeface="Consolas"/>
                  <a:ea typeface="Consolas"/>
                  <a:cs typeface="Consolas"/>
                </a:rPr>
                <a:t>var/rsi/openevolve/OBSERVATIONS.md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944880" y="4356100"/>
              <a:ext cx="9144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文档口径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945642" y="4635500"/>
              <a:ext cx="330127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只写「未跑 · 未记」——不引用宣称值</a:t>
              </a:r>
            </a:p>
          </p:txBody>
        </p:sp>
      </p:grpSp>
      <p:grpSp>
        <p:nvGrpSpPr>
          <p:cNvPr id="42" name="card-unlock"/>
          <p:cNvGrpSpPr/>
          <p:nvPr/>
        </p:nvGrpSpPr>
        <p:grpSpPr>
          <a:xfrm>
            <a:off x="6362700" y="1638300"/>
            <a:ext cx="5143500" cy="3505200"/>
            <a:chOff x="6362700" y="1638300"/>
            <a:chExt cx="5143500" cy="3505200"/>
          </a:xfrm>
        </p:grpSpPr>
        <p:sp>
          <p:nvSpPr>
            <p:cNvPr id="28" name="Rectangle 28"/>
            <p:cNvSpPr/>
            <p:nvPr/>
          </p:nvSpPr>
          <p:spPr>
            <a:xfrm>
              <a:off x="6362700" y="1638300"/>
              <a:ext cx="5143500" cy="3505200"/>
            </a:xfrm>
            <a:prstGeom prst="rect">
              <a:avLst/>
            </a:prstGeom>
            <a:solidFill>
              <a:schemeClr val="lt2">
                <a:alpha val="40000"/>
              </a:schemeClr>
            </a:solidFill>
            <a:ln w="14288">
              <a:solidFill>
                <a:schemeClr val="accent1"/>
              </a:solidFill>
            </a:ln>
          </p:spPr>
        </p:sp>
        <p:grpSp>
          <p:nvGrpSpPr>
            <p:cNvPr id="32" name="Group 32"/>
            <p:cNvGrpSpPr/>
            <p:nvPr/>
          </p:nvGrpSpPr>
          <p:grpSpPr>
            <a:xfrm>
              <a:off x="6688931" y="1852612"/>
              <a:ext cx="166688" cy="226219"/>
              <a:chOff x="6688931" y="1852612"/>
              <a:chExt cx="166688" cy="226219"/>
            </a:xfrm>
          </p:grpSpPr>
          <p:sp>
            <p:nvSpPr>
              <p:cNvPr id="29" name="Freeform 29"/>
              <p:cNvSpPr/>
              <p:nvPr/>
            </p:nvSpPr>
            <p:spPr>
              <a:xfrm>
                <a:off x="6688931" y="1959769"/>
                <a:ext cx="166688" cy="119062"/>
              </a:xfrm>
              <a:custGeom>
                <a:avLst/>
                <a:gdLst/>
                <a:ahLst/>
                <a:cxnLst/>
                <a:rect l="l" t="t" r="r" b="b"/>
                <a:pathLst>
                  <a:path w="166688" h="119062">
                    <a:moveTo>
                      <a:pt x="0" y="23812"/>
                    </a:moveTo>
                    <a:cubicBezTo>
                      <a:pt x="0" y="10661"/>
                      <a:pt x="10661" y="0"/>
                      <a:pt x="23812" y="0"/>
                    </a:cubicBezTo>
                    <a:lnTo>
                      <a:pt x="142875" y="0"/>
                    </a:lnTo>
                    <a:cubicBezTo>
                      <a:pt x="156026" y="0"/>
                      <a:pt x="166688" y="10661"/>
                      <a:pt x="166688" y="23812"/>
                    </a:cubicBezTo>
                    <a:lnTo>
                      <a:pt x="166688" y="95250"/>
                    </a:lnTo>
                    <a:cubicBezTo>
                      <a:pt x="166688" y="108401"/>
                      <a:pt x="156026" y="119062"/>
                      <a:pt x="142875" y="119062"/>
                    </a:cubicBezTo>
                    <a:lnTo>
                      <a:pt x="23812" y="119062"/>
                    </a:lnTo>
                    <a:cubicBezTo>
                      <a:pt x="10661" y="119062"/>
                      <a:pt x="0" y="108401"/>
                      <a:pt x="0" y="95250"/>
                    </a:cubicBezTo>
                    <a:lnTo>
                      <a:pt x="0" y="23812"/>
                    </a:lnTo>
                  </a:path>
                </a:pathLst>
              </a:custGeom>
              <a:noFill/>
              <a:ln w="23812">
                <a:solidFill>
                  <a:schemeClr val="accent3"/>
                </a:solidFill>
              </a:ln>
            </p:spPr>
          </p:sp>
          <p:sp>
            <p:nvSpPr>
              <p:cNvPr id="30" name="Freeform 30"/>
              <p:cNvSpPr/>
              <p:nvPr/>
            </p:nvSpPr>
            <p:spPr>
              <a:xfrm>
                <a:off x="6760369" y="2007394"/>
                <a:ext cx="23812" cy="23812"/>
              </a:xfrm>
              <a:custGeom>
                <a:avLst/>
                <a:gdLst/>
                <a:ahLst/>
                <a:cxnLst/>
                <a:rect l="l" t="t" r="r" b="b"/>
                <a:pathLst>
                  <a:path w="23812" h="23812">
                    <a:moveTo>
                      <a:pt x="0" y="11906"/>
                    </a:moveTo>
                    <a:cubicBezTo>
                      <a:pt x="0" y="18482"/>
                      <a:pt x="5331" y="23812"/>
                      <a:pt x="11906" y="23812"/>
                    </a:cubicBezTo>
                    <a:cubicBezTo>
                      <a:pt x="18482" y="23812"/>
                      <a:pt x="23812" y="18482"/>
                      <a:pt x="23812" y="11906"/>
                    </a:cubicBezTo>
                    <a:cubicBezTo>
                      <a:pt x="23812" y="5331"/>
                      <a:pt x="18482" y="0"/>
                      <a:pt x="11906" y="0"/>
                    </a:cubicBezTo>
                    <a:cubicBezTo>
                      <a:pt x="5331" y="0"/>
                      <a:pt x="0" y="5331"/>
                      <a:pt x="0" y="11906"/>
                    </a:cubicBezTo>
                  </a:path>
                </a:pathLst>
              </a:custGeom>
              <a:noFill/>
              <a:ln w="23812">
                <a:solidFill>
                  <a:schemeClr val="accent3"/>
                </a:solidFill>
              </a:ln>
            </p:spPr>
          </p:sp>
          <p:sp>
            <p:nvSpPr>
              <p:cNvPr id="31" name="Freeform 31"/>
              <p:cNvSpPr/>
              <p:nvPr/>
            </p:nvSpPr>
            <p:spPr>
              <a:xfrm>
                <a:off x="6724650" y="1852612"/>
                <a:ext cx="95250" cy="107156"/>
              </a:xfrm>
              <a:custGeom>
                <a:avLst/>
                <a:gdLst/>
                <a:ahLst/>
                <a:cxnLst/>
                <a:rect l="l" t="t" r="r" b="b"/>
                <a:pathLst>
                  <a:path w="95250" h="107156">
                    <a:moveTo>
                      <a:pt x="0" y="107156"/>
                    </a:moveTo>
                    <a:lnTo>
                      <a:pt x="0" y="47625"/>
                    </a:lnTo>
                    <a:cubicBezTo>
                      <a:pt x="0" y="21322"/>
                      <a:pt x="21322" y="0"/>
                      <a:pt x="47625" y="0"/>
                    </a:cubicBezTo>
                    <a:cubicBezTo>
                      <a:pt x="73928" y="0"/>
                      <a:pt x="95250" y="21322"/>
                      <a:pt x="95250" y="47625"/>
                    </a:cubicBezTo>
                  </a:path>
                </a:pathLst>
              </a:custGeom>
              <a:noFill/>
              <a:ln w="23812">
                <a:solidFill>
                  <a:schemeClr val="accent3"/>
                </a:solidFill>
              </a:ln>
            </p:spPr>
          </p:sp>
        </p:grpSp>
        <p:sp>
          <p:nvSpPr>
            <p:cNvPr id="33" name="TextBox 33"/>
            <p:cNvSpPr txBox="1"/>
            <p:nvPr/>
          </p:nvSpPr>
          <p:spPr>
            <a:xfrm>
              <a:off x="7039356" y="1831975"/>
              <a:ext cx="217627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解锁路径（任一）</a:t>
              </a:r>
            </a:p>
          </p:txBody>
        </p:sp>
        <p:sp>
          <p:nvSpPr>
            <p:cNvPr id="34" name="Line 34"/>
            <p:cNvSpPr/>
            <p:nvPr/>
          </p:nvSpPr>
          <p:spPr>
            <a:xfrm>
              <a:off x="6629400" y="2286000"/>
              <a:ext cx="4610100" cy="9525"/>
            </a:xfrm>
            <a:custGeom>
              <a:avLst/>
              <a:gdLst/>
              <a:ahLst/>
              <a:cxnLst/>
              <a:rect l="l" t="t" r="r" b="b"/>
              <a:pathLst>
                <a:path w="4610100" h="9525">
                  <a:moveTo>
                    <a:pt x="0" y="0"/>
                  </a:moveTo>
                  <a:lnTo>
                    <a:pt x="46101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6621780" y="2508250"/>
              <a:ext cx="178428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OpenAI 兼容 key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6623304" y="2813050"/>
              <a:ext cx="333817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accent5"/>
                  </a:solidFill>
                  <a:latin typeface="Consolas"/>
                  <a:ea typeface="Consolas"/>
                  <a:cs typeface="Consolas"/>
                </a:rPr>
                <a:t>OPENAI_API_BASE / OPENAI_API_KEY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6621780" y="3213100"/>
              <a:ext cx="146850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ollama 小模型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6623304" y="3517900"/>
              <a:ext cx="149580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accent5"/>
                  </a:solidFill>
                  <a:latin typeface="Consolas"/>
                  <a:ea typeface="Consolas"/>
                  <a:cs typeface="Consolas"/>
                </a:rPr>
                <a:t>localhost:11434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6621780" y="3917950"/>
              <a:ext cx="11391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一命令全跑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6622542" y="4197350"/>
              <a:ext cx="300791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asks 留痕 · 让出实证 · 布局钉死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6623304" y="4648200"/>
              <a:ext cx="466084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解锁后第一跑须验证事件循环让出并钉死 checkpoint 布局</a:t>
              </a:r>
            </a:p>
          </p:txBody>
        </p:sp>
      </p:grpSp>
      <p:grpSp>
        <p:nvGrpSpPr>
          <p:cNvPr id="46" name="command"/>
          <p:cNvGrpSpPr/>
          <p:nvPr/>
        </p:nvGrpSpPr>
        <p:grpSpPr>
          <a:xfrm>
            <a:off x="685800" y="5467350"/>
            <a:ext cx="10820400" cy="495300"/>
            <a:chOff x="685800" y="5467350"/>
            <a:chExt cx="10820400" cy="495300"/>
          </a:xfrm>
        </p:grpSpPr>
        <p:sp>
          <p:nvSpPr>
            <p:cNvPr id="43" name="Rectangle 43"/>
            <p:cNvSpPr/>
            <p:nvPr/>
          </p:nvSpPr>
          <p:spPr>
            <a:xfrm>
              <a:off x="685800" y="5467350"/>
              <a:ext cx="10820400" cy="495300"/>
            </a:xfrm>
            <a:prstGeom prst="rect">
              <a:avLst/>
            </a:prstGeom>
            <a:noFill/>
            <a:ln w="9525">
              <a:solidFill>
                <a:schemeClr val="accent1"/>
              </a:solidFill>
              <a:custDash>
                <a:ds d="500000" sp="400000"/>
              </a:custDash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906780" y="5603875"/>
              <a:ext cx="471335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chemeClr val="accent3"/>
                  </a:solidFill>
                  <a:latin typeface="Consolas"/>
                  <a:ea typeface="Consolas"/>
                  <a:cs typeface="Consolas"/>
                </a:rPr>
                <a:t>$ python scripts/evolve_e2e.py --check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9086545" y="5641975"/>
              <a:ext cx="219715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chemeClr val="accent5"/>
                  </a:solidFill>
                  <a:latin typeface="Consolas"/>
                  <a:ea typeface="Microsoft YaHei"/>
                  <a:cs typeface="Consolas"/>
                </a:rPr>
                <a:t>可达 rc=0 · 不可达 rc=2</a:t>
              </a:r>
            </a:p>
          </p:txBody>
        </p:sp>
      </p:grpSp>
      <p:grpSp>
        <p:nvGrpSpPr>
          <p:cNvPr id="50" name="footer"/>
          <p:cNvGrpSpPr/>
          <p:nvPr/>
        </p:nvGrpSpPr>
        <p:grpSpPr>
          <a:xfrm>
            <a:off x="680466" y="6248400"/>
            <a:ext cx="10831068" cy="326009"/>
            <a:chOff x="680466" y="6248400"/>
            <a:chExt cx="10831068" cy="326009"/>
          </a:xfrm>
        </p:grpSpPr>
        <p:sp>
          <p:nvSpPr>
            <p:cNvPr id="47" name="Line 47"/>
            <p:cNvSpPr/>
            <p:nvPr/>
          </p:nvSpPr>
          <p:spPr>
            <a:xfrm>
              <a:off x="685800" y="624840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680466" y="6369050"/>
              <a:ext cx="281528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chemeClr val="accent5"/>
                  </a:solidFill>
                  <a:latin typeface="Consolas"/>
                  <a:ea typeface="Consolas"/>
                  <a:cs typeface="Consolas"/>
                </a:rPr>
                <a:t>github.com/Yfredy/LAOS · v0.35.1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9318193" y="6369050"/>
              <a:ext cx="219334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050" dirty="0">
                  <a:solidFill>
                    <a:schemeClr val="accent5"/>
                  </a:solidFill>
                  <a:latin typeface="Consolas"/>
                  <a:ea typeface="Consolas"/>
                  <a:cs typeface="Consolas"/>
                </a:rPr>
                <a:t>FIELD NOTE 02 · 26.10.09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rid"/>
          <p:cNvSpPr/>
          <p:nvPr/>
        </p:nvSpPr>
        <p:spPr>
          <a:xfrm>
            <a:off x="838200" y="914400"/>
            <a:ext cx="10668000" cy="5181600"/>
          </a:xfrm>
          <a:custGeom>
            <a:avLst/>
            <a:gdLst/>
            <a:ahLst/>
            <a:cxnLst/>
            <a:rect l="l" t="t" r="r" b="b"/>
            <a:pathLst>
              <a:path w="10668000" h="5181600">
                <a:moveTo>
                  <a:pt x="1181100" y="0"/>
                </a:moveTo>
                <a:lnTo>
                  <a:pt x="1181100" y="5181600"/>
                </a:lnTo>
                <a:moveTo>
                  <a:pt x="2514600" y="0"/>
                </a:moveTo>
                <a:lnTo>
                  <a:pt x="2514600" y="5181600"/>
                </a:lnTo>
                <a:moveTo>
                  <a:pt x="3848100" y="0"/>
                </a:moveTo>
                <a:lnTo>
                  <a:pt x="3848100" y="5181600"/>
                </a:lnTo>
                <a:moveTo>
                  <a:pt x="5181600" y="0"/>
                </a:moveTo>
                <a:lnTo>
                  <a:pt x="5181600" y="5181600"/>
                </a:lnTo>
                <a:moveTo>
                  <a:pt x="6515100" y="0"/>
                </a:moveTo>
                <a:lnTo>
                  <a:pt x="6515100" y="5181600"/>
                </a:lnTo>
                <a:moveTo>
                  <a:pt x="7848600" y="0"/>
                </a:moveTo>
                <a:lnTo>
                  <a:pt x="7848600" y="5181600"/>
                </a:lnTo>
                <a:moveTo>
                  <a:pt x="9182100" y="0"/>
                </a:moveTo>
                <a:lnTo>
                  <a:pt x="9182100" y="5181600"/>
                </a:lnTo>
                <a:moveTo>
                  <a:pt x="0" y="1847850"/>
                </a:moveTo>
                <a:lnTo>
                  <a:pt x="10668000" y="1847850"/>
                </a:lnTo>
                <a:moveTo>
                  <a:pt x="0" y="2800350"/>
                </a:moveTo>
                <a:lnTo>
                  <a:pt x="10668000" y="2800350"/>
                </a:lnTo>
                <a:moveTo>
                  <a:pt x="0" y="3752850"/>
                </a:moveTo>
                <a:lnTo>
                  <a:pt x="10668000" y="3752850"/>
                </a:lnTo>
                <a:moveTo>
                  <a:pt x="0" y="4705350"/>
                </a:moveTo>
                <a:lnTo>
                  <a:pt x="10668000" y="4705350"/>
                </a:lnTo>
              </a:path>
            </a:pathLst>
          </a:custGeom>
          <a:noFill/>
          <a:ln w="9525">
            <a:solidFill>
              <a:schemeClr val="accent6">
                <a:alpha val="40000"/>
              </a:schemeClr>
            </a:solidFill>
          </a:ln>
        </p:spPr>
      </p:sp>
      <p:grpSp>
        <p:nvGrpSpPr>
          <p:cNvPr id="6" name="header"/>
          <p:cNvGrpSpPr/>
          <p:nvPr/>
        </p:nvGrpSpPr>
        <p:grpSpPr>
          <a:xfrm>
            <a:off x="680466" y="368300"/>
            <a:ext cx="10831068" cy="346075"/>
            <a:chOff x="680466" y="368300"/>
            <a:chExt cx="10831068" cy="346075"/>
          </a:xfrm>
        </p:grpSpPr>
        <p:sp>
          <p:nvSpPr>
            <p:cNvPr id="3" name="TextBox 3"/>
            <p:cNvSpPr txBox="1"/>
            <p:nvPr/>
          </p:nvSpPr>
          <p:spPr>
            <a:xfrm>
              <a:off x="680466" y="368300"/>
              <a:ext cx="240357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spc="225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LAOS · LINUX AGENTOS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10198798" y="368300"/>
              <a:ext cx="131273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spc="75" dirty="0">
                  <a:solidFill>
                    <a:schemeClr val="accent5"/>
                  </a:solidFill>
                  <a:latin typeface="Consolas"/>
                  <a:ea typeface="Microsoft YaHei"/>
                  <a:cs typeface="Consolas"/>
                </a:rPr>
                <a:t>08 / 12 · 操作</a:t>
              </a:r>
            </a:p>
          </p:txBody>
        </p:sp>
        <p:sp>
          <p:nvSpPr>
            <p:cNvPr id="5" name="Line 5"/>
            <p:cNvSpPr/>
            <p:nvPr/>
          </p:nvSpPr>
          <p:spPr>
            <a:xfrm>
              <a:off x="685800" y="70485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</p:grpSp>
      <p:grpSp>
        <p:nvGrpSpPr>
          <p:cNvPr id="10" name="title"/>
          <p:cNvGrpSpPr/>
          <p:nvPr/>
        </p:nvGrpSpPr>
        <p:grpSpPr>
          <a:xfrm>
            <a:off x="669798" y="876300"/>
            <a:ext cx="10836402" cy="616077"/>
            <a:chOff x="669798" y="876300"/>
            <a:chExt cx="10836402" cy="616077"/>
          </a:xfrm>
        </p:grpSpPr>
        <p:sp>
          <p:nvSpPr>
            <p:cNvPr id="7" name="TextBox 7"/>
            <p:cNvSpPr txBox="1"/>
            <p:nvPr/>
          </p:nvSpPr>
          <p:spPr>
            <a:xfrm>
              <a:off x="669798" y="876300"/>
              <a:ext cx="2392299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日常三操作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1390650"/>
              <a:ext cx="533400" cy="28575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9" name="Line 9"/>
            <p:cNvSpPr/>
            <p:nvPr/>
          </p:nvSpPr>
          <p:spPr>
            <a:xfrm>
              <a:off x="1333500" y="1400175"/>
              <a:ext cx="10172700" cy="9525"/>
            </a:xfrm>
            <a:custGeom>
              <a:avLst/>
              <a:gdLst/>
              <a:ahLst/>
              <a:cxnLst/>
              <a:rect l="l" t="t" r="r" b="b"/>
              <a:pathLst>
                <a:path w="10172700" h="9525">
                  <a:moveTo>
                    <a:pt x="0" y="0"/>
                  </a:moveTo>
                  <a:lnTo>
                    <a:pt x="101727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</p:grpSp>
      <p:grpSp>
        <p:nvGrpSpPr>
          <p:cNvPr id="25" name="op-1"/>
          <p:cNvGrpSpPr/>
          <p:nvPr/>
        </p:nvGrpSpPr>
        <p:grpSpPr>
          <a:xfrm>
            <a:off x="685800" y="1638300"/>
            <a:ext cx="3429000" cy="2247900"/>
            <a:chOff x="685800" y="1638300"/>
            <a:chExt cx="3429000" cy="2247900"/>
          </a:xfrm>
        </p:grpSpPr>
        <p:sp>
          <p:nvSpPr>
            <p:cNvPr id="11" name="Rectangle 11"/>
            <p:cNvSpPr/>
            <p:nvPr/>
          </p:nvSpPr>
          <p:spPr>
            <a:xfrm>
              <a:off x="685800" y="1638300"/>
              <a:ext cx="3429000" cy="2247900"/>
            </a:xfrm>
            <a:prstGeom prst="rect">
              <a:avLst/>
            </a:prstGeom>
            <a:solidFill>
              <a:schemeClr val="lt2">
                <a:alpha val="40000"/>
              </a:schemeClr>
            </a:solidFill>
            <a:ln w="9525">
              <a:solidFill>
                <a:schemeClr val="accent1"/>
              </a:solidFill>
            </a:ln>
          </p:spPr>
        </p:sp>
        <p:grpSp>
          <p:nvGrpSpPr>
            <p:cNvPr id="18" name="Group 18"/>
            <p:cNvGrpSpPr/>
            <p:nvPr/>
          </p:nvGrpSpPr>
          <p:grpSpPr>
            <a:xfrm>
              <a:off x="969963" y="1873250"/>
              <a:ext cx="166687" cy="177801"/>
              <a:chOff x="969963" y="1873250"/>
              <a:chExt cx="166687" cy="177801"/>
            </a:xfrm>
          </p:grpSpPr>
          <p:sp>
            <p:nvSpPr>
              <p:cNvPr id="12" name="Freeform 12"/>
              <p:cNvSpPr/>
              <p:nvPr/>
            </p:nvSpPr>
            <p:spPr>
              <a:xfrm>
                <a:off x="969963" y="2006601"/>
                <a:ext cx="44450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44450" h="44450">
                    <a:moveTo>
                      <a:pt x="0" y="22225"/>
                    </a:moveTo>
                    <a:cubicBezTo>
                      <a:pt x="0" y="34500"/>
                      <a:pt x="9950" y="44450"/>
                      <a:pt x="22225" y="44450"/>
                    </a:cubicBezTo>
                    <a:cubicBezTo>
                      <a:pt x="34500" y="44450"/>
                      <a:pt x="44450" y="34500"/>
                      <a:pt x="44450" y="22225"/>
                    </a:cubicBezTo>
                    <a:cubicBezTo>
                      <a:pt x="44450" y="9950"/>
                      <a:pt x="34500" y="0"/>
                      <a:pt x="22225" y="0"/>
                    </a:cubicBezTo>
                    <a:cubicBezTo>
                      <a:pt x="9950" y="0"/>
                      <a:pt x="0" y="9950"/>
                      <a:pt x="0" y="22225"/>
                    </a:cubicBezTo>
                  </a:path>
                </a:pathLst>
              </a:custGeom>
              <a:noFill/>
              <a:ln w="22225">
                <a:solidFill>
                  <a:schemeClr val="accent1"/>
                </a:solidFill>
              </a:ln>
            </p:spPr>
          </p:sp>
          <p:sp>
            <p:nvSpPr>
              <p:cNvPr id="13" name="Freeform 13"/>
              <p:cNvSpPr/>
              <p:nvPr/>
            </p:nvSpPr>
            <p:spPr>
              <a:xfrm>
                <a:off x="969963" y="1873250"/>
                <a:ext cx="44450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44450" h="44450">
                    <a:moveTo>
                      <a:pt x="0" y="22225"/>
                    </a:moveTo>
                    <a:cubicBezTo>
                      <a:pt x="0" y="34500"/>
                      <a:pt x="9950" y="44450"/>
                      <a:pt x="22225" y="44450"/>
                    </a:cubicBezTo>
                    <a:cubicBezTo>
                      <a:pt x="34500" y="44450"/>
                      <a:pt x="44450" y="34500"/>
                      <a:pt x="44450" y="22225"/>
                    </a:cubicBezTo>
                    <a:cubicBezTo>
                      <a:pt x="44450" y="9950"/>
                      <a:pt x="34500" y="0"/>
                      <a:pt x="22225" y="0"/>
                    </a:cubicBezTo>
                    <a:cubicBezTo>
                      <a:pt x="9950" y="0"/>
                      <a:pt x="0" y="9950"/>
                      <a:pt x="0" y="22225"/>
                    </a:cubicBezTo>
                  </a:path>
                </a:pathLst>
              </a:custGeom>
              <a:noFill/>
              <a:ln w="22225">
                <a:solidFill>
                  <a:schemeClr val="accent1"/>
                </a:solidFill>
              </a:ln>
            </p:spPr>
          </p:sp>
          <p:sp>
            <p:nvSpPr>
              <p:cNvPr id="14" name="Freeform 14"/>
              <p:cNvSpPr/>
              <p:nvPr/>
            </p:nvSpPr>
            <p:spPr>
              <a:xfrm>
                <a:off x="1081088" y="1873250"/>
                <a:ext cx="44450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44450" h="44450">
                    <a:moveTo>
                      <a:pt x="0" y="22225"/>
                    </a:moveTo>
                    <a:cubicBezTo>
                      <a:pt x="0" y="34500"/>
                      <a:pt x="9950" y="44450"/>
                      <a:pt x="22225" y="44450"/>
                    </a:cubicBezTo>
                    <a:cubicBezTo>
                      <a:pt x="34500" y="44450"/>
                      <a:pt x="44450" y="34500"/>
                      <a:pt x="44450" y="22225"/>
                    </a:cubicBezTo>
                    <a:cubicBezTo>
                      <a:pt x="44450" y="9950"/>
                      <a:pt x="34500" y="0"/>
                      <a:pt x="22225" y="0"/>
                    </a:cubicBezTo>
                    <a:cubicBezTo>
                      <a:pt x="9950" y="0"/>
                      <a:pt x="0" y="9950"/>
                      <a:pt x="0" y="22225"/>
                    </a:cubicBezTo>
                  </a:path>
                </a:pathLst>
              </a:custGeom>
              <a:noFill/>
              <a:ln w="22225">
                <a:solidFill>
                  <a:schemeClr val="accent1"/>
                </a:solidFill>
              </a:ln>
            </p:spPr>
          </p:sp>
          <p:sp>
            <p:nvSpPr>
              <p:cNvPr id="15" name="Freeform 15"/>
              <p:cNvSpPr/>
              <p:nvPr/>
            </p:nvSpPr>
            <p:spPr>
              <a:xfrm>
                <a:off x="992188" y="1917700"/>
                <a:ext cx="9525" cy="889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88900">
                    <a:moveTo>
                      <a:pt x="0" y="0"/>
                    </a:moveTo>
                    <a:lnTo>
                      <a:pt x="0" y="88900"/>
                    </a:lnTo>
                  </a:path>
                </a:pathLst>
              </a:custGeom>
              <a:noFill/>
              <a:ln w="22225">
                <a:solidFill>
                  <a:schemeClr val="accent1"/>
                </a:solidFill>
              </a:ln>
            </p:spPr>
          </p:sp>
          <p:sp>
            <p:nvSpPr>
              <p:cNvPr id="16" name="Freeform 16"/>
              <p:cNvSpPr/>
              <p:nvPr/>
            </p:nvSpPr>
            <p:spPr>
              <a:xfrm>
                <a:off x="1014413" y="1951038"/>
                <a:ext cx="88900" cy="77788"/>
              </a:xfrm>
              <a:custGeom>
                <a:avLst/>
                <a:gdLst/>
                <a:ahLst/>
                <a:cxnLst/>
                <a:rect l="l" t="t" r="r" b="b"/>
                <a:pathLst>
                  <a:path w="88900" h="77788">
                    <a:moveTo>
                      <a:pt x="0" y="77788"/>
                    </a:moveTo>
                    <a:lnTo>
                      <a:pt x="66675" y="77788"/>
                    </a:lnTo>
                    <a:cubicBezTo>
                      <a:pt x="78950" y="77788"/>
                      <a:pt x="88900" y="67837"/>
                      <a:pt x="88900" y="55563"/>
                    </a:cubicBezTo>
                    <a:lnTo>
                      <a:pt x="88900" y="0"/>
                    </a:lnTo>
                  </a:path>
                </a:pathLst>
              </a:custGeom>
              <a:noFill/>
              <a:ln w="22225">
                <a:solidFill>
                  <a:schemeClr val="accent1"/>
                </a:solidFill>
              </a:ln>
            </p:spPr>
          </p:sp>
          <p:sp>
            <p:nvSpPr>
              <p:cNvPr id="17" name="Freeform 17"/>
              <p:cNvSpPr/>
              <p:nvPr/>
            </p:nvSpPr>
            <p:spPr>
              <a:xfrm>
                <a:off x="1069975" y="1951038"/>
                <a:ext cx="66675" cy="33338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33338">
                    <a:moveTo>
                      <a:pt x="0" y="33338"/>
                    </a:moveTo>
                    <a:lnTo>
                      <a:pt x="33338" y="0"/>
                    </a:lnTo>
                    <a:lnTo>
                      <a:pt x="66675" y="33338"/>
                    </a:lnTo>
                  </a:path>
                </a:pathLst>
              </a:custGeom>
              <a:noFill/>
              <a:ln w="22225">
                <a:solidFill>
                  <a:schemeClr val="accent1"/>
                </a:solidFill>
              </a:ln>
            </p:spPr>
          </p:sp>
        </p:grpSp>
        <p:sp>
          <p:nvSpPr>
            <p:cNvPr id="19" name="TextBox 19"/>
            <p:cNvSpPr txBox="1"/>
            <p:nvPr/>
          </p:nvSpPr>
          <p:spPr>
            <a:xfrm>
              <a:off x="1306068" y="1835150"/>
              <a:ext cx="51130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装配</a:t>
              </a:r>
            </a:p>
          </p:txBody>
        </p:sp>
        <p:sp>
          <p:nvSpPr>
            <p:cNvPr id="20" name="Line 20"/>
            <p:cNvSpPr/>
            <p:nvPr/>
          </p:nvSpPr>
          <p:spPr>
            <a:xfrm>
              <a:off x="914400" y="2266950"/>
              <a:ext cx="2971800" cy="9525"/>
            </a:xfrm>
            <a:custGeom>
              <a:avLst/>
              <a:gdLst/>
              <a:ahLst/>
              <a:cxnLst/>
              <a:rect l="l" t="t" r="r" b="b"/>
              <a:pathLst>
                <a:path w="2971800" h="9525">
                  <a:moveTo>
                    <a:pt x="0" y="0"/>
                  </a:moveTo>
                  <a:lnTo>
                    <a:pt x="29718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908685" y="2470150"/>
              <a:ext cx="23192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chemeClr val="accent5"/>
                  </a:solidFill>
                  <a:latin typeface="Consolas"/>
                  <a:ea typeface="Consolas"/>
                  <a:cs typeface="Consolas"/>
                </a:rPr>
                <a:t>import drivers.drv_evolve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908304" y="2857500"/>
              <a:ext cx="161269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run_job 即有执行器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908304" y="3257550"/>
              <a:ext cx="170413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不 import → ENODEV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909066" y="3530600"/>
              <a:ext cx="197758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装配面 fail-loud，绝不静默</a:t>
              </a:r>
            </a:p>
          </p:txBody>
        </p:sp>
      </p:grpSp>
      <p:grpSp>
        <p:nvGrpSpPr>
          <p:cNvPr id="37" name="op-2"/>
          <p:cNvGrpSpPr/>
          <p:nvPr/>
        </p:nvGrpSpPr>
        <p:grpSpPr>
          <a:xfrm>
            <a:off x="4381500" y="1638300"/>
            <a:ext cx="3429000" cy="2247900"/>
            <a:chOff x="4381500" y="1638300"/>
            <a:chExt cx="3429000" cy="2247900"/>
          </a:xfrm>
        </p:grpSpPr>
        <p:sp>
          <p:nvSpPr>
            <p:cNvPr id="26" name="Rectangle 26"/>
            <p:cNvSpPr/>
            <p:nvPr/>
          </p:nvSpPr>
          <p:spPr>
            <a:xfrm>
              <a:off x="4381500" y="1638300"/>
              <a:ext cx="3429000" cy="2247900"/>
            </a:xfrm>
            <a:prstGeom prst="rect">
              <a:avLst/>
            </a:prstGeom>
            <a:solidFill>
              <a:schemeClr val="lt2">
                <a:alpha val="40000"/>
              </a:schemeClr>
            </a:solidFill>
            <a:ln w="9525">
              <a:solidFill>
                <a:schemeClr val="accent1"/>
              </a:solidFill>
            </a:ln>
          </p:spPr>
        </p:sp>
        <p:grpSp>
          <p:nvGrpSpPr>
            <p:cNvPr id="30" name="Group 30"/>
            <p:cNvGrpSpPr/>
            <p:nvPr/>
          </p:nvGrpSpPr>
          <p:grpSpPr>
            <a:xfrm>
              <a:off x="4654550" y="1862138"/>
              <a:ext cx="177801" cy="200025"/>
              <a:chOff x="4654550" y="1862138"/>
              <a:chExt cx="177801" cy="200025"/>
            </a:xfrm>
          </p:grpSpPr>
          <p:sp>
            <p:nvSpPr>
              <p:cNvPr id="27" name="Freeform 27"/>
              <p:cNvSpPr/>
              <p:nvPr/>
            </p:nvSpPr>
            <p:spPr>
              <a:xfrm>
                <a:off x="4654550" y="1862138"/>
                <a:ext cx="177801" cy="66675"/>
              </a:xfrm>
              <a:custGeom>
                <a:avLst/>
                <a:gdLst/>
                <a:ahLst/>
                <a:cxnLst/>
                <a:rect l="l" t="t" r="r" b="b"/>
                <a:pathLst>
                  <a:path w="177801" h="66675">
                    <a:moveTo>
                      <a:pt x="0" y="33338"/>
                    </a:moveTo>
                    <a:cubicBezTo>
                      <a:pt x="0" y="51749"/>
                      <a:pt x="39802" y="66675"/>
                      <a:pt x="88900" y="66675"/>
                    </a:cubicBezTo>
                    <a:cubicBezTo>
                      <a:pt x="137999" y="66675"/>
                      <a:pt x="177801" y="51749"/>
                      <a:pt x="177801" y="33338"/>
                    </a:cubicBezTo>
                    <a:cubicBezTo>
                      <a:pt x="177801" y="14926"/>
                      <a:pt x="137999" y="0"/>
                      <a:pt x="88900" y="0"/>
                    </a:cubicBezTo>
                    <a:cubicBezTo>
                      <a:pt x="39802" y="0"/>
                      <a:pt x="0" y="14926"/>
                      <a:pt x="0" y="33338"/>
                    </a:cubicBezTo>
                  </a:path>
                </a:pathLst>
              </a:custGeom>
              <a:noFill/>
              <a:ln w="22225">
                <a:solidFill>
                  <a:schemeClr val="accent1"/>
                </a:solidFill>
              </a:ln>
            </p:spPr>
          </p:sp>
          <p:sp>
            <p:nvSpPr>
              <p:cNvPr id="28" name="Freeform 28"/>
              <p:cNvSpPr/>
              <p:nvPr/>
            </p:nvSpPr>
            <p:spPr>
              <a:xfrm>
                <a:off x="4654550" y="1895475"/>
                <a:ext cx="177801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177801" h="100013">
                    <a:moveTo>
                      <a:pt x="0" y="0"/>
                    </a:moveTo>
                    <a:lnTo>
                      <a:pt x="0" y="66675"/>
                    </a:lnTo>
                    <a:cubicBezTo>
                      <a:pt x="0" y="85087"/>
                      <a:pt x="39802" y="100013"/>
                      <a:pt x="88900" y="100013"/>
                    </a:cubicBezTo>
                    <a:cubicBezTo>
                      <a:pt x="137999" y="100013"/>
                      <a:pt x="177801" y="85087"/>
                      <a:pt x="177801" y="66675"/>
                    </a:cubicBezTo>
                    <a:lnTo>
                      <a:pt x="177801" y="0"/>
                    </a:lnTo>
                  </a:path>
                </a:pathLst>
              </a:custGeom>
              <a:noFill/>
              <a:ln w="22225">
                <a:solidFill>
                  <a:schemeClr val="accent1"/>
                </a:solidFill>
              </a:ln>
            </p:spPr>
          </p:sp>
          <p:sp>
            <p:nvSpPr>
              <p:cNvPr id="29" name="Freeform 29"/>
              <p:cNvSpPr/>
              <p:nvPr/>
            </p:nvSpPr>
            <p:spPr>
              <a:xfrm>
                <a:off x="4654550" y="1962150"/>
                <a:ext cx="177801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177801" h="100013">
                    <a:moveTo>
                      <a:pt x="0" y="0"/>
                    </a:moveTo>
                    <a:lnTo>
                      <a:pt x="0" y="66675"/>
                    </a:lnTo>
                    <a:cubicBezTo>
                      <a:pt x="0" y="85087"/>
                      <a:pt x="39802" y="100013"/>
                      <a:pt x="88900" y="100013"/>
                    </a:cubicBezTo>
                    <a:cubicBezTo>
                      <a:pt x="137999" y="100013"/>
                      <a:pt x="177801" y="85087"/>
                      <a:pt x="177801" y="66675"/>
                    </a:cubicBezTo>
                    <a:lnTo>
                      <a:pt x="177801" y="0"/>
                    </a:lnTo>
                  </a:path>
                </a:pathLst>
              </a:custGeom>
              <a:noFill/>
              <a:ln w="22225">
                <a:solidFill>
                  <a:schemeClr val="accent1"/>
                </a:solidFill>
              </a:ln>
            </p:spPr>
          </p:sp>
        </p:grpSp>
        <p:sp>
          <p:nvSpPr>
            <p:cNvPr id="31" name="TextBox 31"/>
            <p:cNvSpPr txBox="1"/>
            <p:nvPr/>
          </p:nvSpPr>
          <p:spPr>
            <a:xfrm>
              <a:off x="5001768" y="1835150"/>
              <a:ext cx="75857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加作业</a:t>
              </a:r>
            </a:p>
          </p:txBody>
        </p:sp>
        <p:sp>
          <p:nvSpPr>
            <p:cNvPr id="32" name="Line 32"/>
            <p:cNvSpPr/>
            <p:nvPr/>
          </p:nvSpPr>
          <p:spPr>
            <a:xfrm>
              <a:off x="4610100" y="2266950"/>
              <a:ext cx="2971800" cy="9525"/>
            </a:xfrm>
            <a:custGeom>
              <a:avLst/>
              <a:gdLst/>
              <a:ahLst/>
              <a:cxnLst/>
              <a:rect l="l" t="t" r="r" b="b"/>
              <a:pathLst>
                <a:path w="2971800" h="9525">
                  <a:moveTo>
                    <a:pt x="0" y="0"/>
                  </a:moveTo>
                  <a:lnTo>
                    <a:pt x="29718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4604385" y="2470150"/>
              <a:ext cx="176539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chemeClr val="accent5"/>
                  </a:solidFill>
                  <a:latin typeface="Consolas"/>
                  <a:ea typeface="Consolas"/>
                  <a:cs typeface="Consolas"/>
                </a:rPr>
                <a:t>var/rsi/jobs/&lt;job&gt;/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4604004" y="2857500"/>
              <a:ext cx="243093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target + evaluator 放允许根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4604004" y="3257550"/>
              <a:ext cx="200832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workdir 不传则自动分配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4604766" y="3530600"/>
              <a:ext cx="166287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gate 红线：禁区不可绕</a:t>
              </a:r>
            </a:p>
          </p:txBody>
        </p:sp>
      </p:grpSp>
      <p:grpSp>
        <p:nvGrpSpPr>
          <p:cNvPr id="50" name="op-3"/>
          <p:cNvGrpSpPr/>
          <p:nvPr/>
        </p:nvGrpSpPr>
        <p:grpSpPr>
          <a:xfrm>
            <a:off x="8077200" y="1638300"/>
            <a:ext cx="3429000" cy="2247900"/>
            <a:chOff x="8077200" y="1638300"/>
            <a:chExt cx="3429000" cy="2247900"/>
          </a:xfrm>
        </p:grpSpPr>
        <p:sp>
          <p:nvSpPr>
            <p:cNvPr id="38" name="Rectangle 38"/>
            <p:cNvSpPr/>
            <p:nvPr/>
          </p:nvSpPr>
          <p:spPr>
            <a:xfrm>
              <a:off x="8077200" y="1638300"/>
              <a:ext cx="3429000" cy="2247900"/>
            </a:xfrm>
            <a:prstGeom prst="rect">
              <a:avLst/>
            </a:prstGeom>
            <a:solidFill>
              <a:schemeClr val="lt2">
                <a:alpha val="40000"/>
              </a:schemeClr>
            </a:solidFill>
            <a:ln w="9525">
              <a:solidFill>
                <a:schemeClr val="accent1"/>
              </a:solidFill>
            </a:ln>
          </p:spPr>
        </p:sp>
        <p:grpSp>
          <p:nvGrpSpPr>
            <p:cNvPr id="44" name="Group 44"/>
            <p:cNvGrpSpPr/>
            <p:nvPr/>
          </p:nvGrpSpPr>
          <p:grpSpPr>
            <a:xfrm>
              <a:off x="8361363" y="1862138"/>
              <a:ext cx="155575" cy="200026"/>
              <a:chOff x="8361363" y="1862138"/>
              <a:chExt cx="155575" cy="200026"/>
            </a:xfrm>
          </p:grpSpPr>
          <p:sp>
            <p:nvSpPr>
              <p:cNvPr id="39" name="Freeform 39"/>
              <p:cNvSpPr/>
              <p:nvPr/>
            </p:nvSpPr>
            <p:spPr>
              <a:xfrm>
                <a:off x="8461375" y="1862138"/>
                <a:ext cx="55563" cy="55563"/>
              </a:xfrm>
              <a:custGeom>
                <a:avLst/>
                <a:gdLst/>
                <a:ahLst/>
                <a:cxnLst/>
                <a:rect l="l" t="t" r="r" b="b"/>
                <a:pathLst>
                  <a:path w="55563" h="55563">
                    <a:moveTo>
                      <a:pt x="0" y="0"/>
                    </a:moveTo>
                    <a:lnTo>
                      <a:pt x="0" y="44450"/>
                    </a:lnTo>
                    <a:cubicBezTo>
                      <a:pt x="0" y="50587"/>
                      <a:pt x="4975" y="55563"/>
                      <a:pt x="11113" y="55563"/>
                    </a:cubicBezTo>
                    <a:lnTo>
                      <a:pt x="55563" y="55563"/>
                    </a:lnTo>
                  </a:path>
                </a:pathLst>
              </a:custGeom>
              <a:noFill/>
              <a:ln w="22225">
                <a:solidFill>
                  <a:schemeClr val="accent1"/>
                </a:solidFill>
              </a:ln>
            </p:spPr>
          </p:sp>
          <p:sp>
            <p:nvSpPr>
              <p:cNvPr id="40" name="Freeform 40"/>
              <p:cNvSpPr/>
              <p:nvPr/>
            </p:nvSpPr>
            <p:spPr>
              <a:xfrm>
                <a:off x="8361363" y="1862138"/>
                <a:ext cx="155575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155575" h="200026">
                    <a:moveTo>
                      <a:pt x="133350" y="200026"/>
                    </a:moveTo>
                    <a:lnTo>
                      <a:pt x="22225" y="200026"/>
                    </a:lnTo>
                    <a:cubicBezTo>
                      <a:pt x="9950" y="200026"/>
                      <a:pt x="0" y="190075"/>
                      <a:pt x="0" y="177801"/>
                    </a:cubicBezTo>
                    <a:lnTo>
                      <a:pt x="0" y="22225"/>
                    </a:lnTo>
                    <a:cubicBezTo>
                      <a:pt x="0" y="9950"/>
                      <a:pt x="9950" y="0"/>
                      <a:pt x="22225" y="0"/>
                    </a:cubicBezTo>
                    <a:lnTo>
                      <a:pt x="100013" y="0"/>
                    </a:lnTo>
                    <a:lnTo>
                      <a:pt x="155575" y="55563"/>
                    </a:lnTo>
                    <a:lnTo>
                      <a:pt x="155575" y="177801"/>
                    </a:lnTo>
                    <a:cubicBezTo>
                      <a:pt x="155575" y="190075"/>
                      <a:pt x="145625" y="200026"/>
                      <a:pt x="133350" y="200026"/>
                    </a:cubicBezTo>
                  </a:path>
                </a:pathLst>
              </a:custGeom>
              <a:noFill/>
              <a:ln w="22225">
                <a:solidFill>
                  <a:schemeClr val="accent1"/>
                </a:solidFill>
              </a:ln>
            </p:spPr>
          </p:sp>
          <p:sp>
            <p:nvSpPr>
              <p:cNvPr id="41" name="Freeform 41"/>
              <p:cNvSpPr/>
              <p:nvPr/>
            </p:nvSpPr>
            <p:spPr>
              <a:xfrm>
                <a:off x="8405813" y="1928813"/>
                <a:ext cx="11113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1113" h="9525">
                    <a:moveTo>
                      <a:pt x="0" y="0"/>
                    </a:moveTo>
                    <a:lnTo>
                      <a:pt x="11113" y="0"/>
                    </a:lnTo>
                  </a:path>
                </a:pathLst>
              </a:custGeom>
              <a:noFill/>
              <a:ln w="22225">
                <a:solidFill>
                  <a:schemeClr val="accent1"/>
                </a:solidFill>
              </a:ln>
            </p:spPr>
          </p:sp>
          <p:sp>
            <p:nvSpPr>
              <p:cNvPr id="42" name="Freeform 42"/>
              <p:cNvSpPr/>
              <p:nvPr/>
            </p:nvSpPr>
            <p:spPr>
              <a:xfrm>
                <a:off x="8405813" y="1973263"/>
                <a:ext cx="6667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9525">
                    <a:moveTo>
                      <a:pt x="0" y="0"/>
                    </a:moveTo>
                    <a:lnTo>
                      <a:pt x="66675" y="0"/>
                    </a:lnTo>
                  </a:path>
                </a:pathLst>
              </a:custGeom>
              <a:noFill/>
              <a:ln w="22225">
                <a:solidFill>
                  <a:schemeClr val="accent1"/>
                </a:solidFill>
              </a:ln>
            </p:spPr>
          </p:sp>
          <p:sp>
            <p:nvSpPr>
              <p:cNvPr id="43" name="Freeform 43"/>
              <p:cNvSpPr/>
              <p:nvPr/>
            </p:nvSpPr>
            <p:spPr>
              <a:xfrm>
                <a:off x="8405813" y="2017713"/>
                <a:ext cx="6667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9525">
                    <a:moveTo>
                      <a:pt x="0" y="0"/>
                    </a:moveTo>
                    <a:lnTo>
                      <a:pt x="66675" y="0"/>
                    </a:lnTo>
                  </a:path>
                </a:pathLst>
              </a:custGeom>
              <a:noFill/>
              <a:ln w="22225">
                <a:solidFill>
                  <a:schemeClr val="accent1"/>
                </a:solidFill>
              </a:ln>
            </p:spPr>
          </p:sp>
        </p:grpSp>
        <p:sp>
          <p:nvSpPr>
            <p:cNvPr id="45" name="TextBox 45"/>
            <p:cNvSpPr txBox="1"/>
            <p:nvPr/>
          </p:nvSpPr>
          <p:spPr>
            <a:xfrm>
              <a:off x="8697468" y="1835150"/>
              <a:ext cx="101758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env 契约</a:t>
              </a:r>
            </a:p>
          </p:txBody>
        </p:sp>
        <p:sp>
          <p:nvSpPr>
            <p:cNvPr id="46" name="Line 46"/>
            <p:cNvSpPr/>
            <p:nvPr/>
          </p:nvSpPr>
          <p:spPr>
            <a:xfrm>
              <a:off x="8305800" y="2266950"/>
              <a:ext cx="2971800" cy="9525"/>
            </a:xfrm>
            <a:custGeom>
              <a:avLst/>
              <a:gdLst/>
              <a:ahLst/>
              <a:cxnLst/>
              <a:rect l="l" t="t" r="r" b="b"/>
              <a:pathLst>
                <a:path w="2971800" h="9525">
                  <a:moveTo>
                    <a:pt x="0" y="0"/>
                  </a:moveTo>
                  <a:lnTo>
                    <a:pt x="29718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8300085" y="2406650"/>
              <a:ext cx="3018668" cy="4867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en-US" sz="1120" dirty="0">
                  <a:solidFill>
                    <a:schemeClr val="accent5"/>
                  </a:solidFill>
                  <a:latin typeface="Consolas"/>
                  <a:ea typeface="Consolas"/>
                  <a:cs typeface="Consolas"/>
                </a:rPr>
                <a:t>LAOS_EVOLVE_PYTHON</a:t>
              </a:r>
              <a:br>
                <a:rPr lang="en-US" sz="1120" dirty="0">
                  <a:solidFill>
                    <a:schemeClr val="accent5"/>
                  </a:solidFill>
                  <a:latin typeface="Consolas"/>
                  <a:ea typeface="Consolas"/>
                  <a:cs typeface="Consolas"/>
                </a:rPr>
              </a:br>
              <a:r>
                <a:rPr lang="en-US" sz="1120" dirty="0">
                  <a:solidFill>
                    <a:schemeClr val="accent5"/>
                  </a:solidFill>
                  <a:latin typeface="Consolas"/>
                  <a:ea typeface="Consolas"/>
                  <a:cs typeface="Consolas"/>
                </a:rPr>
                <a:t>LAOS_EVOLVE_CMD / TIMEOUT / SRC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8299704" y="3124200"/>
              <a:ext cx="156331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ROOTS 只扩允许根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8300466" y="3530600"/>
              <a:ext cx="1765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调用时读取 · 全部可覆盖</a:t>
              </a:r>
            </a:p>
          </p:txBody>
        </p:sp>
      </p:grpSp>
      <p:grpSp>
        <p:nvGrpSpPr>
          <p:cNvPr id="56" name="errcheck"/>
          <p:cNvGrpSpPr/>
          <p:nvPr/>
        </p:nvGrpSpPr>
        <p:grpSpPr>
          <a:xfrm>
            <a:off x="678942" y="4349750"/>
            <a:ext cx="10827258" cy="1517650"/>
            <a:chOff x="678942" y="4349750"/>
            <a:chExt cx="10827258" cy="1517650"/>
          </a:xfrm>
        </p:grpSpPr>
        <p:sp>
          <p:nvSpPr>
            <p:cNvPr id="51" name="TextBox 51"/>
            <p:cNvSpPr txBox="1"/>
            <p:nvPr/>
          </p:nvSpPr>
          <p:spPr>
            <a:xfrm>
              <a:off x="678942" y="4349750"/>
              <a:ext cx="82296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报错自查</a:t>
              </a:r>
            </a:p>
          </p:txBody>
        </p:sp>
        <p:sp>
          <p:nvSpPr>
            <p:cNvPr id="52" name="Rectangle 52"/>
            <p:cNvSpPr/>
            <p:nvPr/>
          </p:nvSpPr>
          <p:spPr>
            <a:xfrm>
              <a:off x="685800" y="4667250"/>
              <a:ext cx="10820400" cy="1200150"/>
            </a:xfrm>
            <a:prstGeom prst="rect">
              <a:avLst/>
            </a:prstGeom>
            <a:noFill/>
            <a:ln w="9525">
              <a:solidFill>
                <a:schemeClr val="accent6"/>
              </a:solidFill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908304" y="4908550"/>
              <a:ext cx="533129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Consolas"/>
                  <a:ea typeface="Microsoft YaHei"/>
                  <a:cs typeface="Consolas"/>
                </a:rPr>
                <a:t>ENODEV→补 import · ENOENT→venv 重建 · EPERM→移进允许根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908304" y="5270500"/>
              <a:ext cx="60428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Consolas"/>
                  <a:ea typeface="Microsoft YaHei"/>
                  <a:cs typeface="Consolas"/>
                </a:rPr>
                <a:t>ETIMEDOUT→调 LAOS_EVOLVE_TIMEOUT · EIO→看 stderr 尾 600 字符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909066" y="5588000"/>
              <a:ext cx="454243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全部 fail-loud 带 errno 前缀——见到裸 traceback 先查驱动装配</a:t>
              </a:r>
            </a:p>
          </p:txBody>
        </p:sp>
      </p:grpSp>
      <p:grpSp>
        <p:nvGrpSpPr>
          <p:cNvPr id="60" name="footer"/>
          <p:cNvGrpSpPr/>
          <p:nvPr/>
        </p:nvGrpSpPr>
        <p:grpSpPr>
          <a:xfrm>
            <a:off x="680466" y="6248400"/>
            <a:ext cx="10831068" cy="326009"/>
            <a:chOff x="680466" y="6248400"/>
            <a:chExt cx="10831068" cy="326009"/>
          </a:xfrm>
        </p:grpSpPr>
        <p:sp>
          <p:nvSpPr>
            <p:cNvPr id="57" name="Line 57"/>
            <p:cNvSpPr/>
            <p:nvPr/>
          </p:nvSpPr>
          <p:spPr>
            <a:xfrm>
              <a:off x="685800" y="624840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680466" y="6369050"/>
              <a:ext cx="281528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chemeClr val="accent5"/>
                  </a:solidFill>
                  <a:latin typeface="Consolas"/>
                  <a:ea typeface="Consolas"/>
                  <a:cs typeface="Consolas"/>
                </a:rPr>
                <a:t>github.com/Yfredy/LAOS · v0.35.1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9318193" y="6369050"/>
              <a:ext cx="219334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050" dirty="0">
                  <a:solidFill>
                    <a:schemeClr val="accent5"/>
                  </a:solidFill>
                  <a:latin typeface="Consolas"/>
                  <a:ea typeface="Consolas"/>
                  <a:cs typeface="Consolas"/>
                </a:rPr>
                <a:t>FIELD NOTE 02 · 26.10.09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rid"/>
          <p:cNvSpPr/>
          <p:nvPr/>
        </p:nvSpPr>
        <p:spPr>
          <a:xfrm>
            <a:off x="838200" y="914400"/>
            <a:ext cx="10668000" cy="5181600"/>
          </a:xfrm>
          <a:custGeom>
            <a:avLst/>
            <a:gdLst/>
            <a:ahLst/>
            <a:cxnLst/>
            <a:rect l="l" t="t" r="r" b="b"/>
            <a:pathLst>
              <a:path w="10668000" h="5181600">
                <a:moveTo>
                  <a:pt x="1181100" y="0"/>
                </a:moveTo>
                <a:lnTo>
                  <a:pt x="1181100" y="5181600"/>
                </a:lnTo>
                <a:moveTo>
                  <a:pt x="2514600" y="0"/>
                </a:moveTo>
                <a:lnTo>
                  <a:pt x="2514600" y="5181600"/>
                </a:lnTo>
                <a:moveTo>
                  <a:pt x="3848100" y="0"/>
                </a:moveTo>
                <a:lnTo>
                  <a:pt x="3848100" y="5181600"/>
                </a:lnTo>
                <a:moveTo>
                  <a:pt x="5181600" y="0"/>
                </a:moveTo>
                <a:lnTo>
                  <a:pt x="5181600" y="5181600"/>
                </a:lnTo>
                <a:moveTo>
                  <a:pt x="6515100" y="0"/>
                </a:moveTo>
                <a:lnTo>
                  <a:pt x="6515100" y="5181600"/>
                </a:lnTo>
                <a:moveTo>
                  <a:pt x="7848600" y="0"/>
                </a:moveTo>
                <a:lnTo>
                  <a:pt x="7848600" y="5181600"/>
                </a:lnTo>
                <a:moveTo>
                  <a:pt x="9182100" y="0"/>
                </a:moveTo>
                <a:lnTo>
                  <a:pt x="9182100" y="5181600"/>
                </a:lnTo>
                <a:moveTo>
                  <a:pt x="0" y="1847850"/>
                </a:moveTo>
                <a:lnTo>
                  <a:pt x="10668000" y="1847850"/>
                </a:lnTo>
                <a:moveTo>
                  <a:pt x="0" y="2800350"/>
                </a:moveTo>
                <a:lnTo>
                  <a:pt x="10668000" y="2800350"/>
                </a:lnTo>
                <a:moveTo>
                  <a:pt x="0" y="3752850"/>
                </a:moveTo>
                <a:lnTo>
                  <a:pt x="10668000" y="3752850"/>
                </a:lnTo>
                <a:moveTo>
                  <a:pt x="0" y="4705350"/>
                </a:moveTo>
                <a:lnTo>
                  <a:pt x="10668000" y="4705350"/>
                </a:lnTo>
              </a:path>
            </a:pathLst>
          </a:custGeom>
          <a:noFill/>
          <a:ln w="9525">
            <a:solidFill>
              <a:schemeClr val="accent6">
                <a:alpha val="40000"/>
              </a:schemeClr>
            </a:solidFill>
          </a:ln>
        </p:spPr>
      </p:sp>
      <p:grpSp>
        <p:nvGrpSpPr>
          <p:cNvPr id="6" name="header"/>
          <p:cNvGrpSpPr/>
          <p:nvPr/>
        </p:nvGrpSpPr>
        <p:grpSpPr>
          <a:xfrm>
            <a:off x="680466" y="368300"/>
            <a:ext cx="10831068" cy="346075"/>
            <a:chOff x="680466" y="368300"/>
            <a:chExt cx="10831068" cy="346075"/>
          </a:xfrm>
        </p:grpSpPr>
        <p:sp>
          <p:nvSpPr>
            <p:cNvPr id="3" name="TextBox 3"/>
            <p:cNvSpPr txBox="1"/>
            <p:nvPr/>
          </p:nvSpPr>
          <p:spPr>
            <a:xfrm>
              <a:off x="680466" y="368300"/>
              <a:ext cx="240357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spc="225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LAOS · LINUX AGENTOS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10198798" y="368300"/>
              <a:ext cx="131273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spc="75" dirty="0">
                  <a:solidFill>
                    <a:schemeClr val="accent5"/>
                  </a:solidFill>
                  <a:latin typeface="Consolas"/>
                  <a:ea typeface="Microsoft YaHei"/>
                  <a:cs typeface="Consolas"/>
                </a:rPr>
                <a:t>09 / 12 · 决策</a:t>
              </a:r>
            </a:p>
          </p:txBody>
        </p:sp>
        <p:sp>
          <p:nvSpPr>
            <p:cNvPr id="5" name="Line 5"/>
            <p:cNvSpPr/>
            <p:nvPr/>
          </p:nvSpPr>
          <p:spPr>
            <a:xfrm>
              <a:off x="685800" y="70485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</p:grpSp>
      <p:grpSp>
        <p:nvGrpSpPr>
          <p:cNvPr id="10" name="title"/>
          <p:cNvGrpSpPr/>
          <p:nvPr/>
        </p:nvGrpSpPr>
        <p:grpSpPr>
          <a:xfrm>
            <a:off x="669798" y="876300"/>
            <a:ext cx="10836402" cy="616077"/>
            <a:chOff x="669798" y="876300"/>
            <a:chExt cx="10836402" cy="616077"/>
          </a:xfrm>
        </p:grpSpPr>
        <p:sp>
          <p:nvSpPr>
            <p:cNvPr id="7" name="TextBox 7"/>
            <p:cNvSpPr txBox="1"/>
            <p:nvPr/>
          </p:nvSpPr>
          <p:spPr>
            <a:xfrm>
              <a:off x="669798" y="876300"/>
              <a:ext cx="5224653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为什么长这样：七条决策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1390650"/>
              <a:ext cx="533400" cy="28575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9" name="Line 9"/>
            <p:cNvSpPr/>
            <p:nvPr/>
          </p:nvSpPr>
          <p:spPr>
            <a:xfrm>
              <a:off x="1333500" y="1400175"/>
              <a:ext cx="10172700" cy="9525"/>
            </a:xfrm>
            <a:custGeom>
              <a:avLst/>
              <a:gdLst/>
              <a:ahLst/>
              <a:cxnLst/>
              <a:rect l="l" t="t" r="r" b="b"/>
              <a:pathLst>
                <a:path w="10172700" h="9525">
                  <a:moveTo>
                    <a:pt x="0" y="0"/>
                  </a:moveTo>
                  <a:lnTo>
                    <a:pt x="101727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</p:grpSp>
      <p:grpSp>
        <p:nvGrpSpPr>
          <p:cNvPr id="16" name="decision-1"/>
          <p:cNvGrpSpPr/>
          <p:nvPr/>
        </p:nvGrpSpPr>
        <p:grpSpPr>
          <a:xfrm>
            <a:off x="685800" y="1562100"/>
            <a:ext cx="10820400" cy="590550"/>
            <a:chOff x="685800" y="1562100"/>
            <a:chExt cx="10820400" cy="590550"/>
          </a:xfrm>
        </p:grpSpPr>
        <p:sp>
          <p:nvSpPr>
            <p:cNvPr id="11" name="Rectangle 11"/>
            <p:cNvSpPr/>
            <p:nvPr/>
          </p:nvSpPr>
          <p:spPr>
            <a:xfrm>
              <a:off x="685800" y="1562100"/>
              <a:ext cx="10820400" cy="590550"/>
            </a:xfrm>
            <a:prstGeom prst="rect">
              <a:avLst/>
            </a:prstGeom>
            <a:solidFill>
              <a:schemeClr val="lt2">
                <a:alpha val="40000"/>
              </a:schemeClr>
            </a:solidFill>
            <a:ln w="9525">
              <a:solidFill>
                <a:schemeClr val="accent6"/>
              </a:solidFill>
            </a:ln>
          </p:spPr>
        </p:sp>
        <p:sp>
          <p:nvSpPr>
            <p:cNvPr id="12" name="Ellipse 12"/>
            <p:cNvSpPr/>
            <p:nvPr/>
          </p:nvSpPr>
          <p:spPr>
            <a:xfrm>
              <a:off x="838200" y="1724025"/>
              <a:ext cx="266700" cy="266700"/>
            </a:xfrm>
            <a:prstGeom prst="ellipse">
              <a:avLst/>
            </a:prstGeom>
            <a:noFill/>
            <a:ln w="14288">
              <a:solidFill>
                <a:schemeClr val="accent2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22944" y="1787525"/>
              <a:ext cx="9721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1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230630" y="1631950"/>
              <a:ext cx="273127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官方 CLI 子进程而非库 API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232916" y="1920875"/>
              <a:ext cx="638133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CLI 是文档化稳定面，库签名不进公开契约 ｜ 被否：直接 import openevolve（签名漂移）</a:t>
              </a:r>
            </a:p>
          </p:txBody>
        </p:sp>
      </p:grpSp>
      <p:grpSp>
        <p:nvGrpSpPr>
          <p:cNvPr id="22" name="decision-2"/>
          <p:cNvGrpSpPr/>
          <p:nvPr/>
        </p:nvGrpSpPr>
        <p:grpSpPr>
          <a:xfrm>
            <a:off x="685800" y="2209800"/>
            <a:ext cx="10820400" cy="590550"/>
            <a:chOff x="685800" y="2209800"/>
            <a:chExt cx="10820400" cy="590550"/>
          </a:xfrm>
        </p:grpSpPr>
        <p:sp>
          <p:nvSpPr>
            <p:cNvPr id="17" name="Rectangle 17"/>
            <p:cNvSpPr/>
            <p:nvPr/>
          </p:nvSpPr>
          <p:spPr>
            <a:xfrm>
              <a:off x="685800" y="2209800"/>
              <a:ext cx="10820400" cy="590550"/>
            </a:xfrm>
            <a:prstGeom prst="rect">
              <a:avLst/>
            </a:prstGeom>
            <a:solidFill>
              <a:schemeClr val="lt2">
                <a:alpha val="40000"/>
              </a:schemeClr>
            </a:solidFill>
            <a:ln w="9525">
              <a:solidFill>
                <a:schemeClr val="accent6"/>
              </a:solidFill>
            </a:ln>
          </p:spPr>
        </p:sp>
        <p:sp>
          <p:nvSpPr>
            <p:cNvPr id="18" name="Ellipse 18"/>
            <p:cNvSpPr/>
            <p:nvPr/>
          </p:nvSpPr>
          <p:spPr>
            <a:xfrm>
              <a:off x="838200" y="2371725"/>
              <a:ext cx="266700" cy="266700"/>
            </a:xfrm>
            <a:prstGeom prst="ellipse">
              <a:avLst/>
            </a:prstGeom>
            <a:noFill/>
            <a:ln w="14288">
              <a:solidFill>
                <a:schemeClr val="accent1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922944" y="2435225"/>
              <a:ext cx="9721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2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230630" y="2279650"/>
              <a:ext cx="454705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_BLOCKING_BUILTINS 白名单走 to_thread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232916" y="2568575"/>
              <a:ext cx="735265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首个阻塞型内建不能卡死事件循环（MCP 先例同款）｜ 被否：全体 to_thread（msg./mem. 白付开销）</a:t>
              </a:r>
            </a:p>
          </p:txBody>
        </p:sp>
      </p:grpSp>
      <p:grpSp>
        <p:nvGrpSpPr>
          <p:cNvPr id="28" name="decision-3"/>
          <p:cNvGrpSpPr/>
          <p:nvPr/>
        </p:nvGrpSpPr>
        <p:grpSpPr>
          <a:xfrm>
            <a:off x="685800" y="2857500"/>
            <a:ext cx="10820400" cy="590550"/>
            <a:chOff x="685800" y="2857500"/>
            <a:chExt cx="10820400" cy="590550"/>
          </a:xfrm>
        </p:grpSpPr>
        <p:sp>
          <p:nvSpPr>
            <p:cNvPr id="23" name="Rectangle 23"/>
            <p:cNvSpPr/>
            <p:nvPr/>
          </p:nvSpPr>
          <p:spPr>
            <a:xfrm>
              <a:off x="685800" y="2857500"/>
              <a:ext cx="10820400" cy="590550"/>
            </a:xfrm>
            <a:prstGeom prst="rect">
              <a:avLst/>
            </a:prstGeom>
            <a:solidFill>
              <a:schemeClr val="lt2">
                <a:alpha val="40000"/>
              </a:schemeClr>
            </a:solidFill>
            <a:ln w="9525">
              <a:solidFill>
                <a:schemeClr val="accent6"/>
              </a:solidFill>
            </a:ln>
          </p:spPr>
        </p:sp>
        <p:sp>
          <p:nvSpPr>
            <p:cNvPr id="24" name="Ellipse 24"/>
            <p:cNvSpPr/>
            <p:nvPr/>
          </p:nvSpPr>
          <p:spPr>
            <a:xfrm>
              <a:off x="838200" y="3019425"/>
              <a:ext cx="266700" cy="266700"/>
            </a:xfrm>
            <a:prstGeom prst="ellipse">
              <a:avLst/>
            </a:prstGeom>
            <a:noFill/>
            <a:ln w="14288">
              <a:solidFill>
                <a:schemeClr val="accent1"/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922944" y="3082925"/>
              <a:ext cx="9721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3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230630" y="2927350"/>
              <a:ext cx="314009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AuditLog 加 threading.Lock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232916" y="3216275"/>
              <a:ext cx="634199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worker 线程与循环线程并发写，GIL 原子假设作废 ｜ 被否：无锁（seq==下标 不变式破）</a:t>
              </a:r>
            </a:p>
          </p:txBody>
        </p:sp>
      </p:grpSp>
      <p:grpSp>
        <p:nvGrpSpPr>
          <p:cNvPr id="34" name="decision-4"/>
          <p:cNvGrpSpPr/>
          <p:nvPr/>
        </p:nvGrpSpPr>
        <p:grpSpPr>
          <a:xfrm>
            <a:off x="685800" y="3505200"/>
            <a:ext cx="10820400" cy="590550"/>
            <a:chOff x="685800" y="3505200"/>
            <a:chExt cx="10820400" cy="590550"/>
          </a:xfrm>
        </p:grpSpPr>
        <p:sp>
          <p:nvSpPr>
            <p:cNvPr id="29" name="Rectangle 29"/>
            <p:cNvSpPr/>
            <p:nvPr/>
          </p:nvSpPr>
          <p:spPr>
            <a:xfrm>
              <a:off x="685800" y="3505200"/>
              <a:ext cx="10820400" cy="590550"/>
            </a:xfrm>
            <a:prstGeom prst="rect">
              <a:avLst/>
            </a:prstGeom>
            <a:solidFill>
              <a:schemeClr val="lt2">
                <a:alpha val="40000"/>
              </a:schemeClr>
            </a:solidFill>
            <a:ln w="9525">
              <a:solidFill>
                <a:schemeClr val="accent6"/>
              </a:solidFill>
            </a:ln>
          </p:spPr>
        </p:sp>
        <p:sp>
          <p:nvSpPr>
            <p:cNvPr id="30" name="Ellipse 30"/>
            <p:cNvSpPr/>
            <p:nvPr/>
          </p:nvSpPr>
          <p:spPr>
            <a:xfrm>
              <a:off x="838200" y="3667125"/>
              <a:ext cx="266700" cy="266700"/>
            </a:xfrm>
            <a:prstGeom prst="ellipse">
              <a:avLst/>
            </a:prstGeom>
            <a:noFill/>
            <a:ln w="14288">
              <a:solidFill>
                <a:schemeClr val="accent1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922944" y="3730625"/>
              <a:ext cx="9721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4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230630" y="3575050"/>
              <a:ext cx="234462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禁区永不可经 env 放行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1232916" y="3863975"/>
              <a:ext cx="553375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自改写防线：进化产物不得改写 laos 本体 ｜ 被否：env 全量可配（防线失守）</a:t>
              </a:r>
            </a:p>
          </p:txBody>
        </p:sp>
      </p:grpSp>
      <p:grpSp>
        <p:nvGrpSpPr>
          <p:cNvPr id="40" name="decision-5"/>
          <p:cNvGrpSpPr/>
          <p:nvPr/>
        </p:nvGrpSpPr>
        <p:grpSpPr>
          <a:xfrm>
            <a:off x="685800" y="4152900"/>
            <a:ext cx="10820400" cy="590550"/>
            <a:chOff x="685800" y="4152900"/>
            <a:chExt cx="10820400" cy="590550"/>
          </a:xfrm>
        </p:grpSpPr>
        <p:sp>
          <p:nvSpPr>
            <p:cNvPr id="35" name="Rectangle 35"/>
            <p:cNvSpPr/>
            <p:nvPr/>
          </p:nvSpPr>
          <p:spPr>
            <a:xfrm>
              <a:off x="685800" y="4152900"/>
              <a:ext cx="10820400" cy="590550"/>
            </a:xfrm>
            <a:prstGeom prst="rect">
              <a:avLst/>
            </a:prstGeom>
            <a:solidFill>
              <a:schemeClr val="lt2">
                <a:alpha val="40000"/>
              </a:schemeClr>
            </a:solidFill>
            <a:ln w="9525">
              <a:solidFill>
                <a:schemeClr val="accent6"/>
              </a:solidFill>
            </a:ln>
          </p:spPr>
        </p:sp>
        <p:sp>
          <p:nvSpPr>
            <p:cNvPr id="36" name="Ellipse 36"/>
            <p:cNvSpPr/>
            <p:nvPr/>
          </p:nvSpPr>
          <p:spPr>
            <a:xfrm>
              <a:off x="838200" y="4314825"/>
              <a:ext cx="266700" cy="266700"/>
            </a:xfrm>
            <a:prstGeom prst="ellipse">
              <a:avLst/>
            </a:prstGeom>
            <a:noFill/>
            <a:ln w="14288">
              <a:solidFill>
                <a:schemeClr val="accent1"/>
              </a:solidFill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922944" y="4378325"/>
              <a:ext cx="9721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5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1230630" y="4222750"/>
              <a:ext cx="255649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workdir 驱动侧再闸一遍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1232916" y="4511675"/>
              <a:ext cx="567537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核心 gate 不查 workdir，驱动补位防御纵深 ｜ 被否：只信核心 gate（漏一层）</a:t>
              </a:r>
            </a:p>
          </p:txBody>
        </p:sp>
      </p:grpSp>
      <p:grpSp>
        <p:nvGrpSpPr>
          <p:cNvPr id="46" name="decision-6"/>
          <p:cNvGrpSpPr/>
          <p:nvPr/>
        </p:nvGrpSpPr>
        <p:grpSpPr>
          <a:xfrm>
            <a:off x="685800" y="4800600"/>
            <a:ext cx="10820400" cy="590550"/>
            <a:chOff x="685800" y="4800600"/>
            <a:chExt cx="10820400" cy="590550"/>
          </a:xfrm>
        </p:grpSpPr>
        <p:sp>
          <p:nvSpPr>
            <p:cNvPr id="41" name="Rectangle 41"/>
            <p:cNvSpPr/>
            <p:nvPr/>
          </p:nvSpPr>
          <p:spPr>
            <a:xfrm>
              <a:off x="685800" y="4800600"/>
              <a:ext cx="10820400" cy="590550"/>
            </a:xfrm>
            <a:prstGeom prst="rect">
              <a:avLst/>
            </a:prstGeom>
            <a:solidFill>
              <a:schemeClr val="lt2">
                <a:alpha val="40000"/>
              </a:schemeClr>
            </a:solidFill>
            <a:ln w="9525">
              <a:solidFill>
                <a:schemeClr val="accent6"/>
              </a:solidFill>
            </a:ln>
          </p:spPr>
        </p:sp>
        <p:sp>
          <p:nvSpPr>
            <p:cNvPr id="42" name="Ellipse 42"/>
            <p:cNvSpPr/>
            <p:nvPr/>
          </p:nvSpPr>
          <p:spPr>
            <a:xfrm>
              <a:off x="838200" y="4962525"/>
              <a:ext cx="266700" cy="266700"/>
            </a:xfrm>
            <a:prstGeom prst="ellipse">
              <a:avLst/>
            </a:prstGeom>
            <a:noFill/>
            <a:ln w="14288">
              <a:solidFill>
                <a:schemeClr val="accent1"/>
              </a:solidFill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922944" y="5026025"/>
              <a:ext cx="9721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6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1230630" y="4870450"/>
              <a:ext cx="461439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checkpoint 解析 canonical→rglob→ENOENT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1232916" y="5159375"/>
              <a:ext cx="594421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布局未经真跑实证，宁 fail-loud 不猜 ｜ 被否：按 README 硬编码（漂移即静默错）</a:t>
              </a:r>
            </a:p>
          </p:txBody>
        </p:sp>
      </p:grpSp>
      <p:grpSp>
        <p:nvGrpSpPr>
          <p:cNvPr id="52" name="decision-7"/>
          <p:cNvGrpSpPr/>
          <p:nvPr/>
        </p:nvGrpSpPr>
        <p:grpSpPr>
          <a:xfrm>
            <a:off x="685800" y="5448300"/>
            <a:ext cx="10820400" cy="590550"/>
            <a:chOff x="685800" y="5448300"/>
            <a:chExt cx="10820400" cy="590550"/>
          </a:xfrm>
        </p:grpSpPr>
        <p:sp>
          <p:nvSpPr>
            <p:cNvPr id="47" name="Rectangle 47"/>
            <p:cNvSpPr/>
            <p:nvPr/>
          </p:nvSpPr>
          <p:spPr>
            <a:xfrm>
              <a:off x="685800" y="5448300"/>
              <a:ext cx="10820400" cy="590550"/>
            </a:xfrm>
            <a:prstGeom prst="rect">
              <a:avLst/>
            </a:prstGeom>
            <a:solidFill>
              <a:schemeClr val="lt2">
                <a:alpha val="40000"/>
              </a:schemeClr>
            </a:solidFill>
            <a:ln w="9525">
              <a:solidFill>
                <a:schemeClr val="accent6"/>
              </a:solidFill>
            </a:ln>
          </p:spPr>
        </p:sp>
        <p:sp>
          <p:nvSpPr>
            <p:cNvPr id="48" name="Ellipse 48"/>
            <p:cNvSpPr/>
            <p:nvPr/>
          </p:nvSpPr>
          <p:spPr>
            <a:xfrm>
              <a:off x="838200" y="5610225"/>
              <a:ext cx="266700" cy="266700"/>
            </a:xfrm>
            <a:prstGeom prst="ellipse">
              <a:avLst/>
            </a:prstGeom>
            <a:noFill/>
            <a:ln w="14288">
              <a:solidFill>
                <a:schemeClr val="accent1"/>
              </a:solidFill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922944" y="5673725"/>
              <a:ext cx="9721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7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1230630" y="5518150"/>
              <a:ext cx="343036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from_payload 强转而非严格校验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1232916" y="5807075"/>
              <a:ext cx="599835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唯一执行器（受信驱动）出准 JSON 类型 ｜ 被否：严格 isinstance（收益小噪音大）</a:t>
              </a:r>
            </a:p>
          </p:txBody>
        </p:sp>
      </p:grpSp>
      <p:grpSp>
        <p:nvGrpSpPr>
          <p:cNvPr id="56" name="footer"/>
          <p:cNvGrpSpPr/>
          <p:nvPr/>
        </p:nvGrpSpPr>
        <p:grpSpPr>
          <a:xfrm>
            <a:off x="680466" y="6248400"/>
            <a:ext cx="10831068" cy="326009"/>
            <a:chOff x="680466" y="6248400"/>
            <a:chExt cx="10831068" cy="326009"/>
          </a:xfrm>
        </p:grpSpPr>
        <p:sp>
          <p:nvSpPr>
            <p:cNvPr id="53" name="Line 53"/>
            <p:cNvSpPr/>
            <p:nvPr/>
          </p:nvSpPr>
          <p:spPr>
            <a:xfrm>
              <a:off x="685800" y="624840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680466" y="6369050"/>
              <a:ext cx="281528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chemeClr val="accent5"/>
                  </a:solidFill>
                  <a:latin typeface="Consolas"/>
                  <a:ea typeface="Consolas"/>
                  <a:cs typeface="Consolas"/>
                </a:rPr>
                <a:t>github.com/Yfredy/LAOS · v0.35.1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9318193" y="6369050"/>
              <a:ext cx="219334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050" dirty="0">
                  <a:solidFill>
                    <a:schemeClr val="accent5"/>
                  </a:solidFill>
                  <a:latin typeface="Consolas"/>
                  <a:ea typeface="Consolas"/>
                  <a:cs typeface="Consolas"/>
                </a:rPr>
                <a:t>FIELD NOTE 02 · 26.10.09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rid"/>
          <p:cNvSpPr/>
          <p:nvPr/>
        </p:nvSpPr>
        <p:spPr>
          <a:xfrm>
            <a:off x="838200" y="914400"/>
            <a:ext cx="10668000" cy="5181600"/>
          </a:xfrm>
          <a:custGeom>
            <a:avLst/>
            <a:gdLst/>
            <a:ahLst/>
            <a:cxnLst/>
            <a:rect l="l" t="t" r="r" b="b"/>
            <a:pathLst>
              <a:path w="10668000" h="5181600">
                <a:moveTo>
                  <a:pt x="1181100" y="0"/>
                </a:moveTo>
                <a:lnTo>
                  <a:pt x="1181100" y="5181600"/>
                </a:lnTo>
                <a:moveTo>
                  <a:pt x="2514600" y="0"/>
                </a:moveTo>
                <a:lnTo>
                  <a:pt x="2514600" y="5181600"/>
                </a:lnTo>
                <a:moveTo>
                  <a:pt x="3848100" y="0"/>
                </a:moveTo>
                <a:lnTo>
                  <a:pt x="3848100" y="5181600"/>
                </a:lnTo>
                <a:moveTo>
                  <a:pt x="5181600" y="0"/>
                </a:moveTo>
                <a:lnTo>
                  <a:pt x="5181600" y="5181600"/>
                </a:lnTo>
                <a:moveTo>
                  <a:pt x="6515100" y="0"/>
                </a:moveTo>
                <a:lnTo>
                  <a:pt x="6515100" y="5181600"/>
                </a:lnTo>
                <a:moveTo>
                  <a:pt x="7848600" y="0"/>
                </a:moveTo>
                <a:lnTo>
                  <a:pt x="7848600" y="5181600"/>
                </a:lnTo>
                <a:moveTo>
                  <a:pt x="9182100" y="0"/>
                </a:moveTo>
                <a:lnTo>
                  <a:pt x="9182100" y="5181600"/>
                </a:lnTo>
                <a:moveTo>
                  <a:pt x="0" y="1847850"/>
                </a:moveTo>
                <a:lnTo>
                  <a:pt x="10668000" y="1847850"/>
                </a:lnTo>
                <a:moveTo>
                  <a:pt x="0" y="2800350"/>
                </a:moveTo>
                <a:lnTo>
                  <a:pt x="10668000" y="2800350"/>
                </a:lnTo>
                <a:moveTo>
                  <a:pt x="0" y="3752850"/>
                </a:moveTo>
                <a:lnTo>
                  <a:pt x="10668000" y="3752850"/>
                </a:lnTo>
                <a:moveTo>
                  <a:pt x="0" y="4705350"/>
                </a:moveTo>
                <a:lnTo>
                  <a:pt x="10668000" y="4705350"/>
                </a:lnTo>
              </a:path>
            </a:pathLst>
          </a:custGeom>
          <a:noFill/>
          <a:ln w="9525">
            <a:solidFill>
              <a:schemeClr val="accent6">
                <a:alpha val="40000"/>
              </a:schemeClr>
            </a:solidFill>
          </a:ln>
        </p:spPr>
      </p:sp>
      <p:grpSp>
        <p:nvGrpSpPr>
          <p:cNvPr id="6" name="header"/>
          <p:cNvGrpSpPr/>
          <p:nvPr/>
        </p:nvGrpSpPr>
        <p:grpSpPr>
          <a:xfrm>
            <a:off x="680466" y="368300"/>
            <a:ext cx="10831068" cy="346075"/>
            <a:chOff x="680466" y="368300"/>
            <a:chExt cx="10831068" cy="346075"/>
          </a:xfrm>
        </p:grpSpPr>
        <p:sp>
          <p:nvSpPr>
            <p:cNvPr id="3" name="TextBox 3"/>
            <p:cNvSpPr txBox="1"/>
            <p:nvPr/>
          </p:nvSpPr>
          <p:spPr>
            <a:xfrm>
              <a:off x="680466" y="368300"/>
              <a:ext cx="240357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spc="225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LAOS · LINUX AGENTOS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10198798" y="368300"/>
              <a:ext cx="131273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spc="75" dirty="0">
                  <a:solidFill>
                    <a:schemeClr val="accent5"/>
                  </a:solidFill>
                  <a:latin typeface="Consolas"/>
                  <a:ea typeface="Microsoft YaHei"/>
                  <a:cs typeface="Consolas"/>
                </a:rPr>
                <a:t>10 / 12 · 后续</a:t>
              </a:r>
            </a:p>
          </p:txBody>
        </p:sp>
        <p:sp>
          <p:nvSpPr>
            <p:cNvPr id="5" name="Line 5"/>
            <p:cNvSpPr/>
            <p:nvPr/>
          </p:nvSpPr>
          <p:spPr>
            <a:xfrm>
              <a:off x="685800" y="70485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</p:grpSp>
      <p:grpSp>
        <p:nvGrpSpPr>
          <p:cNvPr id="10" name="title"/>
          <p:cNvGrpSpPr/>
          <p:nvPr/>
        </p:nvGrpSpPr>
        <p:grpSpPr>
          <a:xfrm>
            <a:off x="669798" y="876300"/>
            <a:ext cx="10836402" cy="616077"/>
            <a:chOff x="669798" y="876300"/>
            <a:chExt cx="10836402" cy="616077"/>
          </a:xfrm>
        </p:grpSpPr>
        <p:sp>
          <p:nvSpPr>
            <p:cNvPr id="7" name="TextBox 7"/>
            <p:cNvSpPr txBox="1"/>
            <p:nvPr/>
          </p:nvSpPr>
          <p:spPr>
            <a:xfrm>
              <a:off x="669798" y="876300"/>
              <a:ext cx="6734062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接手后做什么：followups 三件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1390650"/>
              <a:ext cx="533400" cy="28575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9" name="Line 9"/>
            <p:cNvSpPr/>
            <p:nvPr/>
          </p:nvSpPr>
          <p:spPr>
            <a:xfrm>
              <a:off x="1333500" y="1400175"/>
              <a:ext cx="10172700" cy="9525"/>
            </a:xfrm>
            <a:custGeom>
              <a:avLst/>
              <a:gdLst/>
              <a:ahLst/>
              <a:cxnLst/>
              <a:rect l="l" t="t" r="r" b="b"/>
              <a:pathLst>
                <a:path w="10172700" h="9525">
                  <a:moveTo>
                    <a:pt x="0" y="0"/>
                  </a:moveTo>
                  <a:lnTo>
                    <a:pt x="101727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</p:grpSp>
      <p:grpSp>
        <p:nvGrpSpPr>
          <p:cNvPr id="21" name="t1"/>
          <p:cNvGrpSpPr/>
          <p:nvPr/>
        </p:nvGrpSpPr>
        <p:grpSpPr>
          <a:xfrm>
            <a:off x="685800" y="1638300"/>
            <a:ext cx="3429000" cy="2400300"/>
            <a:chOff x="685800" y="1638300"/>
            <a:chExt cx="3429000" cy="2400300"/>
          </a:xfrm>
        </p:grpSpPr>
        <p:sp>
          <p:nvSpPr>
            <p:cNvPr id="11" name="Rectangle 11"/>
            <p:cNvSpPr/>
            <p:nvPr/>
          </p:nvSpPr>
          <p:spPr>
            <a:xfrm>
              <a:off x="685800" y="1638300"/>
              <a:ext cx="3429000" cy="2400300"/>
            </a:xfrm>
            <a:prstGeom prst="rect">
              <a:avLst/>
            </a:prstGeom>
            <a:solidFill>
              <a:schemeClr val="lt2">
                <a:alpha val="40000"/>
              </a:schemeClr>
            </a:solidFill>
            <a:ln w="9525">
              <a:solidFill>
                <a:schemeClr val="accent1"/>
              </a:solidFill>
            </a:ln>
          </p:spPr>
        </p:sp>
        <p:grpSp>
          <p:nvGrpSpPr>
            <p:cNvPr id="15" name="Group 15"/>
            <p:cNvGrpSpPr/>
            <p:nvPr/>
          </p:nvGrpSpPr>
          <p:grpSpPr>
            <a:xfrm>
              <a:off x="943110" y="1862138"/>
              <a:ext cx="209281" cy="200026"/>
              <a:chOff x="943110" y="1862138"/>
              <a:chExt cx="209281" cy="200026"/>
            </a:xfrm>
          </p:grpSpPr>
          <p:sp>
            <p:nvSpPr>
              <p:cNvPr id="12" name="Freeform 12"/>
              <p:cNvSpPr/>
              <p:nvPr/>
            </p:nvSpPr>
            <p:spPr>
              <a:xfrm>
                <a:off x="943110" y="1862138"/>
                <a:ext cx="209281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9281" h="200026">
                    <a:moveTo>
                      <a:pt x="104641" y="0"/>
                    </a:moveTo>
                    <a:cubicBezTo>
                      <a:pt x="130598" y="22965"/>
                      <a:pt x="164476" y="34922"/>
                      <a:pt x="199097" y="33338"/>
                    </a:cubicBezTo>
                    <a:cubicBezTo>
                      <a:pt x="209281" y="67981"/>
                      <a:pt x="204980" y="105274"/>
                      <a:pt x="187178" y="136690"/>
                    </a:cubicBezTo>
                    <a:cubicBezTo>
                      <a:pt x="169375" y="168106"/>
                      <a:pt x="139593" y="190959"/>
                      <a:pt x="104641" y="200026"/>
                    </a:cubicBezTo>
                    <a:cubicBezTo>
                      <a:pt x="69688" y="190959"/>
                      <a:pt x="39906" y="168106"/>
                      <a:pt x="22103" y="136690"/>
                    </a:cubicBezTo>
                    <a:cubicBezTo>
                      <a:pt x="4301" y="105274"/>
                      <a:pt x="0" y="67981"/>
                      <a:pt x="10184" y="33338"/>
                    </a:cubicBezTo>
                    <a:cubicBezTo>
                      <a:pt x="44805" y="34922"/>
                      <a:pt x="78684" y="22965"/>
                      <a:pt x="104641" y="0"/>
                    </a:cubicBezTo>
                  </a:path>
                </a:pathLst>
              </a:custGeom>
              <a:noFill/>
              <a:ln w="22225">
                <a:solidFill>
                  <a:schemeClr val="accent1"/>
                </a:solidFill>
              </a:ln>
            </p:spPr>
          </p:sp>
          <p:sp>
            <p:nvSpPr>
              <p:cNvPr id="13" name="Freeform 13"/>
              <p:cNvSpPr/>
              <p:nvPr/>
            </p:nvSpPr>
            <p:spPr>
              <a:xfrm>
                <a:off x="1036638" y="1939925"/>
                <a:ext cx="22225" cy="22225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22225">
                    <a:moveTo>
                      <a:pt x="0" y="11113"/>
                    </a:moveTo>
                    <a:cubicBezTo>
                      <a:pt x="0" y="17250"/>
                      <a:pt x="4975" y="22225"/>
                      <a:pt x="11113" y="22225"/>
                    </a:cubicBezTo>
                    <a:cubicBezTo>
                      <a:pt x="17250" y="22225"/>
                      <a:pt x="22225" y="17250"/>
                      <a:pt x="22225" y="11113"/>
                    </a:cubicBezTo>
                    <a:cubicBezTo>
                      <a:pt x="22225" y="4975"/>
                      <a:pt x="17250" y="0"/>
                      <a:pt x="11113" y="0"/>
                    </a:cubicBezTo>
                    <a:cubicBezTo>
                      <a:pt x="4975" y="0"/>
                      <a:pt x="0" y="4975"/>
                      <a:pt x="0" y="11113"/>
                    </a:cubicBezTo>
                  </a:path>
                </a:pathLst>
              </a:custGeom>
              <a:noFill/>
              <a:ln w="22225">
                <a:solidFill>
                  <a:schemeClr val="accent1"/>
                </a:solidFill>
              </a:ln>
            </p:spPr>
          </p:sp>
          <p:sp>
            <p:nvSpPr>
              <p:cNvPr id="14" name="Freeform 14"/>
              <p:cNvSpPr/>
              <p:nvPr/>
            </p:nvSpPr>
            <p:spPr>
              <a:xfrm>
                <a:off x="1047750" y="1962150"/>
                <a:ext cx="9525" cy="27781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27781">
                    <a:moveTo>
                      <a:pt x="0" y="0"/>
                    </a:moveTo>
                    <a:lnTo>
                      <a:pt x="0" y="27781"/>
                    </a:lnTo>
                  </a:path>
                </a:pathLst>
              </a:custGeom>
              <a:noFill/>
              <a:ln w="22225">
                <a:solidFill>
                  <a:schemeClr val="accent1"/>
                </a:solidFill>
              </a:ln>
            </p:spPr>
          </p:sp>
        </p:grpSp>
        <p:sp>
          <p:nvSpPr>
            <p:cNvPr id="16" name="TextBox 16"/>
            <p:cNvSpPr txBox="1"/>
            <p:nvPr/>
          </p:nvSpPr>
          <p:spPr>
            <a:xfrm>
              <a:off x="1306068" y="1835150"/>
              <a:ext cx="202609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T1 · always_ask</a:t>
              </a:r>
            </a:p>
          </p:txBody>
        </p:sp>
        <p:sp>
          <p:nvSpPr>
            <p:cNvPr id="17" name="Line 17"/>
            <p:cNvSpPr/>
            <p:nvPr/>
          </p:nvSpPr>
          <p:spPr>
            <a:xfrm>
              <a:off x="914400" y="2266950"/>
              <a:ext cx="2971800" cy="9525"/>
            </a:xfrm>
            <a:custGeom>
              <a:avLst/>
              <a:gdLst/>
              <a:ahLst/>
              <a:cxnLst/>
              <a:rect l="l" t="t" r="r" b="b"/>
              <a:pathLst>
                <a:path w="2971800" h="9525">
                  <a:moveTo>
                    <a:pt x="0" y="0"/>
                  </a:moveTo>
                  <a:lnTo>
                    <a:pt x="29718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908304" y="2476500"/>
              <a:ext cx="193639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evolve.run 默认入 ③ 级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908304" y="2825750"/>
              <a:ext cx="2062277" cy="5013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全 mode 生效</a:t>
              </a:r>
              <a:b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② 显式 rule 唯一免问通道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908685" y="3632200"/>
              <a:ext cx="185770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「审判席」最后一块人座</a:t>
              </a:r>
            </a:p>
          </p:txBody>
        </p:sp>
      </p:grpSp>
      <p:grpSp>
        <p:nvGrpSpPr>
          <p:cNvPr id="32" name="t2"/>
          <p:cNvGrpSpPr/>
          <p:nvPr/>
        </p:nvGrpSpPr>
        <p:grpSpPr>
          <a:xfrm>
            <a:off x="4381500" y="1638300"/>
            <a:ext cx="3429000" cy="2400300"/>
            <a:chOff x="4381500" y="1638300"/>
            <a:chExt cx="3429000" cy="2400300"/>
          </a:xfrm>
        </p:grpSpPr>
        <p:sp>
          <p:nvSpPr>
            <p:cNvPr id="22" name="Rectangle 22"/>
            <p:cNvSpPr/>
            <p:nvPr/>
          </p:nvSpPr>
          <p:spPr>
            <a:xfrm>
              <a:off x="4381500" y="1638300"/>
              <a:ext cx="3429000" cy="2400300"/>
            </a:xfrm>
            <a:prstGeom prst="rect">
              <a:avLst/>
            </a:prstGeom>
            <a:solidFill>
              <a:schemeClr val="lt2">
                <a:alpha val="40000"/>
              </a:schemeClr>
            </a:solidFill>
            <a:ln w="9525">
              <a:solidFill>
                <a:schemeClr val="accent1"/>
              </a:solidFill>
            </a:ln>
          </p:spPr>
        </p:sp>
        <p:grpSp>
          <p:nvGrpSpPr>
            <p:cNvPr id="26" name="Group 26"/>
            <p:cNvGrpSpPr/>
            <p:nvPr/>
          </p:nvGrpSpPr>
          <p:grpSpPr>
            <a:xfrm>
              <a:off x="4654550" y="1862138"/>
              <a:ext cx="177801" cy="200025"/>
              <a:chOff x="4654550" y="1862138"/>
              <a:chExt cx="177801" cy="200025"/>
            </a:xfrm>
          </p:grpSpPr>
          <p:sp>
            <p:nvSpPr>
              <p:cNvPr id="23" name="Freeform 23"/>
              <p:cNvSpPr/>
              <p:nvPr/>
            </p:nvSpPr>
            <p:spPr>
              <a:xfrm>
                <a:off x="4654550" y="1862138"/>
                <a:ext cx="177801" cy="66675"/>
              </a:xfrm>
              <a:custGeom>
                <a:avLst/>
                <a:gdLst/>
                <a:ahLst/>
                <a:cxnLst/>
                <a:rect l="l" t="t" r="r" b="b"/>
                <a:pathLst>
                  <a:path w="177801" h="66675">
                    <a:moveTo>
                      <a:pt x="0" y="33338"/>
                    </a:moveTo>
                    <a:cubicBezTo>
                      <a:pt x="0" y="51749"/>
                      <a:pt x="39802" y="66675"/>
                      <a:pt x="88900" y="66675"/>
                    </a:cubicBezTo>
                    <a:cubicBezTo>
                      <a:pt x="137999" y="66675"/>
                      <a:pt x="177801" y="51749"/>
                      <a:pt x="177801" y="33338"/>
                    </a:cubicBezTo>
                    <a:cubicBezTo>
                      <a:pt x="177801" y="14926"/>
                      <a:pt x="137999" y="0"/>
                      <a:pt x="88900" y="0"/>
                    </a:cubicBezTo>
                    <a:cubicBezTo>
                      <a:pt x="39802" y="0"/>
                      <a:pt x="0" y="14926"/>
                      <a:pt x="0" y="33338"/>
                    </a:cubicBezTo>
                  </a:path>
                </a:pathLst>
              </a:custGeom>
              <a:noFill/>
              <a:ln w="22225">
                <a:solidFill>
                  <a:schemeClr val="accent1"/>
                </a:solidFill>
              </a:ln>
            </p:spPr>
          </p:sp>
          <p:sp>
            <p:nvSpPr>
              <p:cNvPr id="24" name="Freeform 24"/>
              <p:cNvSpPr/>
              <p:nvPr/>
            </p:nvSpPr>
            <p:spPr>
              <a:xfrm>
                <a:off x="4654550" y="1895475"/>
                <a:ext cx="177801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177801" h="100013">
                    <a:moveTo>
                      <a:pt x="0" y="0"/>
                    </a:moveTo>
                    <a:lnTo>
                      <a:pt x="0" y="66675"/>
                    </a:lnTo>
                    <a:cubicBezTo>
                      <a:pt x="0" y="85087"/>
                      <a:pt x="39802" y="100013"/>
                      <a:pt x="88900" y="100013"/>
                    </a:cubicBezTo>
                    <a:cubicBezTo>
                      <a:pt x="137999" y="100013"/>
                      <a:pt x="177801" y="85087"/>
                      <a:pt x="177801" y="66675"/>
                    </a:cubicBezTo>
                    <a:lnTo>
                      <a:pt x="177801" y="0"/>
                    </a:lnTo>
                  </a:path>
                </a:pathLst>
              </a:custGeom>
              <a:noFill/>
              <a:ln w="22225">
                <a:solidFill>
                  <a:schemeClr val="accent1"/>
                </a:solidFill>
              </a:ln>
            </p:spPr>
          </p:sp>
          <p:sp>
            <p:nvSpPr>
              <p:cNvPr id="25" name="Freeform 25"/>
              <p:cNvSpPr/>
              <p:nvPr/>
            </p:nvSpPr>
            <p:spPr>
              <a:xfrm>
                <a:off x="4654550" y="1962150"/>
                <a:ext cx="177801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177801" h="100013">
                    <a:moveTo>
                      <a:pt x="0" y="0"/>
                    </a:moveTo>
                    <a:lnTo>
                      <a:pt x="0" y="66675"/>
                    </a:lnTo>
                    <a:cubicBezTo>
                      <a:pt x="0" y="85087"/>
                      <a:pt x="39802" y="100013"/>
                      <a:pt x="88900" y="100013"/>
                    </a:cubicBezTo>
                    <a:cubicBezTo>
                      <a:pt x="137999" y="100013"/>
                      <a:pt x="177801" y="85087"/>
                      <a:pt x="177801" y="66675"/>
                    </a:cubicBezTo>
                    <a:lnTo>
                      <a:pt x="177801" y="0"/>
                    </a:lnTo>
                  </a:path>
                </a:pathLst>
              </a:custGeom>
              <a:noFill/>
              <a:ln w="22225">
                <a:solidFill>
                  <a:schemeClr val="accent1"/>
                </a:solidFill>
              </a:ln>
            </p:spPr>
          </p:sp>
        </p:grpSp>
        <p:sp>
          <p:nvSpPr>
            <p:cNvPr id="27" name="TextBox 27"/>
            <p:cNvSpPr txBox="1"/>
            <p:nvPr/>
          </p:nvSpPr>
          <p:spPr>
            <a:xfrm>
              <a:off x="5001768" y="1835150"/>
              <a:ext cx="232885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T2 · rotate() 补锁</a:t>
              </a:r>
            </a:p>
          </p:txBody>
        </p:sp>
        <p:sp>
          <p:nvSpPr>
            <p:cNvPr id="28" name="Line 28"/>
            <p:cNvSpPr/>
            <p:nvPr/>
          </p:nvSpPr>
          <p:spPr>
            <a:xfrm>
              <a:off x="4610100" y="2266950"/>
              <a:ext cx="2971800" cy="9525"/>
            </a:xfrm>
            <a:custGeom>
              <a:avLst/>
              <a:gdLst/>
              <a:ahLst/>
              <a:cxnLst/>
              <a:rect l="l" t="t" r="r" b="b"/>
              <a:pathLst>
                <a:path w="2971800" h="9525">
                  <a:moveTo>
                    <a:pt x="0" y="0"/>
                  </a:moveTo>
                  <a:lnTo>
                    <a:pt x="29718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4604385" y="2489200"/>
              <a:ext cx="249918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5"/>
                  </a:solidFill>
                  <a:latin typeface="Consolas"/>
                  <a:ea typeface="Microsoft YaHei"/>
                  <a:cs typeface="Consolas"/>
                </a:rPr>
                <a:t>AuditLog.rotate() 持 _wlock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4604004" y="2825750"/>
              <a:ext cx="2161184" cy="5013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(epoch,seq) 全库唯一</a:t>
              </a:r>
              <a:b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= laosweb 前端去重硬契约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4604385" y="3632200"/>
              <a:ext cx="13541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并发压测钉不变式</a:t>
              </a:r>
            </a:p>
          </p:txBody>
        </p:sp>
      </p:grpSp>
      <p:grpSp>
        <p:nvGrpSpPr>
          <p:cNvPr id="45" name="t3"/>
          <p:cNvGrpSpPr/>
          <p:nvPr/>
        </p:nvGrpSpPr>
        <p:grpSpPr>
          <a:xfrm>
            <a:off x="8077200" y="1638300"/>
            <a:ext cx="3429000" cy="2400300"/>
            <a:chOff x="8077200" y="1638300"/>
            <a:chExt cx="3429000" cy="2400300"/>
          </a:xfrm>
        </p:grpSpPr>
        <p:sp>
          <p:nvSpPr>
            <p:cNvPr id="33" name="Rectangle 33"/>
            <p:cNvSpPr/>
            <p:nvPr/>
          </p:nvSpPr>
          <p:spPr>
            <a:xfrm>
              <a:off x="8077200" y="1638300"/>
              <a:ext cx="3429000" cy="2400300"/>
            </a:xfrm>
            <a:prstGeom prst="rect">
              <a:avLst/>
            </a:prstGeom>
            <a:solidFill>
              <a:schemeClr val="lt2">
                <a:alpha val="40000"/>
              </a:schemeClr>
            </a:solidFill>
            <a:ln w="9525">
              <a:solidFill>
                <a:schemeClr val="accent1"/>
              </a:solidFill>
            </a:ln>
          </p:spPr>
        </p:sp>
        <p:grpSp>
          <p:nvGrpSpPr>
            <p:cNvPr id="39" name="Group 39"/>
            <p:cNvGrpSpPr/>
            <p:nvPr/>
          </p:nvGrpSpPr>
          <p:grpSpPr>
            <a:xfrm>
              <a:off x="8361363" y="1862138"/>
              <a:ext cx="155575" cy="200026"/>
              <a:chOff x="8361363" y="1862138"/>
              <a:chExt cx="155575" cy="200026"/>
            </a:xfrm>
          </p:grpSpPr>
          <p:sp>
            <p:nvSpPr>
              <p:cNvPr id="34" name="Freeform 34"/>
              <p:cNvSpPr/>
              <p:nvPr/>
            </p:nvSpPr>
            <p:spPr>
              <a:xfrm>
                <a:off x="8461375" y="1862138"/>
                <a:ext cx="55563" cy="55563"/>
              </a:xfrm>
              <a:custGeom>
                <a:avLst/>
                <a:gdLst/>
                <a:ahLst/>
                <a:cxnLst/>
                <a:rect l="l" t="t" r="r" b="b"/>
                <a:pathLst>
                  <a:path w="55563" h="55563">
                    <a:moveTo>
                      <a:pt x="0" y="0"/>
                    </a:moveTo>
                    <a:lnTo>
                      <a:pt x="0" y="44450"/>
                    </a:lnTo>
                    <a:cubicBezTo>
                      <a:pt x="0" y="50587"/>
                      <a:pt x="4975" y="55563"/>
                      <a:pt x="11113" y="55563"/>
                    </a:cubicBezTo>
                    <a:lnTo>
                      <a:pt x="55563" y="55563"/>
                    </a:lnTo>
                  </a:path>
                </a:pathLst>
              </a:custGeom>
              <a:noFill/>
              <a:ln w="22225">
                <a:solidFill>
                  <a:schemeClr val="accent1"/>
                </a:solidFill>
              </a:ln>
            </p:spPr>
          </p:sp>
          <p:sp>
            <p:nvSpPr>
              <p:cNvPr id="35" name="Freeform 35"/>
              <p:cNvSpPr/>
              <p:nvPr/>
            </p:nvSpPr>
            <p:spPr>
              <a:xfrm>
                <a:off x="8361363" y="1862138"/>
                <a:ext cx="155575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155575" h="200026">
                    <a:moveTo>
                      <a:pt x="133350" y="200026"/>
                    </a:moveTo>
                    <a:lnTo>
                      <a:pt x="22225" y="200026"/>
                    </a:lnTo>
                    <a:cubicBezTo>
                      <a:pt x="9950" y="200026"/>
                      <a:pt x="0" y="190075"/>
                      <a:pt x="0" y="177801"/>
                    </a:cubicBezTo>
                    <a:lnTo>
                      <a:pt x="0" y="22225"/>
                    </a:lnTo>
                    <a:cubicBezTo>
                      <a:pt x="0" y="9950"/>
                      <a:pt x="9950" y="0"/>
                      <a:pt x="22225" y="0"/>
                    </a:cubicBezTo>
                    <a:lnTo>
                      <a:pt x="100013" y="0"/>
                    </a:lnTo>
                    <a:lnTo>
                      <a:pt x="155575" y="55563"/>
                    </a:lnTo>
                    <a:lnTo>
                      <a:pt x="155575" y="177801"/>
                    </a:lnTo>
                    <a:cubicBezTo>
                      <a:pt x="155575" y="190075"/>
                      <a:pt x="145625" y="200026"/>
                      <a:pt x="133350" y="200026"/>
                    </a:cubicBezTo>
                  </a:path>
                </a:pathLst>
              </a:custGeom>
              <a:noFill/>
              <a:ln w="22225">
                <a:solidFill>
                  <a:schemeClr val="accent1"/>
                </a:solidFill>
              </a:ln>
            </p:spPr>
          </p:sp>
          <p:sp>
            <p:nvSpPr>
              <p:cNvPr id="36" name="Freeform 36"/>
              <p:cNvSpPr/>
              <p:nvPr/>
            </p:nvSpPr>
            <p:spPr>
              <a:xfrm>
                <a:off x="8405813" y="1928813"/>
                <a:ext cx="11113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1113" h="9525">
                    <a:moveTo>
                      <a:pt x="0" y="0"/>
                    </a:moveTo>
                    <a:lnTo>
                      <a:pt x="11113" y="0"/>
                    </a:lnTo>
                  </a:path>
                </a:pathLst>
              </a:custGeom>
              <a:noFill/>
              <a:ln w="22225">
                <a:solidFill>
                  <a:schemeClr val="accent1"/>
                </a:solidFill>
              </a:ln>
            </p:spPr>
          </p:sp>
          <p:sp>
            <p:nvSpPr>
              <p:cNvPr id="37" name="Freeform 37"/>
              <p:cNvSpPr/>
              <p:nvPr/>
            </p:nvSpPr>
            <p:spPr>
              <a:xfrm>
                <a:off x="8405813" y="1973263"/>
                <a:ext cx="6667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9525">
                    <a:moveTo>
                      <a:pt x="0" y="0"/>
                    </a:moveTo>
                    <a:lnTo>
                      <a:pt x="66675" y="0"/>
                    </a:lnTo>
                  </a:path>
                </a:pathLst>
              </a:custGeom>
              <a:noFill/>
              <a:ln w="22225">
                <a:solidFill>
                  <a:schemeClr val="accent1"/>
                </a:solidFill>
              </a:ln>
            </p:spPr>
          </p:sp>
          <p:sp>
            <p:nvSpPr>
              <p:cNvPr id="38" name="Freeform 38"/>
              <p:cNvSpPr/>
              <p:nvPr/>
            </p:nvSpPr>
            <p:spPr>
              <a:xfrm>
                <a:off x="8405813" y="2017713"/>
                <a:ext cx="6667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9525">
                    <a:moveTo>
                      <a:pt x="0" y="0"/>
                    </a:moveTo>
                    <a:lnTo>
                      <a:pt x="66675" y="0"/>
                    </a:lnTo>
                  </a:path>
                </a:pathLst>
              </a:custGeom>
              <a:noFill/>
              <a:ln w="22225">
                <a:solidFill>
                  <a:schemeClr val="accent1"/>
                </a:solidFill>
              </a:ln>
            </p:spPr>
          </p:sp>
        </p:grpSp>
        <p:sp>
          <p:nvSpPr>
            <p:cNvPr id="40" name="TextBox 40"/>
            <p:cNvSpPr txBox="1"/>
            <p:nvPr/>
          </p:nvSpPr>
          <p:spPr>
            <a:xfrm>
              <a:off x="8697468" y="1835150"/>
              <a:ext cx="211743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T3 · e2e runbook</a:t>
              </a:r>
            </a:p>
          </p:txBody>
        </p:sp>
        <p:sp>
          <p:nvSpPr>
            <p:cNvPr id="41" name="Line 41"/>
            <p:cNvSpPr/>
            <p:nvPr/>
          </p:nvSpPr>
          <p:spPr>
            <a:xfrm>
              <a:off x="8305800" y="2266950"/>
              <a:ext cx="2971800" cy="9525"/>
            </a:xfrm>
            <a:custGeom>
              <a:avLst/>
              <a:gdLst/>
              <a:ahLst/>
              <a:cxnLst/>
              <a:rect l="l" t="t" r="r" b="b"/>
              <a:pathLst>
                <a:path w="2971800" h="9525">
                  <a:moveTo>
                    <a:pt x="0" y="0"/>
                  </a:moveTo>
                  <a:lnTo>
                    <a:pt x="29718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8300085" y="2489200"/>
              <a:ext cx="219339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5"/>
                  </a:solidFill>
                  <a:latin typeface="Consolas"/>
                  <a:ea typeface="Microsoft YaHei"/>
                  <a:cs typeface="Consolas"/>
                </a:rPr>
                <a:t>--check 探测 rc=0 / rc=2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8299704" y="2825750"/>
              <a:ext cx="2287067" cy="5013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全跑：asks 留痕 · 让出实证</a:t>
              </a:r>
              <a:b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checkpoint 布局钉死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8300085" y="3632200"/>
              <a:ext cx="26381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真跑仍由后端门控 · 产物只落 var/</a:t>
              </a:r>
            </a:p>
          </p:txBody>
        </p:sp>
      </p:grpSp>
      <p:grpSp>
        <p:nvGrpSpPr>
          <p:cNvPr id="49" name="schedule"/>
          <p:cNvGrpSpPr/>
          <p:nvPr/>
        </p:nvGrpSpPr>
        <p:grpSpPr>
          <a:xfrm>
            <a:off x="685800" y="4381500"/>
            <a:ext cx="10820400" cy="723900"/>
            <a:chOff x="685800" y="4381500"/>
            <a:chExt cx="10820400" cy="723900"/>
          </a:xfrm>
        </p:grpSpPr>
        <p:sp>
          <p:nvSpPr>
            <p:cNvPr id="46" name="Rectangle 46"/>
            <p:cNvSpPr/>
            <p:nvPr/>
          </p:nvSpPr>
          <p:spPr>
            <a:xfrm>
              <a:off x="685800" y="4381500"/>
              <a:ext cx="10820400" cy="723900"/>
            </a:xfrm>
            <a:prstGeom prst="rect">
              <a:avLst/>
            </a:prstGeom>
            <a:solidFill>
              <a:schemeClr val="accent2">
                <a:alpha val="8000"/>
              </a:schemeClr>
            </a:solidFill>
            <a:ln w="9525">
              <a:solidFill>
                <a:schemeClr val="accent2"/>
              </a:solidFill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907542" y="4521200"/>
              <a:ext cx="82296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排程红线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907542" y="4787900"/>
              <a:ext cx="10295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T2 与 aor-waves 的 kernel.py 改动同文件——执行前确认波次落地状态（本波交接时已并入 master，re-check）</a:t>
              </a:r>
            </a:p>
          </p:txBody>
        </p:sp>
      </p:grpSp>
      <p:grpSp>
        <p:nvGrpSpPr>
          <p:cNvPr id="51" name="plan-ref"/>
          <p:cNvGrpSpPr/>
          <p:nvPr/>
        </p:nvGrpSpPr>
        <p:grpSpPr>
          <a:xfrm>
            <a:off x="678942" y="5454650"/>
            <a:ext cx="5862752" cy="264033"/>
            <a:chOff x="678942" y="5454650"/>
            <a:chExt cx="5862752" cy="264033"/>
          </a:xfrm>
        </p:grpSpPr>
        <p:sp>
          <p:nvSpPr>
            <p:cNvPr id="50" name="TextBox 50"/>
            <p:cNvSpPr txBox="1"/>
            <p:nvPr/>
          </p:nvSpPr>
          <p:spPr>
            <a:xfrm>
              <a:off x="678942" y="5454650"/>
              <a:ext cx="586275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计划：</a:t>
              </a:r>
              <a:r>
                <a:rPr lang="en-US" sz="1200" dirty="0">
                  <a:solidFill>
                    <a:schemeClr val="accent5"/>
                  </a:solidFill>
                  <a:latin typeface="Consolas"/>
                  <a:ea typeface="Consolas"/>
                  <a:cs typeface="Consolas"/>
                </a:rPr>
                <a:t>docs/superpowers/plans/2026-10-09-evolve-followups.md</a:t>
              </a:r>
            </a:p>
          </p:txBody>
        </p:sp>
      </p:grpSp>
      <p:grpSp>
        <p:nvGrpSpPr>
          <p:cNvPr id="55" name="footer"/>
          <p:cNvGrpSpPr/>
          <p:nvPr/>
        </p:nvGrpSpPr>
        <p:grpSpPr>
          <a:xfrm>
            <a:off x="680466" y="6248400"/>
            <a:ext cx="10831068" cy="326009"/>
            <a:chOff x="680466" y="6248400"/>
            <a:chExt cx="10831068" cy="326009"/>
          </a:xfrm>
        </p:grpSpPr>
        <p:sp>
          <p:nvSpPr>
            <p:cNvPr id="52" name="Line 52"/>
            <p:cNvSpPr/>
            <p:nvPr/>
          </p:nvSpPr>
          <p:spPr>
            <a:xfrm>
              <a:off x="685800" y="624840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680466" y="6369050"/>
              <a:ext cx="281528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chemeClr val="accent5"/>
                  </a:solidFill>
                  <a:latin typeface="Consolas"/>
                  <a:ea typeface="Consolas"/>
                  <a:cs typeface="Consolas"/>
                </a:rPr>
                <a:t>github.com/Yfredy/LAOS · v0.35.1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9318193" y="6369050"/>
              <a:ext cx="219334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050" dirty="0">
                  <a:solidFill>
                    <a:schemeClr val="accent5"/>
                  </a:solidFill>
                  <a:latin typeface="Consolas"/>
                  <a:ea typeface="Consolas"/>
                  <a:cs typeface="Consolas"/>
                </a:rPr>
                <a:t>FIELD NOTE 02 · 26.10.09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rid"/>
          <p:cNvSpPr/>
          <p:nvPr/>
        </p:nvSpPr>
        <p:spPr>
          <a:xfrm>
            <a:off x="838200" y="914400"/>
            <a:ext cx="10668000" cy="5181600"/>
          </a:xfrm>
          <a:custGeom>
            <a:avLst/>
            <a:gdLst/>
            <a:ahLst/>
            <a:cxnLst/>
            <a:rect l="l" t="t" r="r" b="b"/>
            <a:pathLst>
              <a:path w="10668000" h="5181600">
                <a:moveTo>
                  <a:pt x="1181100" y="0"/>
                </a:moveTo>
                <a:lnTo>
                  <a:pt x="1181100" y="5181600"/>
                </a:lnTo>
                <a:moveTo>
                  <a:pt x="2514600" y="0"/>
                </a:moveTo>
                <a:lnTo>
                  <a:pt x="2514600" y="5181600"/>
                </a:lnTo>
                <a:moveTo>
                  <a:pt x="3848100" y="0"/>
                </a:moveTo>
                <a:lnTo>
                  <a:pt x="3848100" y="5181600"/>
                </a:lnTo>
                <a:moveTo>
                  <a:pt x="5181600" y="0"/>
                </a:moveTo>
                <a:lnTo>
                  <a:pt x="5181600" y="5181600"/>
                </a:lnTo>
                <a:moveTo>
                  <a:pt x="6515100" y="0"/>
                </a:moveTo>
                <a:lnTo>
                  <a:pt x="6515100" y="5181600"/>
                </a:lnTo>
                <a:moveTo>
                  <a:pt x="7848600" y="0"/>
                </a:moveTo>
                <a:lnTo>
                  <a:pt x="7848600" y="5181600"/>
                </a:lnTo>
                <a:moveTo>
                  <a:pt x="9182100" y="0"/>
                </a:moveTo>
                <a:lnTo>
                  <a:pt x="9182100" y="5181600"/>
                </a:lnTo>
                <a:moveTo>
                  <a:pt x="0" y="1847850"/>
                </a:moveTo>
                <a:lnTo>
                  <a:pt x="10668000" y="1847850"/>
                </a:lnTo>
                <a:moveTo>
                  <a:pt x="0" y="2800350"/>
                </a:moveTo>
                <a:lnTo>
                  <a:pt x="10668000" y="2800350"/>
                </a:lnTo>
                <a:moveTo>
                  <a:pt x="0" y="3752850"/>
                </a:moveTo>
                <a:lnTo>
                  <a:pt x="10668000" y="3752850"/>
                </a:lnTo>
                <a:moveTo>
                  <a:pt x="0" y="4705350"/>
                </a:moveTo>
                <a:lnTo>
                  <a:pt x="10668000" y="4705350"/>
                </a:lnTo>
              </a:path>
            </a:pathLst>
          </a:custGeom>
          <a:noFill/>
          <a:ln w="9525">
            <a:solidFill>
              <a:schemeClr val="accent6">
                <a:alpha val="40000"/>
              </a:schemeClr>
            </a:solidFill>
          </a:ln>
        </p:spPr>
      </p:sp>
      <p:grpSp>
        <p:nvGrpSpPr>
          <p:cNvPr id="6" name="header"/>
          <p:cNvGrpSpPr/>
          <p:nvPr/>
        </p:nvGrpSpPr>
        <p:grpSpPr>
          <a:xfrm>
            <a:off x="680466" y="368300"/>
            <a:ext cx="10831068" cy="346075"/>
            <a:chOff x="680466" y="368300"/>
            <a:chExt cx="10831068" cy="346075"/>
          </a:xfrm>
        </p:grpSpPr>
        <p:sp>
          <p:nvSpPr>
            <p:cNvPr id="3" name="TextBox 3"/>
            <p:cNvSpPr txBox="1"/>
            <p:nvPr/>
          </p:nvSpPr>
          <p:spPr>
            <a:xfrm>
              <a:off x="680466" y="368300"/>
              <a:ext cx="240357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spc="225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LAOS · LINUX AGENTOS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10198798" y="368300"/>
              <a:ext cx="131273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spc="75" dirty="0">
                  <a:solidFill>
                    <a:schemeClr val="accent5"/>
                  </a:solidFill>
                  <a:latin typeface="Consolas"/>
                  <a:ea typeface="Microsoft YaHei"/>
                  <a:cs typeface="Consolas"/>
                </a:rPr>
                <a:t>11 / 12 · 索引</a:t>
              </a:r>
            </a:p>
          </p:txBody>
        </p:sp>
        <p:sp>
          <p:nvSpPr>
            <p:cNvPr id="5" name="Line 5"/>
            <p:cNvSpPr/>
            <p:nvPr/>
          </p:nvSpPr>
          <p:spPr>
            <a:xfrm>
              <a:off x="685800" y="70485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</p:grpSp>
      <p:grpSp>
        <p:nvGrpSpPr>
          <p:cNvPr id="10" name="title"/>
          <p:cNvGrpSpPr/>
          <p:nvPr/>
        </p:nvGrpSpPr>
        <p:grpSpPr>
          <a:xfrm>
            <a:off x="669798" y="876300"/>
            <a:ext cx="10836402" cy="616077"/>
            <a:chOff x="669798" y="876300"/>
            <a:chExt cx="10836402" cy="616077"/>
          </a:xfrm>
        </p:grpSpPr>
        <p:sp>
          <p:nvSpPr>
            <p:cNvPr id="7" name="TextBox 7"/>
            <p:cNvSpPr txBox="1"/>
            <p:nvPr/>
          </p:nvSpPr>
          <p:spPr>
            <a:xfrm>
              <a:off x="669798" y="876300"/>
              <a:ext cx="2864358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交接资产索引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1390650"/>
              <a:ext cx="533400" cy="28575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9" name="Line 9"/>
            <p:cNvSpPr/>
            <p:nvPr/>
          </p:nvSpPr>
          <p:spPr>
            <a:xfrm>
              <a:off x="1333500" y="1400175"/>
              <a:ext cx="10172700" cy="9525"/>
            </a:xfrm>
            <a:custGeom>
              <a:avLst/>
              <a:gdLst/>
              <a:ahLst/>
              <a:cxnLst/>
              <a:rect l="l" t="t" r="r" b="b"/>
              <a:pathLst>
                <a:path w="10172700" h="9525">
                  <a:moveTo>
                    <a:pt x="0" y="0"/>
                  </a:moveTo>
                  <a:lnTo>
                    <a:pt x="101727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</p:grpSp>
      <p:grpSp>
        <p:nvGrpSpPr>
          <p:cNvPr id="40" name="asset-index"/>
          <p:cNvGrpSpPr/>
          <p:nvPr/>
        </p:nvGrpSpPr>
        <p:grpSpPr>
          <a:xfrm>
            <a:off x="685800" y="1562100"/>
            <a:ext cx="10820400" cy="3781425"/>
            <a:chOff x="685800" y="1562100"/>
            <a:chExt cx="10820400" cy="3781425"/>
          </a:xfrm>
        </p:grpSpPr>
        <p:sp>
          <p:nvSpPr>
            <p:cNvPr id="11" name="Rectangle 11"/>
            <p:cNvSpPr/>
            <p:nvPr/>
          </p:nvSpPr>
          <p:spPr>
            <a:xfrm>
              <a:off x="685800" y="1562100"/>
              <a:ext cx="10820400" cy="4191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830580" y="1660525"/>
              <a:ext cx="4648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资产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3649980" y="1660525"/>
              <a:ext cx="118583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路径 · 锚点</a:t>
              </a:r>
            </a:p>
          </p:txBody>
        </p:sp>
        <p:grpSp>
          <p:nvGrpSpPr>
            <p:cNvPr id="30" name="asset-rows"/>
            <p:cNvGrpSpPr/>
            <p:nvPr/>
          </p:nvGrpSpPr>
          <p:grpSpPr>
            <a:xfrm>
              <a:off x="831342" y="2082800"/>
              <a:ext cx="9063533" cy="3197733"/>
              <a:chOff x="831342" y="2082800"/>
              <a:chExt cx="9063533" cy="3197733"/>
            </a:xfrm>
          </p:grpSpPr>
          <p:sp>
            <p:nvSpPr>
              <p:cNvPr id="14" name="TextBox 14"/>
              <p:cNvSpPr txBox="1"/>
              <p:nvPr/>
            </p:nvSpPr>
            <p:spPr>
              <a:xfrm>
                <a:off x="831342" y="2082800"/>
                <a:ext cx="1812226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交接文档（L0–L4）</a:t>
                </a:r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3651504" y="2108200"/>
                <a:ext cx="3276143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00" dirty="0">
                    <a:solidFill>
                      <a:schemeClr val="accent1"/>
                    </a:solidFill>
                    <a:latin typeface="Consolas"/>
                    <a:ea typeface="Consolas"/>
                    <a:cs typeface="Consolas"/>
                  </a:rPr>
                  <a:t>docs/guide/rsi-evolve-handover.md</a:t>
                </a:r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831342" y="2501900"/>
                <a:ext cx="2623528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架构图（archify 证据锚定）</a:t>
                </a:r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3651504" y="2527300"/>
                <a:ext cx="6243371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00" dirty="0">
                    <a:solidFill>
                      <a:schemeClr val="accent1"/>
                    </a:solidFill>
                    <a:latin typeface="Consolas"/>
                    <a:ea typeface="Consolas"/>
                    <a:cs typeface="Consolas"/>
                  </a:rPr>
                  <a:t>docs/diagrams/rsi-evolve-architecture.html + .architecture.json</a:t>
                </a:r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831342" y="2921000"/>
                <a:ext cx="1945786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结构图（drawio 源）</a:t>
                </a:r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3651504" y="2946400"/>
                <a:ext cx="3968496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00" dirty="0">
                    <a:solidFill>
                      <a:schemeClr val="accent1"/>
                    </a:solidFill>
                    <a:latin typeface="Consolas"/>
                    <a:ea typeface="Consolas"/>
                    <a:cs typeface="Consolas"/>
                  </a:rPr>
                  <a:t>docs/diagrams/rsi-evolve-handover.drawio</a:t>
                </a:r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831342" y="3340100"/>
                <a:ext cx="1993621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RSI 调研（裁决全文）</a:t>
                </a:r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3651504" y="3365500"/>
                <a:ext cx="4067404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00" dirty="0">
                    <a:solidFill>
                      <a:schemeClr val="accent1"/>
                    </a:solidFill>
                    <a:latin typeface="Consolas"/>
                    <a:ea typeface="Consolas"/>
                    <a:cs typeface="Consolas"/>
                  </a:rPr>
                  <a:t>docs/research/2026-10-09-rsi-landscape.md</a:t>
                </a:r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831342" y="3759200"/>
                <a:ext cx="1025271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已执行计划</a:t>
                </a:r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3651504" y="3784600"/>
                <a:ext cx="5155387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00" dirty="0">
                    <a:solidFill>
                      <a:schemeClr val="accent1"/>
                    </a:solidFill>
                    <a:latin typeface="Consolas"/>
                    <a:ea typeface="Consolas"/>
                    <a:cs typeface="Consolas"/>
                  </a:rPr>
                  <a:t>plans/2026-10-09-openevolve-trial-and-laos-driver.md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831342" y="4178300"/>
                <a:ext cx="1025271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待执行计划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3651504" y="4203700"/>
                <a:ext cx="3572866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00" dirty="0">
                    <a:solidFill>
                      <a:schemeClr val="accent1"/>
                    </a:solidFill>
                    <a:latin typeface="Consolas"/>
                    <a:ea typeface="Consolas"/>
                    <a:cs typeface="Consolas"/>
                  </a:rPr>
                  <a:t>plans/2026-10-09-evolve-followups.md</a:t>
                </a:r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831342" y="4597400"/>
                <a:ext cx="2239137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试跑证据（gitignored）</a:t>
                </a:r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3651504" y="4622800"/>
                <a:ext cx="3443448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00" dirty="0">
                    <a:solidFill>
                      <a:schemeClr val="accent1"/>
                    </a:solidFill>
                    <a:latin typeface="Consolas"/>
                    <a:ea typeface="Consolas"/>
                    <a:cs typeface="Consolas"/>
                  </a:rPr>
                  <a:t>var/rsi/openevolve/OBSERVATIONS.md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831342" y="5016500"/>
                <a:ext cx="1025271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关键提交链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3651504" y="5041900"/>
                <a:ext cx="6144463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00" dirty="0">
                    <a:solidFill>
                      <a:schemeClr val="accent1"/>
                    </a:solidFill>
                    <a:latin typeface="Consolas"/>
                    <a:ea typeface="Consolas"/>
                    <a:cs typeface="Consolas"/>
                  </a:rPr>
                  <a:t>20e2ae8→99fac0f→0462915→558f93d→301da48→befb9ec→565dec8(merge)</a:t>
                </a:r>
              </a:p>
            </p:txBody>
          </p:sp>
        </p:grpSp>
        <p:sp>
          <p:nvSpPr>
            <p:cNvPr id="31" name="Line 31"/>
            <p:cNvSpPr/>
            <p:nvPr/>
          </p:nvSpPr>
          <p:spPr>
            <a:xfrm>
              <a:off x="685800" y="198120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32" name="Line 32"/>
            <p:cNvSpPr/>
            <p:nvPr/>
          </p:nvSpPr>
          <p:spPr>
            <a:xfrm>
              <a:off x="685800" y="240030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33" name="Line 33"/>
            <p:cNvSpPr/>
            <p:nvPr/>
          </p:nvSpPr>
          <p:spPr>
            <a:xfrm>
              <a:off x="685800" y="281940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34" name="Line 34"/>
            <p:cNvSpPr/>
            <p:nvPr/>
          </p:nvSpPr>
          <p:spPr>
            <a:xfrm>
              <a:off x="685800" y="323850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35" name="Line 35"/>
            <p:cNvSpPr/>
            <p:nvPr/>
          </p:nvSpPr>
          <p:spPr>
            <a:xfrm>
              <a:off x="685800" y="365760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36" name="Line 36"/>
            <p:cNvSpPr/>
            <p:nvPr/>
          </p:nvSpPr>
          <p:spPr>
            <a:xfrm>
              <a:off x="685800" y="407670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37" name="Line 37"/>
            <p:cNvSpPr/>
            <p:nvPr/>
          </p:nvSpPr>
          <p:spPr>
            <a:xfrm>
              <a:off x="685800" y="449580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38" name="Line 38"/>
            <p:cNvSpPr/>
            <p:nvPr/>
          </p:nvSpPr>
          <p:spPr>
            <a:xfrm>
              <a:off x="685800" y="491490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39" name="Line 39"/>
            <p:cNvSpPr/>
            <p:nvPr/>
          </p:nvSpPr>
          <p:spPr>
            <a:xfrm>
              <a:off x="685800" y="533400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14288">
              <a:solidFill>
                <a:schemeClr val="accent6"/>
              </a:solidFill>
            </a:ln>
          </p:spPr>
        </p:sp>
      </p:grpSp>
      <p:grpSp>
        <p:nvGrpSpPr>
          <p:cNvPr id="42" name="note"/>
          <p:cNvGrpSpPr/>
          <p:nvPr/>
        </p:nvGrpSpPr>
        <p:grpSpPr>
          <a:xfrm>
            <a:off x="678942" y="5664200"/>
            <a:ext cx="9304077" cy="264033"/>
            <a:chOff x="678942" y="5664200"/>
            <a:chExt cx="9304077" cy="264033"/>
          </a:xfrm>
        </p:grpSpPr>
        <p:sp>
          <p:nvSpPr>
            <p:cNvPr id="41" name="TextBox 41"/>
            <p:cNvSpPr txBox="1"/>
            <p:nvPr/>
          </p:nvSpPr>
          <p:spPr>
            <a:xfrm>
              <a:off x="678942" y="5664200"/>
              <a:ext cx="930407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archify 交互图与 drawio 源同在 docs/diagrams/ 并存 · 试跑证据 gitignored（重建见交接文档 L1）</a:t>
              </a:r>
            </a:p>
          </p:txBody>
        </p:sp>
      </p:grpSp>
      <p:grpSp>
        <p:nvGrpSpPr>
          <p:cNvPr id="46" name="footer"/>
          <p:cNvGrpSpPr/>
          <p:nvPr/>
        </p:nvGrpSpPr>
        <p:grpSpPr>
          <a:xfrm>
            <a:off x="680466" y="6248400"/>
            <a:ext cx="10831068" cy="326009"/>
            <a:chOff x="680466" y="6248400"/>
            <a:chExt cx="10831068" cy="326009"/>
          </a:xfrm>
        </p:grpSpPr>
        <p:sp>
          <p:nvSpPr>
            <p:cNvPr id="43" name="Line 43"/>
            <p:cNvSpPr/>
            <p:nvPr/>
          </p:nvSpPr>
          <p:spPr>
            <a:xfrm>
              <a:off x="685800" y="624840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680466" y="6369050"/>
              <a:ext cx="281528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chemeClr val="accent5"/>
                  </a:solidFill>
                  <a:latin typeface="Consolas"/>
                  <a:ea typeface="Consolas"/>
                  <a:cs typeface="Consolas"/>
                </a:rPr>
                <a:t>github.com/Yfredy/LAOS · v0.35.1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9318193" y="6369050"/>
              <a:ext cx="219334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050" dirty="0">
                  <a:solidFill>
                    <a:schemeClr val="accent5"/>
                  </a:solidFill>
                  <a:latin typeface="Consolas"/>
                  <a:ea typeface="Consolas"/>
                  <a:cs typeface="Consolas"/>
                </a:rPr>
                <a:t>FIELD NOTE 02 · 26.10.09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rid"/>
          <p:cNvSpPr/>
          <p:nvPr/>
        </p:nvSpPr>
        <p:spPr>
          <a:xfrm>
            <a:off x="838200" y="914400"/>
            <a:ext cx="10668000" cy="5181600"/>
          </a:xfrm>
          <a:custGeom>
            <a:avLst/>
            <a:gdLst/>
            <a:ahLst/>
            <a:cxnLst/>
            <a:rect l="l" t="t" r="r" b="b"/>
            <a:pathLst>
              <a:path w="10668000" h="5181600">
                <a:moveTo>
                  <a:pt x="1181100" y="0"/>
                </a:moveTo>
                <a:lnTo>
                  <a:pt x="1181100" y="5181600"/>
                </a:lnTo>
                <a:moveTo>
                  <a:pt x="2514600" y="0"/>
                </a:moveTo>
                <a:lnTo>
                  <a:pt x="2514600" y="5181600"/>
                </a:lnTo>
                <a:moveTo>
                  <a:pt x="3848100" y="0"/>
                </a:moveTo>
                <a:lnTo>
                  <a:pt x="3848100" y="5181600"/>
                </a:lnTo>
                <a:moveTo>
                  <a:pt x="5181600" y="0"/>
                </a:moveTo>
                <a:lnTo>
                  <a:pt x="5181600" y="5181600"/>
                </a:lnTo>
                <a:moveTo>
                  <a:pt x="6515100" y="0"/>
                </a:moveTo>
                <a:lnTo>
                  <a:pt x="6515100" y="5181600"/>
                </a:lnTo>
                <a:moveTo>
                  <a:pt x="7848600" y="0"/>
                </a:moveTo>
                <a:lnTo>
                  <a:pt x="7848600" y="5181600"/>
                </a:lnTo>
                <a:moveTo>
                  <a:pt x="9182100" y="0"/>
                </a:moveTo>
                <a:lnTo>
                  <a:pt x="9182100" y="5181600"/>
                </a:lnTo>
                <a:moveTo>
                  <a:pt x="0" y="1847850"/>
                </a:moveTo>
                <a:lnTo>
                  <a:pt x="10668000" y="1847850"/>
                </a:lnTo>
                <a:moveTo>
                  <a:pt x="0" y="2800350"/>
                </a:moveTo>
                <a:lnTo>
                  <a:pt x="10668000" y="2800350"/>
                </a:lnTo>
                <a:moveTo>
                  <a:pt x="0" y="3752850"/>
                </a:moveTo>
                <a:lnTo>
                  <a:pt x="10668000" y="3752850"/>
                </a:lnTo>
                <a:moveTo>
                  <a:pt x="0" y="4705350"/>
                </a:moveTo>
                <a:lnTo>
                  <a:pt x="10668000" y="4705350"/>
                </a:lnTo>
              </a:path>
            </a:pathLst>
          </a:custGeom>
          <a:noFill/>
          <a:ln w="9525">
            <a:solidFill>
              <a:schemeClr val="accent6">
                <a:alpha val="40000"/>
              </a:schemeClr>
            </a:solidFill>
          </a:ln>
        </p:spPr>
      </p:sp>
      <p:grpSp>
        <p:nvGrpSpPr>
          <p:cNvPr id="6" name="header"/>
          <p:cNvGrpSpPr/>
          <p:nvPr/>
        </p:nvGrpSpPr>
        <p:grpSpPr>
          <a:xfrm>
            <a:off x="680466" y="368300"/>
            <a:ext cx="10831068" cy="346075"/>
            <a:chOff x="680466" y="368300"/>
            <a:chExt cx="10831068" cy="346075"/>
          </a:xfrm>
        </p:grpSpPr>
        <p:sp>
          <p:nvSpPr>
            <p:cNvPr id="3" name="TextBox 3"/>
            <p:cNvSpPr txBox="1"/>
            <p:nvPr/>
          </p:nvSpPr>
          <p:spPr>
            <a:xfrm>
              <a:off x="680466" y="368300"/>
              <a:ext cx="240357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spc="225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LAOS · LINUX AGENTOS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10198798" y="368300"/>
              <a:ext cx="131273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spc="75" dirty="0">
                  <a:solidFill>
                    <a:schemeClr val="accent5"/>
                  </a:solidFill>
                  <a:latin typeface="Consolas"/>
                  <a:ea typeface="Microsoft YaHei"/>
                  <a:cs typeface="Consolas"/>
                </a:rPr>
                <a:t>12 / 12 · 红线</a:t>
              </a:r>
            </a:p>
          </p:txBody>
        </p:sp>
        <p:sp>
          <p:nvSpPr>
            <p:cNvPr id="5" name="Line 5"/>
            <p:cNvSpPr/>
            <p:nvPr/>
          </p:nvSpPr>
          <p:spPr>
            <a:xfrm>
              <a:off x="685800" y="70485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</p:grpSp>
      <p:grpSp>
        <p:nvGrpSpPr>
          <p:cNvPr id="10" name="title"/>
          <p:cNvGrpSpPr/>
          <p:nvPr/>
        </p:nvGrpSpPr>
        <p:grpSpPr>
          <a:xfrm>
            <a:off x="669798" y="876300"/>
            <a:ext cx="10836402" cy="616077"/>
            <a:chOff x="669798" y="876300"/>
            <a:chExt cx="10836402" cy="616077"/>
          </a:xfrm>
        </p:grpSpPr>
        <p:sp>
          <p:nvSpPr>
            <p:cNvPr id="7" name="TextBox 7"/>
            <p:cNvSpPr txBox="1"/>
            <p:nvPr/>
          </p:nvSpPr>
          <p:spPr>
            <a:xfrm>
              <a:off x="669798" y="876300"/>
              <a:ext cx="2864358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带走四条红线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1390650"/>
              <a:ext cx="533400" cy="28575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9" name="Line 9"/>
            <p:cNvSpPr/>
            <p:nvPr/>
          </p:nvSpPr>
          <p:spPr>
            <a:xfrm>
              <a:off x="1333500" y="1400175"/>
              <a:ext cx="10172700" cy="9525"/>
            </a:xfrm>
            <a:custGeom>
              <a:avLst/>
              <a:gdLst/>
              <a:ahLst/>
              <a:cxnLst/>
              <a:rect l="l" t="t" r="r" b="b"/>
              <a:pathLst>
                <a:path w="10172700" h="9525">
                  <a:moveTo>
                    <a:pt x="0" y="0"/>
                  </a:moveTo>
                  <a:lnTo>
                    <a:pt x="101727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</p:grpSp>
      <p:grpSp>
        <p:nvGrpSpPr>
          <p:cNvPr id="18" name="redline-conda"/>
          <p:cNvGrpSpPr/>
          <p:nvPr/>
        </p:nvGrpSpPr>
        <p:grpSpPr>
          <a:xfrm>
            <a:off x="685800" y="1638300"/>
            <a:ext cx="5219700" cy="1257300"/>
            <a:chOff x="685800" y="1638300"/>
            <a:chExt cx="5219700" cy="1257300"/>
          </a:xfrm>
        </p:grpSpPr>
        <p:sp>
          <p:nvSpPr>
            <p:cNvPr id="11" name="Rectangle 11"/>
            <p:cNvSpPr/>
            <p:nvPr/>
          </p:nvSpPr>
          <p:spPr>
            <a:xfrm>
              <a:off x="685800" y="1638300"/>
              <a:ext cx="5219700" cy="1257300"/>
            </a:xfrm>
            <a:prstGeom prst="rect">
              <a:avLst/>
            </a:prstGeom>
            <a:solidFill>
              <a:schemeClr val="lt2">
                <a:alpha val="40000"/>
              </a:schemeClr>
            </a:solidFill>
            <a:ln w="9525">
              <a:solidFill>
                <a:schemeClr val="accent1"/>
              </a:solidFill>
            </a:ln>
          </p:spPr>
        </p:sp>
        <p:grpSp>
          <p:nvGrpSpPr>
            <p:cNvPr id="15" name="Group 15"/>
            <p:cNvGrpSpPr/>
            <p:nvPr/>
          </p:nvGrpSpPr>
          <p:grpSpPr>
            <a:xfrm>
              <a:off x="969963" y="1851025"/>
              <a:ext cx="155575" cy="211138"/>
              <a:chOff x="969963" y="1851025"/>
              <a:chExt cx="155575" cy="211138"/>
            </a:xfrm>
          </p:grpSpPr>
          <p:sp>
            <p:nvSpPr>
              <p:cNvPr id="12" name="Freeform 12"/>
              <p:cNvSpPr/>
              <p:nvPr/>
            </p:nvSpPr>
            <p:spPr>
              <a:xfrm>
                <a:off x="969963" y="1951038"/>
                <a:ext cx="155575" cy="111125"/>
              </a:xfrm>
              <a:custGeom>
                <a:avLst/>
                <a:gdLst/>
                <a:ahLst/>
                <a:cxnLst/>
                <a:rect l="l" t="t" r="r" b="b"/>
                <a:pathLst>
                  <a:path w="155575" h="111125">
                    <a:moveTo>
                      <a:pt x="0" y="22225"/>
                    </a:moveTo>
                    <a:cubicBezTo>
                      <a:pt x="0" y="9950"/>
                      <a:pt x="9950" y="0"/>
                      <a:pt x="22225" y="0"/>
                    </a:cubicBezTo>
                    <a:lnTo>
                      <a:pt x="133350" y="0"/>
                    </a:lnTo>
                    <a:cubicBezTo>
                      <a:pt x="145625" y="0"/>
                      <a:pt x="155575" y="9950"/>
                      <a:pt x="155575" y="22225"/>
                    </a:cubicBezTo>
                    <a:lnTo>
                      <a:pt x="155575" y="88900"/>
                    </a:lnTo>
                    <a:cubicBezTo>
                      <a:pt x="155575" y="101175"/>
                      <a:pt x="145625" y="111125"/>
                      <a:pt x="133350" y="111125"/>
                    </a:cubicBezTo>
                    <a:lnTo>
                      <a:pt x="22225" y="111125"/>
                    </a:lnTo>
                    <a:cubicBezTo>
                      <a:pt x="9950" y="111125"/>
                      <a:pt x="0" y="101175"/>
                      <a:pt x="0" y="88900"/>
                    </a:cubicBezTo>
                    <a:lnTo>
                      <a:pt x="0" y="22225"/>
                    </a:lnTo>
                  </a:path>
                </a:pathLst>
              </a:custGeom>
              <a:noFill/>
              <a:ln w="22225">
                <a:solidFill>
                  <a:schemeClr val="accent2"/>
                </a:solidFill>
              </a:ln>
            </p:spPr>
          </p:sp>
          <p:sp>
            <p:nvSpPr>
              <p:cNvPr id="13" name="Freeform 13"/>
              <p:cNvSpPr/>
              <p:nvPr/>
            </p:nvSpPr>
            <p:spPr>
              <a:xfrm>
                <a:off x="1036638" y="1995488"/>
                <a:ext cx="22225" cy="22225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22225">
                    <a:moveTo>
                      <a:pt x="0" y="11113"/>
                    </a:moveTo>
                    <a:cubicBezTo>
                      <a:pt x="0" y="17250"/>
                      <a:pt x="4975" y="22225"/>
                      <a:pt x="11113" y="22225"/>
                    </a:cubicBezTo>
                    <a:cubicBezTo>
                      <a:pt x="17250" y="22225"/>
                      <a:pt x="22225" y="17250"/>
                      <a:pt x="22225" y="11113"/>
                    </a:cubicBezTo>
                    <a:cubicBezTo>
                      <a:pt x="22225" y="4975"/>
                      <a:pt x="17250" y="0"/>
                      <a:pt x="11113" y="0"/>
                    </a:cubicBezTo>
                    <a:cubicBezTo>
                      <a:pt x="4975" y="0"/>
                      <a:pt x="0" y="4975"/>
                      <a:pt x="0" y="11113"/>
                    </a:cubicBezTo>
                  </a:path>
                </a:pathLst>
              </a:custGeom>
              <a:noFill/>
              <a:ln w="22225">
                <a:solidFill>
                  <a:schemeClr val="accent2"/>
                </a:solidFill>
              </a:ln>
            </p:spPr>
          </p:sp>
          <p:sp>
            <p:nvSpPr>
              <p:cNvPr id="14" name="Freeform 14"/>
              <p:cNvSpPr/>
              <p:nvPr/>
            </p:nvSpPr>
            <p:spPr>
              <a:xfrm>
                <a:off x="1003300" y="1851025"/>
                <a:ext cx="88900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88900" h="100013">
                    <a:moveTo>
                      <a:pt x="0" y="100013"/>
                    </a:moveTo>
                    <a:lnTo>
                      <a:pt x="0" y="44450"/>
                    </a:lnTo>
                    <a:cubicBezTo>
                      <a:pt x="0" y="19901"/>
                      <a:pt x="19901" y="0"/>
                      <a:pt x="44450" y="0"/>
                    </a:cubicBezTo>
                    <a:cubicBezTo>
                      <a:pt x="68999" y="0"/>
                      <a:pt x="88900" y="19901"/>
                      <a:pt x="88900" y="44450"/>
                    </a:cubicBezTo>
                  </a:path>
                </a:pathLst>
              </a:custGeom>
              <a:noFill/>
              <a:ln w="22225">
                <a:solidFill>
                  <a:schemeClr val="accent2"/>
                </a:solidFill>
              </a:ln>
            </p:spPr>
          </p:sp>
        </p:grpSp>
        <p:sp>
          <p:nvSpPr>
            <p:cNvPr id="16" name="TextBox 16"/>
            <p:cNvSpPr txBox="1"/>
            <p:nvPr/>
          </p:nvSpPr>
          <p:spPr>
            <a:xfrm>
              <a:off x="1306068" y="1835150"/>
              <a:ext cx="130318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conda 红线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908304" y="2235200"/>
              <a:ext cx="4043843" cy="5013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只用 C:/Users/yaoyue/miniconda3/python.exe</a:t>
              </a:r>
              <a:b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pip 只进 venv——污染唯一解释器 = 工具链失效</a:t>
              </a:r>
            </a:p>
          </p:txBody>
        </p:sp>
      </p:grpSp>
      <p:grpSp>
        <p:nvGrpSpPr>
          <p:cNvPr id="33" name="redline-dep"/>
          <p:cNvGrpSpPr/>
          <p:nvPr/>
        </p:nvGrpSpPr>
        <p:grpSpPr>
          <a:xfrm>
            <a:off x="6286500" y="1638300"/>
            <a:ext cx="5219700" cy="1257300"/>
            <a:chOff x="6286500" y="1638300"/>
            <a:chExt cx="5219700" cy="1257300"/>
          </a:xfrm>
        </p:grpSpPr>
        <p:sp>
          <p:nvSpPr>
            <p:cNvPr id="19" name="Rectangle 19"/>
            <p:cNvSpPr/>
            <p:nvPr/>
          </p:nvSpPr>
          <p:spPr>
            <a:xfrm>
              <a:off x="6286500" y="1638300"/>
              <a:ext cx="5219700" cy="1257300"/>
            </a:xfrm>
            <a:prstGeom prst="rect">
              <a:avLst/>
            </a:prstGeom>
            <a:solidFill>
              <a:schemeClr val="lt2">
                <a:alpha val="40000"/>
              </a:schemeClr>
            </a:solidFill>
            <a:ln w="9525">
              <a:solidFill>
                <a:schemeClr val="accent1"/>
              </a:solidFill>
            </a:ln>
          </p:spPr>
        </p:sp>
        <p:grpSp>
          <p:nvGrpSpPr>
            <p:cNvPr id="30" name="Group 30"/>
            <p:cNvGrpSpPr/>
            <p:nvPr/>
          </p:nvGrpSpPr>
          <p:grpSpPr>
            <a:xfrm>
              <a:off x="6548438" y="1862138"/>
              <a:ext cx="200025" cy="200025"/>
              <a:chOff x="6548438" y="1862138"/>
              <a:chExt cx="200025" cy="200025"/>
            </a:xfrm>
          </p:grpSpPr>
          <p:sp>
            <p:nvSpPr>
              <p:cNvPr id="20" name="Freeform 20"/>
              <p:cNvSpPr/>
              <p:nvPr/>
            </p:nvSpPr>
            <p:spPr>
              <a:xfrm>
                <a:off x="6570663" y="1884363"/>
                <a:ext cx="155575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55575" h="155575">
                    <a:moveTo>
                      <a:pt x="0" y="11113"/>
                    </a:moveTo>
                    <a:cubicBezTo>
                      <a:pt x="0" y="4975"/>
                      <a:pt x="4975" y="0"/>
                      <a:pt x="11113" y="0"/>
                    </a:cubicBezTo>
                    <a:lnTo>
                      <a:pt x="144463" y="0"/>
                    </a:lnTo>
                    <a:cubicBezTo>
                      <a:pt x="150600" y="0"/>
                      <a:pt x="155575" y="4975"/>
                      <a:pt x="155575" y="11113"/>
                    </a:cubicBezTo>
                    <a:lnTo>
                      <a:pt x="155575" y="144463"/>
                    </a:lnTo>
                    <a:cubicBezTo>
                      <a:pt x="155575" y="150600"/>
                      <a:pt x="150600" y="155575"/>
                      <a:pt x="144463" y="155575"/>
                    </a:cubicBezTo>
                    <a:lnTo>
                      <a:pt x="11113" y="155575"/>
                    </a:lnTo>
                    <a:cubicBezTo>
                      <a:pt x="4975" y="155575"/>
                      <a:pt x="0" y="150600"/>
                      <a:pt x="0" y="144463"/>
                    </a:cubicBezTo>
                    <a:lnTo>
                      <a:pt x="0" y="11113"/>
                    </a:lnTo>
                  </a:path>
                </a:pathLst>
              </a:custGeom>
              <a:noFill/>
              <a:ln w="22225">
                <a:solidFill>
                  <a:schemeClr val="accent2"/>
                </a:solidFill>
              </a:ln>
            </p:spPr>
          </p:sp>
          <p:sp>
            <p:nvSpPr>
              <p:cNvPr id="21" name="Freeform 21"/>
              <p:cNvSpPr/>
              <p:nvPr/>
            </p:nvSpPr>
            <p:spPr>
              <a:xfrm>
                <a:off x="6615113" y="1928813"/>
                <a:ext cx="66675" cy="66675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66675">
                    <a:moveTo>
                      <a:pt x="0" y="0"/>
                    </a:moveTo>
                    <a:lnTo>
                      <a:pt x="66675" y="0"/>
                    </a:lnTo>
                    <a:lnTo>
                      <a:pt x="66675" y="66675"/>
                    </a:lnTo>
                    <a:lnTo>
                      <a:pt x="0" y="66675"/>
                    </a:lnTo>
                    <a:lnTo>
                      <a:pt x="0" y="0"/>
                    </a:lnTo>
                  </a:path>
                </a:pathLst>
              </a:custGeom>
              <a:noFill/>
              <a:ln w="22225">
                <a:solidFill>
                  <a:schemeClr val="accent2"/>
                </a:solidFill>
              </a:ln>
            </p:spPr>
          </p:sp>
          <p:sp>
            <p:nvSpPr>
              <p:cNvPr id="22" name="Freeform 22"/>
              <p:cNvSpPr/>
              <p:nvPr/>
            </p:nvSpPr>
            <p:spPr>
              <a:xfrm>
                <a:off x="6548438" y="1939925"/>
                <a:ext cx="222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9525">
                    <a:moveTo>
                      <a:pt x="0" y="0"/>
                    </a:moveTo>
                    <a:lnTo>
                      <a:pt x="22225" y="0"/>
                    </a:lnTo>
                  </a:path>
                </a:pathLst>
              </a:custGeom>
              <a:noFill/>
              <a:ln w="22225">
                <a:solidFill>
                  <a:schemeClr val="accent2"/>
                </a:solidFill>
              </a:ln>
            </p:spPr>
          </p:sp>
          <p:sp>
            <p:nvSpPr>
              <p:cNvPr id="23" name="Freeform 23"/>
              <p:cNvSpPr/>
              <p:nvPr/>
            </p:nvSpPr>
            <p:spPr>
              <a:xfrm>
                <a:off x="6548438" y="1984375"/>
                <a:ext cx="222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9525">
                    <a:moveTo>
                      <a:pt x="0" y="0"/>
                    </a:moveTo>
                    <a:lnTo>
                      <a:pt x="22225" y="0"/>
                    </a:lnTo>
                  </a:path>
                </a:pathLst>
              </a:custGeom>
              <a:noFill/>
              <a:ln w="22225">
                <a:solidFill>
                  <a:schemeClr val="accent2"/>
                </a:solidFill>
              </a:ln>
            </p:spPr>
          </p:sp>
          <p:sp>
            <p:nvSpPr>
              <p:cNvPr id="24" name="Freeform 24"/>
              <p:cNvSpPr/>
              <p:nvPr/>
            </p:nvSpPr>
            <p:spPr>
              <a:xfrm>
                <a:off x="6626225" y="1862138"/>
                <a:ext cx="9525" cy="222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22225">
                <a:solidFill>
                  <a:schemeClr val="accent2"/>
                </a:solidFill>
              </a:ln>
            </p:spPr>
          </p:sp>
          <p:sp>
            <p:nvSpPr>
              <p:cNvPr id="25" name="Freeform 25"/>
              <p:cNvSpPr/>
              <p:nvPr/>
            </p:nvSpPr>
            <p:spPr>
              <a:xfrm>
                <a:off x="6670675" y="1862138"/>
                <a:ext cx="9525" cy="222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22225">
                <a:solidFill>
                  <a:schemeClr val="accent2"/>
                </a:solidFill>
              </a:ln>
            </p:spPr>
          </p:sp>
          <p:sp>
            <p:nvSpPr>
              <p:cNvPr id="26" name="Freeform 26"/>
              <p:cNvSpPr/>
              <p:nvPr/>
            </p:nvSpPr>
            <p:spPr>
              <a:xfrm>
                <a:off x="6726238" y="1939925"/>
                <a:ext cx="222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9525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22225">
                <a:solidFill>
                  <a:schemeClr val="accent2"/>
                </a:solidFill>
              </a:ln>
            </p:spPr>
          </p:sp>
          <p:sp>
            <p:nvSpPr>
              <p:cNvPr id="27" name="Freeform 27"/>
              <p:cNvSpPr/>
              <p:nvPr/>
            </p:nvSpPr>
            <p:spPr>
              <a:xfrm>
                <a:off x="6726238" y="1984375"/>
                <a:ext cx="222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9525">
                    <a:moveTo>
                      <a:pt x="22225" y="0"/>
                    </a:moveTo>
                    <a:lnTo>
                      <a:pt x="0" y="0"/>
                    </a:lnTo>
                  </a:path>
                </a:pathLst>
              </a:custGeom>
              <a:noFill/>
              <a:ln w="22225">
                <a:solidFill>
                  <a:schemeClr val="accent2"/>
                </a:solidFill>
              </a:ln>
            </p:spPr>
          </p:sp>
          <p:sp>
            <p:nvSpPr>
              <p:cNvPr id="28" name="Freeform 28"/>
              <p:cNvSpPr/>
              <p:nvPr/>
            </p:nvSpPr>
            <p:spPr>
              <a:xfrm>
                <a:off x="6670675" y="2039938"/>
                <a:ext cx="9525" cy="222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22225">
                    <a:moveTo>
                      <a:pt x="0" y="22225"/>
                    </a:moveTo>
                    <a:lnTo>
                      <a:pt x="0" y="0"/>
                    </a:lnTo>
                  </a:path>
                </a:pathLst>
              </a:custGeom>
              <a:noFill/>
              <a:ln w="22225">
                <a:solidFill>
                  <a:schemeClr val="accent2"/>
                </a:solidFill>
              </a:ln>
            </p:spPr>
          </p:sp>
          <p:sp>
            <p:nvSpPr>
              <p:cNvPr id="29" name="Freeform 29"/>
              <p:cNvSpPr/>
              <p:nvPr/>
            </p:nvSpPr>
            <p:spPr>
              <a:xfrm>
                <a:off x="6626225" y="2039938"/>
                <a:ext cx="9525" cy="222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22225">
                    <a:moveTo>
                      <a:pt x="0" y="22225"/>
                    </a:moveTo>
                    <a:lnTo>
                      <a:pt x="0" y="0"/>
                    </a:lnTo>
                  </a:path>
                </a:pathLst>
              </a:custGeom>
              <a:noFill/>
              <a:ln w="22225">
                <a:solidFill>
                  <a:schemeClr val="accent2"/>
                </a:solidFill>
              </a:ln>
            </p:spPr>
          </p:sp>
        </p:grpSp>
        <p:sp>
          <p:nvSpPr>
            <p:cNvPr id="31" name="TextBox 31"/>
            <p:cNvSpPr txBox="1"/>
            <p:nvPr/>
          </p:nvSpPr>
          <p:spPr>
            <a:xfrm>
              <a:off x="6906768" y="1835150"/>
              <a:ext cx="125310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零依赖红线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6509004" y="2235200"/>
              <a:ext cx="2736647" cy="5013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laos/ 纯 stdlib</a:t>
              </a:r>
              <a:b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重依赖进核心 = 循环内外分离崩塌</a:t>
              </a:r>
            </a:p>
          </p:txBody>
        </p:sp>
      </p:grpSp>
      <p:grpSp>
        <p:nvGrpSpPr>
          <p:cNvPr id="41" name="redline-dir"/>
          <p:cNvGrpSpPr/>
          <p:nvPr/>
        </p:nvGrpSpPr>
        <p:grpSpPr>
          <a:xfrm>
            <a:off x="685800" y="3143250"/>
            <a:ext cx="5219700" cy="1257300"/>
            <a:chOff x="685800" y="3143250"/>
            <a:chExt cx="5219700" cy="1257300"/>
          </a:xfrm>
        </p:grpSpPr>
        <p:sp>
          <p:nvSpPr>
            <p:cNvPr id="34" name="Rectangle 34"/>
            <p:cNvSpPr/>
            <p:nvPr/>
          </p:nvSpPr>
          <p:spPr>
            <a:xfrm>
              <a:off x="685800" y="3143250"/>
              <a:ext cx="5219700" cy="1257300"/>
            </a:xfrm>
            <a:prstGeom prst="rect">
              <a:avLst/>
            </a:prstGeom>
            <a:solidFill>
              <a:schemeClr val="lt2">
                <a:alpha val="40000"/>
              </a:schemeClr>
            </a:solidFill>
            <a:ln w="9525">
              <a:solidFill>
                <a:schemeClr val="accent1"/>
              </a:solidFill>
            </a:ln>
          </p:spPr>
        </p:sp>
        <p:grpSp>
          <p:nvGrpSpPr>
            <p:cNvPr id="38" name="Group 38"/>
            <p:cNvGrpSpPr/>
            <p:nvPr/>
          </p:nvGrpSpPr>
          <p:grpSpPr>
            <a:xfrm>
              <a:off x="958850" y="3367088"/>
              <a:ext cx="177801" cy="200025"/>
              <a:chOff x="958850" y="3367088"/>
              <a:chExt cx="177801" cy="200025"/>
            </a:xfrm>
          </p:grpSpPr>
          <p:sp>
            <p:nvSpPr>
              <p:cNvPr id="35" name="Freeform 35"/>
              <p:cNvSpPr/>
              <p:nvPr/>
            </p:nvSpPr>
            <p:spPr>
              <a:xfrm>
                <a:off x="958850" y="3367088"/>
                <a:ext cx="177801" cy="66675"/>
              </a:xfrm>
              <a:custGeom>
                <a:avLst/>
                <a:gdLst/>
                <a:ahLst/>
                <a:cxnLst/>
                <a:rect l="l" t="t" r="r" b="b"/>
                <a:pathLst>
                  <a:path w="177801" h="66675">
                    <a:moveTo>
                      <a:pt x="0" y="33338"/>
                    </a:moveTo>
                    <a:cubicBezTo>
                      <a:pt x="0" y="51749"/>
                      <a:pt x="39802" y="66675"/>
                      <a:pt x="88900" y="66675"/>
                    </a:cubicBezTo>
                    <a:cubicBezTo>
                      <a:pt x="137999" y="66675"/>
                      <a:pt x="177801" y="51749"/>
                      <a:pt x="177801" y="33338"/>
                    </a:cubicBezTo>
                    <a:cubicBezTo>
                      <a:pt x="177801" y="14926"/>
                      <a:pt x="137999" y="0"/>
                      <a:pt x="88900" y="0"/>
                    </a:cubicBezTo>
                    <a:cubicBezTo>
                      <a:pt x="39802" y="0"/>
                      <a:pt x="0" y="14926"/>
                      <a:pt x="0" y="33338"/>
                    </a:cubicBezTo>
                  </a:path>
                </a:pathLst>
              </a:custGeom>
              <a:noFill/>
              <a:ln w="22225">
                <a:solidFill>
                  <a:schemeClr val="accent2"/>
                </a:solidFill>
              </a:ln>
            </p:spPr>
          </p:sp>
          <p:sp>
            <p:nvSpPr>
              <p:cNvPr id="36" name="Freeform 36"/>
              <p:cNvSpPr/>
              <p:nvPr/>
            </p:nvSpPr>
            <p:spPr>
              <a:xfrm>
                <a:off x="958850" y="3400425"/>
                <a:ext cx="177801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177801" h="100013">
                    <a:moveTo>
                      <a:pt x="0" y="0"/>
                    </a:moveTo>
                    <a:lnTo>
                      <a:pt x="0" y="66675"/>
                    </a:lnTo>
                    <a:cubicBezTo>
                      <a:pt x="0" y="85087"/>
                      <a:pt x="39802" y="100013"/>
                      <a:pt x="88900" y="100013"/>
                    </a:cubicBezTo>
                    <a:cubicBezTo>
                      <a:pt x="137999" y="100013"/>
                      <a:pt x="177801" y="85087"/>
                      <a:pt x="177801" y="66675"/>
                    </a:cubicBezTo>
                    <a:lnTo>
                      <a:pt x="177801" y="0"/>
                    </a:lnTo>
                  </a:path>
                </a:pathLst>
              </a:custGeom>
              <a:noFill/>
              <a:ln w="22225">
                <a:solidFill>
                  <a:schemeClr val="accent2"/>
                </a:solidFill>
              </a:ln>
            </p:spPr>
          </p:sp>
          <p:sp>
            <p:nvSpPr>
              <p:cNvPr id="37" name="Freeform 37"/>
              <p:cNvSpPr/>
              <p:nvPr/>
            </p:nvSpPr>
            <p:spPr>
              <a:xfrm>
                <a:off x="958850" y="3467100"/>
                <a:ext cx="177801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177801" h="100013">
                    <a:moveTo>
                      <a:pt x="0" y="0"/>
                    </a:moveTo>
                    <a:lnTo>
                      <a:pt x="0" y="66675"/>
                    </a:lnTo>
                    <a:cubicBezTo>
                      <a:pt x="0" y="85087"/>
                      <a:pt x="39802" y="100013"/>
                      <a:pt x="88900" y="100013"/>
                    </a:cubicBezTo>
                    <a:cubicBezTo>
                      <a:pt x="137999" y="100013"/>
                      <a:pt x="177801" y="85087"/>
                      <a:pt x="177801" y="66675"/>
                    </a:cubicBezTo>
                    <a:lnTo>
                      <a:pt x="177801" y="0"/>
                    </a:lnTo>
                  </a:path>
                </a:pathLst>
              </a:custGeom>
              <a:noFill/>
              <a:ln w="22225">
                <a:solidFill>
                  <a:schemeClr val="accent2"/>
                </a:solidFill>
              </a:ln>
            </p:spPr>
          </p:sp>
        </p:grpSp>
        <p:sp>
          <p:nvSpPr>
            <p:cNvPr id="39" name="TextBox 39"/>
            <p:cNvSpPr txBox="1"/>
            <p:nvPr/>
          </p:nvSpPr>
          <p:spPr>
            <a:xfrm>
              <a:off x="1306068" y="3340100"/>
              <a:ext cx="100584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目录纪律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908304" y="3740150"/>
              <a:ext cx="4472026" cy="5013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进化产物只落 var/</a:t>
              </a:r>
              <a:b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target/evaluator/workdir 必须在允许根——gate 会拒</a:t>
              </a:r>
            </a:p>
          </p:txBody>
        </p:sp>
      </p:grpSp>
      <p:grpSp>
        <p:nvGrpSpPr>
          <p:cNvPr id="51" name="redline-honest"/>
          <p:cNvGrpSpPr/>
          <p:nvPr/>
        </p:nvGrpSpPr>
        <p:grpSpPr>
          <a:xfrm>
            <a:off x="6286500" y="3143250"/>
            <a:ext cx="5219700" cy="1257300"/>
            <a:chOff x="6286500" y="3143250"/>
            <a:chExt cx="5219700" cy="1257300"/>
          </a:xfrm>
        </p:grpSpPr>
        <p:sp>
          <p:nvSpPr>
            <p:cNvPr id="42" name="Rectangle 42"/>
            <p:cNvSpPr/>
            <p:nvPr/>
          </p:nvSpPr>
          <p:spPr>
            <a:xfrm>
              <a:off x="6286500" y="3143250"/>
              <a:ext cx="5219700" cy="1257300"/>
            </a:xfrm>
            <a:prstGeom prst="rect">
              <a:avLst/>
            </a:prstGeom>
            <a:solidFill>
              <a:schemeClr val="lt2">
                <a:alpha val="40000"/>
              </a:schemeClr>
            </a:solidFill>
            <a:ln w="9525">
              <a:solidFill>
                <a:schemeClr val="accent1"/>
              </a:solidFill>
            </a:ln>
          </p:spPr>
        </p:sp>
        <p:grpSp>
          <p:nvGrpSpPr>
            <p:cNvPr id="48" name="Group 48"/>
            <p:cNvGrpSpPr/>
            <p:nvPr/>
          </p:nvGrpSpPr>
          <p:grpSpPr>
            <a:xfrm>
              <a:off x="6570663" y="3367088"/>
              <a:ext cx="155575" cy="200026"/>
              <a:chOff x="6570663" y="3367088"/>
              <a:chExt cx="155575" cy="200026"/>
            </a:xfrm>
          </p:grpSpPr>
          <p:sp>
            <p:nvSpPr>
              <p:cNvPr id="43" name="Freeform 43"/>
              <p:cNvSpPr/>
              <p:nvPr/>
            </p:nvSpPr>
            <p:spPr>
              <a:xfrm>
                <a:off x="6670675" y="3367088"/>
                <a:ext cx="55563" cy="55563"/>
              </a:xfrm>
              <a:custGeom>
                <a:avLst/>
                <a:gdLst/>
                <a:ahLst/>
                <a:cxnLst/>
                <a:rect l="l" t="t" r="r" b="b"/>
                <a:pathLst>
                  <a:path w="55563" h="55563">
                    <a:moveTo>
                      <a:pt x="0" y="0"/>
                    </a:moveTo>
                    <a:lnTo>
                      <a:pt x="0" y="44450"/>
                    </a:lnTo>
                    <a:cubicBezTo>
                      <a:pt x="0" y="50587"/>
                      <a:pt x="4975" y="55563"/>
                      <a:pt x="11113" y="55563"/>
                    </a:cubicBezTo>
                    <a:lnTo>
                      <a:pt x="55563" y="55563"/>
                    </a:lnTo>
                  </a:path>
                </a:pathLst>
              </a:custGeom>
              <a:noFill/>
              <a:ln w="22225">
                <a:solidFill>
                  <a:schemeClr val="accent2"/>
                </a:solidFill>
              </a:ln>
            </p:spPr>
          </p:sp>
          <p:sp>
            <p:nvSpPr>
              <p:cNvPr id="44" name="Freeform 44"/>
              <p:cNvSpPr/>
              <p:nvPr/>
            </p:nvSpPr>
            <p:spPr>
              <a:xfrm>
                <a:off x="6570663" y="3367088"/>
                <a:ext cx="155575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155575" h="200026">
                    <a:moveTo>
                      <a:pt x="133350" y="200026"/>
                    </a:moveTo>
                    <a:lnTo>
                      <a:pt x="22225" y="200026"/>
                    </a:lnTo>
                    <a:cubicBezTo>
                      <a:pt x="9950" y="200026"/>
                      <a:pt x="0" y="190075"/>
                      <a:pt x="0" y="177801"/>
                    </a:cubicBezTo>
                    <a:lnTo>
                      <a:pt x="0" y="22225"/>
                    </a:lnTo>
                    <a:cubicBezTo>
                      <a:pt x="0" y="9950"/>
                      <a:pt x="9950" y="0"/>
                      <a:pt x="22225" y="0"/>
                    </a:cubicBezTo>
                    <a:lnTo>
                      <a:pt x="100013" y="0"/>
                    </a:lnTo>
                    <a:lnTo>
                      <a:pt x="155575" y="55563"/>
                    </a:lnTo>
                    <a:lnTo>
                      <a:pt x="155575" y="177801"/>
                    </a:lnTo>
                    <a:cubicBezTo>
                      <a:pt x="155575" y="190075"/>
                      <a:pt x="145625" y="200026"/>
                      <a:pt x="133350" y="200026"/>
                    </a:cubicBezTo>
                  </a:path>
                </a:pathLst>
              </a:custGeom>
              <a:noFill/>
              <a:ln w="22225">
                <a:solidFill>
                  <a:schemeClr val="accent2"/>
                </a:solidFill>
              </a:ln>
            </p:spPr>
          </p:sp>
          <p:sp>
            <p:nvSpPr>
              <p:cNvPr id="45" name="Freeform 45"/>
              <p:cNvSpPr/>
              <p:nvPr/>
            </p:nvSpPr>
            <p:spPr>
              <a:xfrm>
                <a:off x="6615113" y="3433763"/>
                <a:ext cx="11113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1113" h="9525">
                    <a:moveTo>
                      <a:pt x="0" y="0"/>
                    </a:moveTo>
                    <a:lnTo>
                      <a:pt x="11113" y="0"/>
                    </a:lnTo>
                  </a:path>
                </a:pathLst>
              </a:custGeom>
              <a:noFill/>
              <a:ln w="22225">
                <a:solidFill>
                  <a:schemeClr val="accent2"/>
                </a:solidFill>
              </a:ln>
            </p:spPr>
          </p:sp>
          <p:sp>
            <p:nvSpPr>
              <p:cNvPr id="46" name="Freeform 46"/>
              <p:cNvSpPr/>
              <p:nvPr/>
            </p:nvSpPr>
            <p:spPr>
              <a:xfrm>
                <a:off x="6615113" y="3478213"/>
                <a:ext cx="6667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9525">
                    <a:moveTo>
                      <a:pt x="0" y="0"/>
                    </a:moveTo>
                    <a:lnTo>
                      <a:pt x="66675" y="0"/>
                    </a:lnTo>
                  </a:path>
                </a:pathLst>
              </a:custGeom>
              <a:noFill/>
              <a:ln w="22225">
                <a:solidFill>
                  <a:schemeClr val="accent2"/>
                </a:solidFill>
              </a:ln>
            </p:spPr>
          </p:sp>
          <p:sp>
            <p:nvSpPr>
              <p:cNvPr id="47" name="Freeform 47"/>
              <p:cNvSpPr/>
              <p:nvPr/>
            </p:nvSpPr>
            <p:spPr>
              <a:xfrm>
                <a:off x="6615113" y="3522663"/>
                <a:ext cx="6667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9525">
                    <a:moveTo>
                      <a:pt x="0" y="0"/>
                    </a:moveTo>
                    <a:lnTo>
                      <a:pt x="66675" y="0"/>
                    </a:lnTo>
                  </a:path>
                </a:pathLst>
              </a:custGeom>
              <a:noFill/>
              <a:ln w="22225">
                <a:solidFill>
                  <a:schemeClr val="accent2"/>
                </a:solidFill>
              </a:ln>
            </p:spPr>
          </p:sp>
        </p:grpSp>
        <p:sp>
          <p:nvSpPr>
            <p:cNvPr id="49" name="TextBox 49"/>
            <p:cNvSpPr txBox="1"/>
            <p:nvPr/>
          </p:nvSpPr>
          <p:spPr>
            <a:xfrm>
              <a:off x="6906768" y="3340100"/>
              <a:ext cx="100584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来源诚实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6509004" y="3740150"/>
              <a:ext cx="2350008" cy="5013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评测数字一律实测</a:t>
              </a:r>
              <a:b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每个「未」字都有证据链撑着</a:t>
              </a:r>
            </a:p>
          </p:txBody>
        </p:sp>
      </p:grpSp>
      <p:grpSp>
        <p:nvGrpSpPr>
          <p:cNvPr id="54" name="takeaway"/>
          <p:cNvGrpSpPr/>
          <p:nvPr/>
        </p:nvGrpSpPr>
        <p:grpSpPr>
          <a:xfrm>
            <a:off x="2686588" y="4914900"/>
            <a:ext cx="6818824" cy="1017905"/>
            <a:chOff x="2686588" y="4914900"/>
            <a:chExt cx="6818824" cy="1017905"/>
          </a:xfrm>
        </p:grpSpPr>
        <p:sp>
          <p:nvSpPr>
            <p:cNvPr id="52" name="Line 52"/>
            <p:cNvSpPr/>
            <p:nvPr/>
          </p:nvSpPr>
          <p:spPr>
            <a:xfrm>
              <a:off x="4191000" y="4914900"/>
              <a:ext cx="3810000" cy="9525"/>
            </a:xfrm>
            <a:custGeom>
              <a:avLst/>
              <a:gdLst/>
              <a:ahLst/>
              <a:cxnLst/>
              <a:rect l="l" t="t" r="r" b="b"/>
              <a:pathLst>
                <a:path w="3810000" h="9525">
                  <a:moveTo>
                    <a:pt x="0" y="0"/>
                  </a:moveTo>
                  <a:lnTo>
                    <a:pt x="38100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2686588" y="5073650"/>
              <a:ext cx="6818824" cy="8591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3300"/>
                </a:lnSpc>
              </a:pPr>
              <a:r>
                <a:rPr lang="zh-CN" sz="22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内核不自改写，负载可以</a:t>
              </a:r>
              <a:br>
                <a:rPr lang="zh-CN" sz="22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</a:br>
              <a:r>
                <a:rPr lang="zh-CN" sz="22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——但每个自改写动作，都过闸、留痕、可回滚</a:t>
              </a:r>
            </a:p>
          </p:txBody>
        </p:sp>
      </p:grpSp>
      <p:grpSp>
        <p:nvGrpSpPr>
          <p:cNvPr id="58" name="footer"/>
          <p:cNvGrpSpPr/>
          <p:nvPr/>
        </p:nvGrpSpPr>
        <p:grpSpPr>
          <a:xfrm>
            <a:off x="680466" y="6248400"/>
            <a:ext cx="10831068" cy="326009"/>
            <a:chOff x="680466" y="6248400"/>
            <a:chExt cx="10831068" cy="326009"/>
          </a:xfrm>
        </p:grpSpPr>
        <p:sp>
          <p:nvSpPr>
            <p:cNvPr id="55" name="Line 55"/>
            <p:cNvSpPr/>
            <p:nvPr/>
          </p:nvSpPr>
          <p:spPr>
            <a:xfrm>
              <a:off x="685800" y="624840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680466" y="6369050"/>
              <a:ext cx="281528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chemeClr val="accent5"/>
                  </a:solidFill>
                  <a:latin typeface="Consolas"/>
                  <a:ea typeface="Consolas"/>
                  <a:cs typeface="Consolas"/>
                </a:rPr>
                <a:t>github.com/Yfredy/LAOS · v0.35.1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9318193" y="6369050"/>
              <a:ext cx="219334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050" dirty="0">
                  <a:solidFill>
                    <a:schemeClr val="accent5"/>
                  </a:solidFill>
                  <a:latin typeface="Consolas"/>
                  <a:ea typeface="Consolas"/>
                  <a:cs typeface="Consolas"/>
                </a:rPr>
                <a:t>FIELD NOTE 02 · 26.10.09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laos-rsi-handover-master">
  <a:themeElements>
    <a:clrScheme name="laos-rsi-handover-master">
      <a:dk1>
        <a:srgbClr val="E6EEF7"/>
      </a:dk1>
      <a:lt1>
        <a:srgbClr val="0E1B2E"/>
      </a:lt1>
      <a:dk2>
        <a:srgbClr val="1F497D"/>
      </a:dk2>
      <a:lt2>
        <a:srgbClr val="142640"/>
      </a:lt2>
      <a:accent1>
        <a:srgbClr val="7FB3E8"/>
      </a:accent1>
      <a:accent2>
        <a:srgbClr val="F0A830"/>
      </a:accent2>
      <a:accent3>
        <a:srgbClr val="6EE7B7"/>
      </a:accent3>
      <a:accent4>
        <a:srgbClr val="7FB3E8"/>
      </a:accent4>
      <a:accent5>
        <a:srgbClr val="93A5BE"/>
      </a:accent5>
      <a:accent6>
        <a:srgbClr val="2A4468"/>
      </a:accent6>
      <a:hlink>
        <a:srgbClr val="F0A830"/>
      </a:hlink>
      <a:folHlink>
        <a:srgbClr val="6EE7B7"/>
      </a:folHlink>
    </a:clrScheme>
    <a:fontScheme name="laos-rsi-handover-master">
      <a:majorFont>
        <a:latin typeface="Microsoft YaHei"/>
        <a:ea typeface="Microsoft YaHei"/>
        <a:cs typeface="Microsoft YaHei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Microsoft YaHei"/>
        <a:ea typeface="Microsoft YaHei"/>
        <a:cs typeface="Microsoft YaHei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os-rsi-handover-master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laos-rsi-handover-master">
  <a:themeElements>
    <a:clrScheme name="laos-rsi-handover-master">
      <a:dk1>
        <a:srgbClr val="E6EEF7"/>
      </a:dk1>
      <a:lt1>
        <a:srgbClr val="0E1B2E"/>
      </a:lt1>
      <a:dk2>
        <a:srgbClr val="1F497D"/>
      </a:dk2>
      <a:lt2>
        <a:srgbClr val="142640"/>
      </a:lt2>
      <a:accent1>
        <a:srgbClr val="7FB3E8"/>
      </a:accent1>
      <a:accent2>
        <a:srgbClr val="F0A830"/>
      </a:accent2>
      <a:accent3>
        <a:srgbClr val="6EE7B7"/>
      </a:accent3>
      <a:accent4>
        <a:srgbClr val="7FB3E8"/>
      </a:accent4>
      <a:accent5>
        <a:srgbClr val="93A5BE"/>
      </a:accent5>
      <a:accent6>
        <a:srgbClr val="2A4468"/>
      </a:accent6>
      <a:hlink>
        <a:srgbClr val="F0A830"/>
      </a:hlink>
      <a:folHlink>
        <a:srgbClr val="6EE7B7"/>
      </a:folHlink>
    </a:clrScheme>
    <a:fontScheme name="laos-rsi-handover-master">
      <a:majorFont>
        <a:latin typeface="Microsoft YaHei"/>
        <a:ea typeface="Microsoft YaHei"/>
        <a:cs typeface="Microsoft YaHei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Microsoft YaHei"/>
        <a:ea typeface="Microsoft YaHei"/>
        <a:cs typeface="Microsoft YaHei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os-rsi-handover-master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12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>zh-CN</dc:language>
  <cp:lastModifiedBy/>
  <cp:revision>1</cp:revision>
  <dcterms:created xsi:type="dcterms:W3CDTF">2026-10-10T16:41:32Z</dcterms:created>
  <dcterms:modified xsi:type="dcterms:W3CDTF">2026-10-10T16:41:32Z</dcterms:modified>
  <cp:category/>
  <cp:contentStatus/>
</cp:coreProperties>
</file>